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79" r:id="rId4"/>
    <p:sldId id="270" r:id="rId5"/>
    <p:sldId id="283" r:id="rId6"/>
    <p:sldId id="304" r:id="rId7"/>
    <p:sldId id="305" r:id="rId8"/>
    <p:sldId id="306" r:id="rId9"/>
    <p:sldId id="307" r:id="rId10"/>
    <p:sldId id="331" r:id="rId11"/>
    <p:sldId id="332" r:id="rId12"/>
    <p:sldId id="334" r:id="rId13"/>
    <p:sldId id="325" r:id="rId14"/>
    <p:sldId id="326" r:id="rId15"/>
    <p:sldId id="327" r:id="rId16"/>
    <p:sldId id="319" r:id="rId17"/>
    <p:sldId id="328" r:id="rId18"/>
    <p:sldId id="329" r:id="rId19"/>
    <p:sldId id="281" r:id="rId20"/>
    <p:sldId id="333" r:id="rId21"/>
  </p:sldIdLst>
  <p:sldSz cx="18288000" cy="10287000"/>
  <p:notesSz cx="6858000" cy="9144000"/>
  <p:embeddedFontLst>
    <p:embeddedFont>
      <p:font typeface="Pretendard" panose="020B0600000101010101" charset="-127"/>
      <p:regular r:id="rId22"/>
      <p:bold r:id="rId23"/>
    </p:embeddedFont>
    <p:embeddedFont>
      <p:font typeface="Pretendard SemiBold" panose="020B0600000101010101" charset="-127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F1EC"/>
    <a:srgbClr val="E4E7F2"/>
    <a:srgbClr val="FFFFFF"/>
    <a:srgbClr val="3A59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5026" autoAdjust="0"/>
  </p:normalViewPr>
  <p:slideViewPr>
    <p:cSldViewPr>
      <p:cViewPr varScale="1">
        <p:scale>
          <a:sx n="55" d="100"/>
          <a:sy n="55" d="100"/>
        </p:scale>
        <p:origin x="658" y="53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-18144">
            <a:off x="1920793" y="2358556"/>
            <a:ext cx="12614353" cy="91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8"/>
              </a:lnSpc>
              <a:spcBef>
                <a:spcPct val="0"/>
              </a:spcBef>
            </a:pPr>
            <a:r>
              <a:rPr lang="en-US" sz="6900" u="none" strike="noStrike" spc="-248" dirty="0">
                <a:solidFill>
                  <a:srgbClr val="22222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AI </a:t>
            </a:r>
            <a:r>
              <a:rPr lang="en-US" sz="6900" u="none" strike="noStrike" spc="-248" dirty="0" err="1">
                <a:solidFill>
                  <a:srgbClr val="22222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기반</a:t>
            </a:r>
            <a:r>
              <a:rPr lang="en-US" sz="6900" u="none" strike="noStrike" spc="-248" dirty="0">
                <a:solidFill>
                  <a:srgbClr val="22222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 </a:t>
            </a:r>
            <a:r>
              <a:rPr lang="en-US" sz="6900" u="none" strike="noStrike" spc="-248" dirty="0" err="1">
                <a:solidFill>
                  <a:srgbClr val="22222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협업</a:t>
            </a:r>
            <a:r>
              <a:rPr lang="en-US" sz="6900" u="none" strike="noStrike" spc="-248" dirty="0">
                <a:solidFill>
                  <a:srgbClr val="22222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 </a:t>
            </a:r>
            <a:r>
              <a:rPr lang="en-US" sz="6900" u="none" strike="noStrike" spc="-248" dirty="0" err="1">
                <a:solidFill>
                  <a:srgbClr val="22222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워크스페이스</a:t>
            </a:r>
            <a:endParaRPr lang="en-US" sz="6900" u="none" strike="noStrike" spc="-248" dirty="0">
              <a:solidFill>
                <a:srgbClr val="22222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JASO Sans"/>
            </a:endParaRPr>
          </a:p>
        </p:txBody>
      </p:sp>
      <p:sp>
        <p:nvSpPr>
          <p:cNvPr id="3" name="TextBox 3"/>
          <p:cNvSpPr txBox="1"/>
          <p:nvPr/>
        </p:nvSpPr>
        <p:spPr>
          <a:xfrm rot="-18144">
            <a:off x="1922709" y="4024685"/>
            <a:ext cx="13013941" cy="1513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427"/>
              </a:lnSpc>
              <a:spcBef>
                <a:spcPct val="0"/>
              </a:spcBef>
            </a:pPr>
            <a:r>
              <a:rPr lang="en-US" sz="11203" b="1" u="none" strike="noStrike" spc="-403" dirty="0">
                <a:solidFill>
                  <a:srgbClr val="3A59D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JASO Sans Bold"/>
              </a:rPr>
              <a:t>IP Risk Agent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55900" y="5733563"/>
            <a:ext cx="11621672" cy="358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64"/>
              </a:lnSpc>
              <a:spcBef>
                <a:spcPct val="0"/>
              </a:spcBef>
            </a:pPr>
            <a:r>
              <a:rPr lang="en-US" sz="2263" u="none" strike="noStrike" spc="-22" dirty="0">
                <a:solidFill>
                  <a:srgbClr val="222222">
                    <a:alpha val="93725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IP Risk Agent — Secure Human-in-the-Loop IP Risk Management System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55900" y="6249678"/>
            <a:ext cx="11621672" cy="545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78"/>
              </a:lnSpc>
              <a:spcBef>
                <a:spcPct val="0"/>
              </a:spcBef>
            </a:pPr>
            <a:r>
              <a:rPr lang="en-US" sz="1663" u="none" strike="noStrike" spc="-16" dirty="0" err="1">
                <a:solidFill>
                  <a:srgbClr val="222222">
                    <a:alpha val="44706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GitHub·Google</a:t>
            </a:r>
            <a:r>
              <a:rPr lang="en-US" sz="1663" u="none" strike="noStrike" spc="-16" dirty="0">
                <a:solidFill>
                  <a:srgbClr val="222222">
                    <a:alpha val="44706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 </a:t>
            </a:r>
            <a:r>
              <a:rPr lang="en-US" sz="1663" u="none" strike="noStrike" spc="-16" dirty="0" err="1">
                <a:solidFill>
                  <a:srgbClr val="222222">
                    <a:alpha val="44706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Drive·Local</a:t>
            </a:r>
            <a:r>
              <a:rPr lang="en-US" sz="1663" u="none" strike="noStrike" spc="-16" dirty="0">
                <a:solidFill>
                  <a:srgbClr val="222222">
                    <a:alpha val="44706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 </a:t>
            </a:r>
            <a:r>
              <a:rPr lang="en-US" sz="1663" u="none" strike="noStrike" spc="-16" dirty="0" err="1">
                <a:solidFill>
                  <a:srgbClr val="222222">
                    <a:alpha val="44706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Workspace를</a:t>
            </a:r>
            <a:r>
              <a:rPr lang="en-US" sz="1663" u="none" strike="noStrike" spc="-16" dirty="0">
                <a:solidFill>
                  <a:srgbClr val="222222">
                    <a:alpha val="44706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 </a:t>
            </a:r>
            <a:r>
              <a:rPr lang="en-US" sz="1663" u="none" strike="noStrike" spc="-16" dirty="0" err="1">
                <a:solidFill>
                  <a:srgbClr val="222222">
                    <a:alpha val="44706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지속적으로</a:t>
            </a:r>
            <a:r>
              <a:rPr lang="en-US" sz="1663" u="none" strike="noStrike" spc="-16" dirty="0">
                <a:solidFill>
                  <a:srgbClr val="222222">
                    <a:alpha val="44706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 </a:t>
            </a:r>
            <a:r>
              <a:rPr lang="en-US" sz="1663" u="none" strike="noStrike" spc="-16" dirty="0" err="1">
                <a:solidFill>
                  <a:srgbClr val="222222">
                    <a:alpha val="44706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모니터링</a:t>
            </a:r>
            <a:r>
              <a:rPr lang="ko-KR" altLang="en-US" sz="1663" u="none" strike="noStrike" spc="-16" dirty="0">
                <a:solidFill>
                  <a:srgbClr val="222222">
                    <a:alpha val="44706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하여</a:t>
            </a:r>
            <a:endParaRPr lang="en-US" sz="1663" u="none" strike="noStrike" spc="-16" dirty="0">
              <a:solidFill>
                <a:srgbClr val="222222">
                  <a:alpha val="44706"/>
                </a:srgb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JASO Sans"/>
            </a:endParaRPr>
          </a:p>
          <a:p>
            <a:pPr marL="0" lvl="0" indent="0" algn="l">
              <a:lnSpc>
                <a:spcPts val="2178"/>
              </a:lnSpc>
              <a:spcBef>
                <a:spcPct val="0"/>
              </a:spcBef>
            </a:pPr>
            <a:r>
              <a:rPr lang="en-US" sz="1663" u="none" strike="noStrike" spc="-16" dirty="0" err="1">
                <a:solidFill>
                  <a:srgbClr val="222222">
                    <a:alpha val="44706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개발</a:t>
            </a:r>
            <a:r>
              <a:rPr lang="en-US" sz="1663" u="none" strike="noStrike" spc="-16" dirty="0">
                <a:solidFill>
                  <a:srgbClr val="222222">
                    <a:alpha val="44706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 </a:t>
            </a:r>
            <a:r>
              <a:rPr lang="en-US" sz="1663" u="none" strike="noStrike" spc="-16" dirty="0" err="1">
                <a:solidFill>
                  <a:srgbClr val="222222">
                    <a:alpha val="44706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과정에서</a:t>
            </a:r>
            <a:r>
              <a:rPr lang="en-US" sz="1663" u="none" strike="noStrike" spc="-16" dirty="0">
                <a:solidFill>
                  <a:srgbClr val="222222">
                    <a:alpha val="44706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 </a:t>
            </a:r>
            <a:r>
              <a:rPr lang="en-US" sz="1663" u="none" strike="noStrike" spc="-16" dirty="0" err="1">
                <a:solidFill>
                  <a:srgbClr val="222222">
                    <a:alpha val="44706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발생하는</a:t>
            </a:r>
            <a:r>
              <a:rPr lang="en-US" sz="1663" u="none" strike="noStrike" spc="-16" dirty="0">
                <a:solidFill>
                  <a:srgbClr val="222222">
                    <a:alpha val="44706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 </a:t>
            </a:r>
            <a:r>
              <a:rPr lang="en-US" sz="1663" u="none" strike="noStrike" spc="-16" dirty="0" err="1">
                <a:solidFill>
                  <a:srgbClr val="222222">
                    <a:alpha val="44706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특허·라이선스</a:t>
            </a:r>
            <a:r>
              <a:rPr lang="en-US" sz="1663" u="none" strike="noStrike" spc="-16" dirty="0">
                <a:solidFill>
                  <a:srgbClr val="222222">
                    <a:alpha val="44706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 </a:t>
            </a:r>
            <a:r>
              <a:rPr lang="en-US" sz="1663" u="none" strike="noStrike" spc="-16" dirty="0" err="1">
                <a:solidFill>
                  <a:srgbClr val="222222">
                    <a:alpha val="44706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리스크를</a:t>
            </a:r>
            <a:r>
              <a:rPr lang="en-US" sz="1663" u="none" strike="noStrike" spc="-16" dirty="0">
                <a:solidFill>
                  <a:srgbClr val="222222">
                    <a:alpha val="44706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 </a:t>
            </a:r>
            <a:r>
              <a:rPr lang="en-US" sz="1663" u="none" strike="noStrike" spc="-16" dirty="0" err="1">
                <a:solidFill>
                  <a:srgbClr val="222222">
                    <a:alpha val="44706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근거</a:t>
            </a:r>
            <a:r>
              <a:rPr lang="en-US" sz="1663" u="none" strike="noStrike" spc="-16" dirty="0">
                <a:solidFill>
                  <a:srgbClr val="222222">
                    <a:alpha val="44706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 </a:t>
            </a:r>
            <a:r>
              <a:rPr lang="en-US" sz="1663" u="none" strike="noStrike" spc="-16" dirty="0" err="1">
                <a:solidFill>
                  <a:srgbClr val="222222">
                    <a:alpha val="44706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기반으로</a:t>
            </a:r>
            <a:r>
              <a:rPr lang="en-US" sz="1663" u="none" strike="noStrike" spc="-16" dirty="0">
                <a:solidFill>
                  <a:srgbClr val="222222">
                    <a:alpha val="44706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 </a:t>
            </a:r>
            <a:r>
              <a:rPr lang="en-US" sz="1663" u="none" strike="noStrike" spc="-16" dirty="0" err="1">
                <a:solidFill>
                  <a:srgbClr val="222222">
                    <a:alpha val="44706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조기에</a:t>
            </a:r>
            <a:r>
              <a:rPr lang="en-US" sz="1663" u="none" strike="noStrike" spc="-16" dirty="0">
                <a:solidFill>
                  <a:srgbClr val="222222">
                    <a:alpha val="44706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 </a:t>
            </a:r>
            <a:r>
              <a:rPr lang="en-US" sz="1663" u="none" strike="noStrike" spc="-16" dirty="0" err="1">
                <a:solidFill>
                  <a:srgbClr val="222222">
                    <a:alpha val="44706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탐지합니다</a:t>
            </a:r>
            <a:r>
              <a:rPr lang="en-US" sz="1663" u="none" strike="noStrike" spc="-16" dirty="0">
                <a:solidFill>
                  <a:srgbClr val="222222">
                    <a:alpha val="44706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10186112"/>
            <a:ext cx="18288000" cy="119938"/>
            <a:chOff x="0" y="0"/>
            <a:chExt cx="4816593" cy="3158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1589"/>
            </a:xfrm>
            <a:custGeom>
              <a:avLst/>
              <a:gdLst/>
              <a:ahLst/>
              <a:cxnLst/>
              <a:rect l="l" t="t" r="r" b="b"/>
              <a:pathLst>
                <a:path w="4816592" h="31589">
                  <a:moveTo>
                    <a:pt x="0" y="0"/>
                  </a:moveTo>
                  <a:lnTo>
                    <a:pt x="4816592" y="0"/>
                  </a:lnTo>
                  <a:lnTo>
                    <a:pt x="4816592" y="31589"/>
                  </a:lnTo>
                  <a:lnTo>
                    <a:pt x="0" y="31589"/>
                  </a:lnTo>
                  <a:close/>
                </a:path>
              </a:pathLst>
            </a:custGeom>
            <a:solidFill>
              <a:srgbClr val="3A59D1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816593" cy="88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4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4415140" y="9525000"/>
            <a:ext cx="4527972" cy="1543050"/>
            <a:chOff x="0" y="0"/>
            <a:chExt cx="1192552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83346" cy="406400"/>
            </a:xfrm>
            <a:custGeom>
              <a:avLst/>
              <a:gdLst/>
              <a:ahLst/>
              <a:cxnLst/>
              <a:rect l="l" t="t" r="r" b="b"/>
              <a:pathLst>
                <a:path w="1183346" h="406400">
                  <a:moveTo>
                    <a:pt x="967125" y="0"/>
                  </a:moveTo>
                  <a:lnTo>
                    <a:pt x="22227" y="0"/>
                  </a:lnTo>
                  <a:cubicBezTo>
                    <a:pt x="9952" y="0"/>
                    <a:pt x="0" y="9952"/>
                    <a:pt x="0" y="22227"/>
                  </a:cubicBezTo>
                  <a:lnTo>
                    <a:pt x="0" y="384173"/>
                  </a:lnTo>
                  <a:cubicBezTo>
                    <a:pt x="0" y="396448"/>
                    <a:pt x="9952" y="406400"/>
                    <a:pt x="22227" y="406400"/>
                  </a:cubicBezTo>
                  <a:lnTo>
                    <a:pt x="967125" y="406400"/>
                  </a:lnTo>
                  <a:cubicBezTo>
                    <a:pt x="981357" y="406400"/>
                    <a:pt x="995006" y="400746"/>
                    <a:pt x="1005070" y="390683"/>
                  </a:cubicBezTo>
                  <a:lnTo>
                    <a:pt x="1176835" y="218917"/>
                  </a:lnTo>
                  <a:cubicBezTo>
                    <a:pt x="1185516" y="210237"/>
                    <a:pt x="1185516" y="196163"/>
                    <a:pt x="1176835" y="187483"/>
                  </a:cubicBezTo>
                  <a:lnTo>
                    <a:pt x="1005070" y="15717"/>
                  </a:lnTo>
                  <a:cubicBezTo>
                    <a:pt x="995006" y="5654"/>
                    <a:pt x="981357" y="0"/>
                    <a:pt x="967125" y="0"/>
                  </a:cubicBezTo>
                  <a:close/>
                </a:path>
              </a:pathLst>
            </a:custGeom>
            <a:solidFill>
              <a:srgbClr val="3A59D1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078252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41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950079" y="9815526"/>
            <a:ext cx="2888421" cy="158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162"/>
              </a:lnSpc>
              <a:spcBef>
                <a:spcPct val="0"/>
              </a:spcBef>
            </a:pPr>
            <a:r>
              <a:rPr lang="en-US" sz="1400" b="1" u="none" strike="noStrike" spc="23" dirty="0">
                <a:solidFill>
                  <a:srgbClr val="FFFFFF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Poppins Medium"/>
              </a:rPr>
              <a:t>IP Risk Agent · 2026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955900" y="7754937"/>
            <a:ext cx="3292439" cy="0"/>
          </a:xfrm>
          <a:prstGeom prst="line">
            <a:avLst/>
          </a:prstGeom>
          <a:ln w="9525" cap="flat">
            <a:solidFill>
              <a:srgbClr val="3A59D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AutoShape 14"/>
          <p:cNvSpPr/>
          <p:nvPr/>
        </p:nvSpPr>
        <p:spPr>
          <a:xfrm>
            <a:off x="1955900" y="7221850"/>
            <a:ext cx="3292439" cy="0"/>
          </a:xfrm>
          <a:prstGeom prst="line">
            <a:avLst/>
          </a:prstGeom>
          <a:ln w="28575" cap="flat">
            <a:solidFill>
              <a:srgbClr val="3A59D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AutoShape 15"/>
          <p:cNvSpPr/>
          <p:nvPr/>
        </p:nvSpPr>
        <p:spPr>
          <a:xfrm>
            <a:off x="1955900" y="8850850"/>
            <a:ext cx="3292439" cy="0"/>
          </a:xfrm>
          <a:prstGeom prst="line">
            <a:avLst/>
          </a:prstGeom>
          <a:ln w="28575" cap="flat">
            <a:solidFill>
              <a:srgbClr val="3A59D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AutoShape 16"/>
          <p:cNvSpPr/>
          <p:nvPr/>
        </p:nvSpPr>
        <p:spPr>
          <a:xfrm>
            <a:off x="3057765" y="7217748"/>
            <a:ext cx="0" cy="1633102"/>
          </a:xfrm>
          <a:prstGeom prst="line">
            <a:avLst/>
          </a:prstGeom>
          <a:ln w="9525" cap="flat">
            <a:solidFill>
              <a:srgbClr val="3A59D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3298051" y="7349587"/>
            <a:ext cx="1491549" cy="280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10"/>
              </a:lnSpc>
              <a:spcBef>
                <a:spcPct val="0"/>
              </a:spcBef>
            </a:pPr>
            <a:r>
              <a:rPr lang="en-US" sz="1763" u="none" strike="noStrike" spc="-17" dirty="0">
                <a:solidFill>
                  <a:srgbClr val="222222">
                    <a:alpha val="93725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5조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15442" y="7349587"/>
            <a:ext cx="749498" cy="280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310"/>
              </a:lnSpc>
              <a:spcBef>
                <a:spcPct val="0"/>
              </a:spcBef>
            </a:pPr>
            <a:r>
              <a:rPr lang="en-US" sz="1763" b="1" u="none" strike="noStrike" spc="-17" dirty="0" err="1">
                <a:solidFill>
                  <a:srgbClr val="3A59D1">
                    <a:alpha val="93725"/>
                  </a:srgb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JASO Sans Bold"/>
              </a:rPr>
              <a:t>팀명</a:t>
            </a:r>
            <a:endParaRPr lang="en-US" sz="1763" b="1" u="none" strike="noStrike" spc="-17" dirty="0">
              <a:solidFill>
                <a:srgbClr val="3A59D1">
                  <a:alpha val="93725"/>
                </a:srgb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  <a:sym typeface="JASO Sans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115442" y="8159750"/>
            <a:ext cx="749498" cy="280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310"/>
              </a:lnSpc>
              <a:spcBef>
                <a:spcPct val="0"/>
              </a:spcBef>
            </a:pPr>
            <a:r>
              <a:rPr lang="en-US" sz="1763" b="1" u="none" strike="noStrike" spc="-17" dirty="0" err="1">
                <a:solidFill>
                  <a:srgbClr val="3A59D1">
                    <a:alpha val="93725"/>
                  </a:srgb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JASO Sans Bold"/>
              </a:rPr>
              <a:t>팀원</a:t>
            </a:r>
            <a:endParaRPr lang="en-US" sz="1763" b="1" u="none" strike="noStrike" spc="-17" dirty="0">
              <a:solidFill>
                <a:srgbClr val="3A59D1">
                  <a:alpha val="93725"/>
                </a:srgb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  <a:sym typeface="JASO Sans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298051" y="7861073"/>
            <a:ext cx="1491549" cy="864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10"/>
              </a:lnSpc>
              <a:spcBef>
                <a:spcPct val="0"/>
              </a:spcBef>
            </a:pPr>
            <a:r>
              <a:rPr lang="en-US" sz="1763" u="none" strike="noStrike" spc="-17" dirty="0" err="1">
                <a:solidFill>
                  <a:srgbClr val="222222">
                    <a:alpha val="93725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윤결</a:t>
            </a:r>
            <a:r>
              <a:rPr lang="en-US" sz="1763" spc="-17" dirty="0">
                <a:solidFill>
                  <a:srgbClr val="222222">
                    <a:alpha val="93725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(</a:t>
            </a:r>
            <a:r>
              <a:rPr lang="en-US" sz="1763" u="none" strike="noStrike" spc="-17" dirty="0" err="1">
                <a:solidFill>
                  <a:srgbClr val="222222">
                    <a:alpha val="93725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팀장</a:t>
            </a:r>
            <a:r>
              <a:rPr lang="en-US" sz="1763" u="none" strike="noStrike" spc="-17" dirty="0">
                <a:solidFill>
                  <a:srgbClr val="222222">
                    <a:alpha val="93725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) </a:t>
            </a:r>
          </a:p>
          <a:p>
            <a:pPr marL="0" lvl="0" indent="0" algn="l">
              <a:lnSpc>
                <a:spcPts val="2310"/>
              </a:lnSpc>
              <a:spcBef>
                <a:spcPct val="0"/>
              </a:spcBef>
            </a:pPr>
            <a:r>
              <a:rPr lang="en-US" sz="1763" u="none" strike="noStrike" spc="-17" dirty="0" err="1">
                <a:solidFill>
                  <a:srgbClr val="222222">
                    <a:alpha val="93725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이현</a:t>
            </a:r>
            <a:r>
              <a:rPr lang="en-US" sz="1763" u="none" strike="noStrike" spc="-17" dirty="0">
                <a:solidFill>
                  <a:srgbClr val="222222">
                    <a:alpha val="93725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 </a:t>
            </a:r>
          </a:p>
          <a:p>
            <a:pPr marL="0" lvl="0" indent="0" algn="l">
              <a:lnSpc>
                <a:spcPts val="2310"/>
              </a:lnSpc>
              <a:spcBef>
                <a:spcPct val="0"/>
              </a:spcBef>
            </a:pPr>
            <a:r>
              <a:rPr lang="en-US" sz="1763" u="none" strike="noStrike" spc="-17" dirty="0" err="1">
                <a:solidFill>
                  <a:srgbClr val="222222">
                    <a:alpha val="93725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JASO Sans"/>
              </a:rPr>
              <a:t>이은우</a:t>
            </a:r>
            <a:endParaRPr lang="en-US" sz="1763" u="none" strike="noStrike" spc="-17" dirty="0">
              <a:solidFill>
                <a:srgbClr val="222222">
                  <a:alpha val="93725"/>
                </a:srgb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JASO Sans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15043432" y="485661"/>
            <a:ext cx="2795067" cy="240203"/>
            <a:chOff x="0" y="0"/>
            <a:chExt cx="3726756" cy="320271"/>
          </a:xfrm>
        </p:grpSpPr>
        <p:sp>
          <p:nvSpPr>
            <p:cNvPr id="22" name="Freeform 22"/>
            <p:cNvSpPr/>
            <p:nvPr/>
          </p:nvSpPr>
          <p:spPr>
            <a:xfrm>
              <a:off x="1679974" y="2970"/>
              <a:ext cx="225532" cy="314331"/>
            </a:xfrm>
            <a:custGeom>
              <a:avLst/>
              <a:gdLst/>
              <a:ahLst/>
              <a:cxnLst/>
              <a:rect l="l" t="t" r="r" b="b"/>
              <a:pathLst>
                <a:path w="225532" h="314331">
                  <a:moveTo>
                    <a:pt x="0" y="0"/>
                  </a:moveTo>
                  <a:lnTo>
                    <a:pt x="225532" y="0"/>
                  </a:lnTo>
                  <a:lnTo>
                    <a:pt x="225532" y="314331"/>
                  </a:lnTo>
                  <a:lnTo>
                    <a:pt x="0" y="314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1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1106158" y="11191"/>
              <a:ext cx="287090" cy="297888"/>
            </a:xfrm>
            <a:custGeom>
              <a:avLst/>
              <a:gdLst/>
              <a:ahLst/>
              <a:cxnLst/>
              <a:rect l="l" t="t" r="r" b="b"/>
              <a:pathLst>
                <a:path w="287090" h="297888">
                  <a:moveTo>
                    <a:pt x="0" y="0"/>
                  </a:moveTo>
                  <a:lnTo>
                    <a:pt x="287090" y="0"/>
                  </a:lnTo>
                  <a:lnTo>
                    <a:pt x="287090" y="297888"/>
                  </a:lnTo>
                  <a:lnTo>
                    <a:pt x="0" y="297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2172206" y="0"/>
              <a:ext cx="321880" cy="320271"/>
            </a:xfrm>
            <a:custGeom>
              <a:avLst/>
              <a:gdLst/>
              <a:ahLst/>
              <a:cxnLst/>
              <a:rect l="l" t="t" r="r" b="b"/>
              <a:pathLst>
                <a:path w="321880" h="320271">
                  <a:moveTo>
                    <a:pt x="0" y="0"/>
                  </a:moveTo>
                  <a:lnTo>
                    <a:pt x="321880" y="0"/>
                  </a:lnTo>
                  <a:lnTo>
                    <a:pt x="321880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1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2755412" y="0"/>
              <a:ext cx="320271" cy="320271"/>
            </a:xfrm>
            <a:custGeom>
              <a:avLst/>
              <a:gdLst/>
              <a:ahLst/>
              <a:cxnLst/>
              <a:rect l="l" t="t" r="r" b="b"/>
              <a:pathLst>
                <a:path w="320271" h="320271">
                  <a:moveTo>
                    <a:pt x="0" y="0"/>
                  </a:moveTo>
                  <a:lnTo>
                    <a:pt x="320271" y="0"/>
                  </a:lnTo>
                  <a:lnTo>
                    <a:pt x="320271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1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Freeform 26"/>
            <p:cNvSpPr/>
            <p:nvPr/>
          </p:nvSpPr>
          <p:spPr>
            <a:xfrm rot="-5400000">
              <a:off x="3465879" y="-52825"/>
              <a:ext cx="95832" cy="425921"/>
            </a:xfrm>
            <a:custGeom>
              <a:avLst/>
              <a:gdLst/>
              <a:ahLst/>
              <a:cxnLst/>
              <a:rect l="l" t="t" r="r" b="b"/>
              <a:pathLst>
                <a:path w="95832" h="425921">
                  <a:moveTo>
                    <a:pt x="0" y="0"/>
                  </a:moveTo>
                  <a:lnTo>
                    <a:pt x="95832" y="0"/>
                  </a:lnTo>
                  <a:lnTo>
                    <a:pt x="95832" y="425921"/>
                  </a:lnTo>
                  <a:lnTo>
                    <a:pt x="0" y="425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1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0" y="14822"/>
              <a:ext cx="283522" cy="287839"/>
            </a:xfrm>
            <a:custGeom>
              <a:avLst/>
              <a:gdLst/>
              <a:ahLst/>
              <a:cxnLst/>
              <a:rect l="l" t="t" r="r" b="b"/>
              <a:pathLst>
                <a:path w="283522" h="287839">
                  <a:moveTo>
                    <a:pt x="0" y="0"/>
                  </a:moveTo>
                  <a:lnTo>
                    <a:pt x="283522" y="0"/>
                  </a:lnTo>
                  <a:lnTo>
                    <a:pt x="283522" y="287839"/>
                  </a:lnTo>
                  <a:lnTo>
                    <a:pt x="0" y="287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1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537522" y="2970"/>
              <a:ext cx="314636" cy="299691"/>
            </a:xfrm>
            <a:custGeom>
              <a:avLst/>
              <a:gdLst/>
              <a:ahLst/>
              <a:cxnLst/>
              <a:rect l="l" t="t" r="r" b="b"/>
              <a:pathLst>
                <a:path w="314636" h="299691">
                  <a:moveTo>
                    <a:pt x="0" y="0"/>
                  </a:moveTo>
                  <a:lnTo>
                    <a:pt x="314636" y="0"/>
                  </a:lnTo>
                  <a:lnTo>
                    <a:pt x="314636" y="299691"/>
                  </a:lnTo>
                  <a:lnTo>
                    <a:pt x="0" y="29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100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186112"/>
            <a:ext cx="18288000" cy="119938"/>
            <a:chOff x="0" y="0"/>
            <a:chExt cx="4816593" cy="315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589"/>
            </a:xfrm>
            <a:custGeom>
              <a:avLst/>
              <a:gdLst/>
              <a:ahLst/>
              <a:cxnLst/>
              <a:rect l="l" t="t" r="r" b="b"/>
              <a:pathLst>
                <a:path w="4816592" h="31589">
                  <a:moveTo>
                    <a:pt x="0" y="0"/>
                  </a:moveTo>
                  <a:lnTo>
                    <a:pt x="4816592" y="0"/>
                  </a:lnTo>
                  <a:lnTo>
                    <a:pt x="4816592" y="31589"/>
                  </a:lnTo>
                  <a:lnTo>
                    <a:pt x="0" y="31589"/>
                  </a:lnTo>
                  <a:close/>
                </a:path>
              </a:pathLst>
            </a:custGeom>
            <a:solidFill>
              <a:srgbClr val="3A59D1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88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4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6024014" y="9525000"/>
            <a:ext cx="4527972" cy="1543050"/>
            <a:chOff x="0" y="0"/>
            <a:chExt cx="1192552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83346" cy="406400"/>
            </a:xfrm>
            <a:custGeom>
              <a:avLst/>
              <a:gdLst/>
              <a:ahLst/>
              <a:cxnLst/>
              <a:rect l="l" t="t" r="r" b="b"/>
              <a:pathLst>
                <a:path w="1183346" h="406400">
                  <a:moveTo>
                    <a:pt x="967125" y="0"/>
                  </a:moveTo>
                  <a:lnTo>
                    <a:pt x="22227" y="0"/>
                  </a:lnTo>
                  <a:cubicBezTo>
                    <a:pt x="9952" y="0"/>
                    <a:pt x="0" y="9952"/>
                    <a:pt x="0" y="22227"/>
                  </a:cubicBezTo>
                  <a:lnTo>
                    <a:pt x="0" y="384173"/>
                  </a:lnTo>
                  <a:cubicBezTo>
                    <a:pt x="0" y="396448"/>
                    <a:pt x="9952" y="406400"/>
                    <a:pt x="22227" y="406400"/>
                  </a:cubicBezTo>
                  <a:lnTo>
                    <a:pt x="967125" y="406400"/>
                  </a:lnTo>
                  <a:cubicBezTo>
                    <a:pt x="981357" y="406400"/>
                    <a:pt x="995006" y="400746"/>
                    <a:pt x="1005070" y="390683"/>
                  </a:cubicBezTo>
                  <a:lnTo>
                    <a:pt x="1176835" y="218917"/>
                  </a:lnTo>
                  <a:cubicBezTo>
                    <a:pt x="1185516" y="210237"/>
                    <a:pt x="1185516" y="196163"/>
                    <a:pt x="1176835" y="187483"/>
                  </a:cubicBezTo>
                  <a:lnTo>
                    <a:pt x="1005070" y="15717"/>
                  </a:lnTo>
                  <a:cubicBezTo>
                    <a:pt x="995006" y="5654"/>
                    <a:pt x="981357" y="0"/>
                    <a:pt x="967125" y="0"/>
                  </a:cubicBezTo>
                  <a:close/>
                </a:path>
              </a:pathLst>
            </a:custGeom>
            <a:solidFill>
              <a:srgbClr val="3A59D1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078252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41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950079" y="9806001"/>
            <a:ext cx="2888421" cy="174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27"/>
              </a:lnSpc>
            </a:pPr>
            <a:r>
              <a:rPr lang="en-US" sz="1599" b="1" spc="27" dirty="0">
                <a:solidFill>
                  <a:srgbClr val="FFFFFF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Poppins Medium"/>
              </a:rPr>
              <a:t>PAGE 02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5043432" y="485661"/>
            <a:ext cx="2795067" cy="240203"/>
            <a:chOff x="0" y="0"/>
            <a:chExt cx="3726756" cy="320271"/>
          </a:xfrm>
        </p:grpSpPr>
        <p:sp>
          <p:nvSpPr>
            <p:cNvPr id="10" name="Freeform 10"/>
            <p:cNvSpPr/>
            <p:nvPr/>
          </p:nvSpPr>
          <p:spPr>
            <a:xfrm>
              <a:off x="1679974" y="2970"/>
              <a:ext cx="225532" cy="314331"/>
            </a:xfrm>
            <a:custGeom>
              <a:avLst/>
              <a:gdLst/>
              <a:ahLst/>
              <a:cxnLst/>
              <a:rect l="l" t="t" r="r" b="b"/>
              <a:pathLst>
                <a:path w="225532" h="314331">
                  <a:moveTo>
                    <a:pt x="0" y="0"/>
                  </a:moveTo>
                  <a:lnTo>
                    <a:pt x="225532" y="0"/>
                  </a:lnTo>
                  <a:lnTo>
                    <a:pt x="225532" y="314331"/>
                  </a:lnTo>
                  <a:lnTo>
                    <a:pt x="0" y="314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1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106158" y="11191"/>
              <a:ext cx="287090" cy="297888"/>
            </a:xfrm>
            <a:custGeom>
              <a:avLst/>
              <a:gdLst/>
              <a:ahLst/>
              <a:cxnLst/>
              <a:rect l="l" t="t" r="r" b="b"/>
              <a:pathLst>
                <a:path w="287090" h="297888">
                  <a:moveTo>
                    <a:pt x="0" y="0"/>
                  </a:moveTo>
                  <a:lnTo>
                    <a:pt x="287090" y="0"/>
                  </a:lnTo>
                  <a:lnTo>
                    <a:pt x="287090" y="297888"/>
                  </a:lnTo>
                  <a:lnTo>
                    <a:pt x="0" y="297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172206" y="0"/>
              <a:ext cx="321880" cy="320271"/>
            </a:xfrm>
            <a:custGeom>
              <a:avLst/>
              <a:gdLst/>
              <a:ahLst/>
              <a:cxnLst/>
              <a:rect l="l" t="t" r="r" b="b"/>
              <a:pathLst>
                <a:path w="321880" h="320271">
                  <a:moveTo>
                    <a:pt x="0" y="0"/>
                  </a:moveTo>
                  <a:lnTo>
                    <a:pt x="321880" y="0"/>
                  </a:lnTo>
                  <a:lnTo>
                    <a:pt x="321880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1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755412" y="0"/>
              <a:ext cx="320271" cy="320271"/>
            </a:xfrm>
            <a:custGeom>
              <a:avLst/>
              <a:gdLst/>
              <a:ahLst/>
              <a:cxnLst/>
              <a:rect l="l" t="t" r="r" b="b"/>
              <a:pathLst>
                <a:path w="320271" h="320271">
                  <a:moveTo>
                    <a:pt x="0" y="0"/>
                  </a:moveTo>
                  <a:lnTo>
                    <a:pt x="320271" y="0"/>
                  </a:lnTo>
                  <a:lnTo>
                    <a:pt x="320271" y="320271"/>
                  </a:lnTo>
                  <a:lnTo>
                    <a:pt x="0" y="32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1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14"/>
            <p:cNvSpPr/>
            <p:nvPr/>
          </p:nvSpPr>
          <p:spPr>
            <a:xfrm rot="-5400000">
              <a:off x="3465879" y="-52825"/>
              <a:ext cx="95832" cy="425921"/>
            </a:xfrm>
            <a:custGeom>
              <a:avLst/>
              <a:gdLst/>
              <a:ahLst/>
              <a:cxnLst/>
              <a:rect l="l" t="t" r="r" b="b"/>
              <a:pathLst>
                <a:path w="95832" h="425921">
                  <a:moveTo>
                    <a:pt x="0" y="0"/>
                  </a:moveTo>
                  <a:lnTo>
                    <a:pt x="95832" y="0"/>
                  </a:lnTo>
                  <a:lnTo>
                    <a:pt x="95832" y="425921"/>
                  </a:lnTo>
                  <a:lnTo>
                    <a:pt x="0" y="425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1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14822"/>
              <a:ext cx="283522" cy="287839"/>
            </a:xfrm>
            <a:custGeom>
              <a:avLst/>
              <a:gdLst/>
              <a:ahLst/>
              <a:cxnLst/>
              <a:rect l="l" t="t" r="r" b="b"/>
              <a:pathLst>
                <a:path w="283522" h="287839">
                  <a:moveTo>
                    <a:pt x="0" y="0"/>
                  </a:moveTo>
                  <a:lnTo>
                    <a:pt x="283522" y="0"/>
                  </a:lnTo>
                  <a:lnTo>
                    <a:pt x="283522" y="287839"/>
                  </a:lnTo>
                  <a:lnTo>
                    <a:pt x="0" y="287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1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537522" y="2970"/>
              <a:ext cx="314636" cy="299691"/>
            </a:xfrm>
            <a:custGeom>
              <a:avLst/>
              <a:gdLst/>
              <a:ahLst/>
              <a:cxnLst/>
              <a:rect l="l" t="t" r="r" b="b"/>
              <a:pathLst>
                <a:path w="314636" h="299691">
                  <a:moveTo>
                    <a:pt x="0" y="0"/>
                  </a:moveTo>
                  <a:lnTo>
                    <a:pt x="314636" y="0"/>
                  </a:lnTo>
                  <a:lnTo>
                    <a:pt x="314636" y="299691"/>
                  </a:lnTo>
                  <a:lnTo>
                    <a:pt x="0" y="29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1000"/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D48F65F-A523-90FA-2499-180CADA6E003}"/>
              </a:ext>
            </a:extLst>
          </p:cNvPr>
          <p:cNvGrpSpPr/>
          <p:nvPr/>
        </p:nvGrpSpPr>
        <p:grpSpPr>
          <a:xfrm>
            <a:off x="7586641" y="3835157"/>
            <a:ext cx="8491559" cy="4420804"/>
            <a:chOff x="7608788" y="3694496"/>
            <a:chExt cx="8491559" cy="4420804"/>
          </a:xfrm>
        </p:grpSpPr>
        <p:sp>
          <p:nvSpPr>
            <p:cNvPr id="18" name="TextBox 18"/>
            <p:cNvSpPr txBox="1"/>
            <p:nvPr/>
          </p:nvSpPr>
          <p:spPr>
            <a:xfrm>
              <a:off x="8372119" y="3694496"/>
              <a:ext cx="5573917" cy="5001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79"/>
                </a:lnSpc>
                <a:spcBef>
                  <a:spcPct val="0"/>
                </a:spcBef>
              </a:pPr>
              <a:r>
                <a:rPr lang="en-US" sz="3432" b="1" u="none" strike="noStrike" spc="-68" dirty="0" err="1">
                  <a:solidFill>
                    <a:srgbClr val="22222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JASO Sans Bold"/>
                </a:rPr>
                <a:t>프로젝트</a:t>
              </a:r>
              <a:r>
                <a:rPr lang="en-US" sz="3432" b="1" u="none" strike="noStrike" spc="-68" dirty="0">
                  <a:solidFill>
                    <a:srgbClr val="22222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JASO Sans Bold"/>
                </a:rPr>
                <a:t> </a:t>
              </a:r>
              <a:r>
                <a:rPr lang="en-US" sz="3432" b="1" u="none" strike="noStrike" spc="-68" dirty="0" err="1">
                  <a:solidFill>
                    <a:srgbClr val="22222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JASO Sans Bold"/>
                </a:rPr>
                <a:t>개요</a:t>
              </a:r>
              <a:endParaRPr lang="en-US" sz="3432" b="1" u="none" strike="noStrike" spc="-68" dirty="0">
                <a:solidFill>
                  <a:srgbClr val="22222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JASO Sans Bold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72119" y="4675609"/>
              <a:ext cx="5573917" cy="5001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79"/>
                </a:lnSpc>
                <a:spcBef>
                  <a:spcPct val="0"/>
                </a:spcBef>
              </a:pPr>
              <a:r>
                <a:rPr lang="en-US" sz="3432" b="1" u="none" strike="noStrike" spc="-68" dirty="0" err="1">
                  <a:solidFill>
                    <a:srgbClr val="22222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JASO Sans Bold"/>
                </a:rPr>
                <a:t>프로젝트</a:t>
              </a:r>
              <a:r>
                <a:rPr lang="en-US" sz="3432" b="1" u="none" strike="noStrike" spc="-68" dirty="0">
                  <a:solidFill>
                    <a:srgbClr val="22222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JASO Sans Bold"/>
                </a:rPr>
                <a:t> 팀 </a:t>
              </a:r>
              <a:r>
                <a:rPr lang="en-US" sz="3432" b="1" u="none" strike="noStrike" spc="-68" dirty="0" err="1">
                  <a:solidFill>
                    <a:srgbClr val="22222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JASO Sans Bold"/>
                </a:rPr>
                <a:t>구성</a:t>
              </a:r>
              <a:r>
                <a:rPr lang="en-US" sz="3432" b="1" u="none" strike="noStrike" spc="-68" dirty="0">
                  <a:solidFill>
                    <a:srgbClr val="22222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JASO Sans Bold"/>
                </a:rPr>
                <a:t> 및 </a:t>
              </a:r>
              <a:r>
                <a:rPr lang="en-US" sz="3432" b="1" u="none" strike="noStrike" spc="-68" dirty="0" err="1">
                  <a:solidFill>
                    <a:srgbClr val="22222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JASO Sans Bold"/>
                </a:rPr>
                <a:t>역할</a:t>
              </a:r>
              <a:endParaRPr lang="en-US" sz="3432" b="1" u="none" strike="noStrike" spc="-68" dirty="0">
                <a:solidFill>
                  <a:srgbClr val="22222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JASO Sans Bold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72119" y="5693905"/>
              <a:ext cx="5573917" cy="5001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79"/>
                </a:lnSpc>
                <a:spcBef>
                  <a:spcPct val="0"/>
                </a:spcBef>
              </a:pPr>
              <a:r>
                <a:rPr lang="en-US" sz="3432" b="1" u="none" strike="noStrike" spc="-68" dirty="0" err="1">
                  <a:solidFill>
                    <a:srgbClr val="22222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JASO Sans Bold"/>
                </a:rPr>
                <a:t>프로젝트</a:t>
              </a:r>
              <a:r>
                <a:rPr lang="en-US" sz="3432" b="1" u="none" strike="noStrike" spc="-68" dirty="0">
                  <a:solidFill>
                    <a:srgbClr val="22222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JASO Sans Bold"/>
                </a:rPr>
                <a:t> </a:t>
              </a:r>
              <a:r>
                <a:rPr lang="en-US" sz="3432" b="1" u="none" strike="noStrike" spc="-68" dirty="0" err="1">
                  <a:solidFill>
                    <a:srgbClr val="22222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JASO Sans Bold"/>
                </a:rPr>
                <a:t>수행</a:t>
              </a:r>
              <a:r>
                <a:rPr lang="en-US" sz="3432" b="1" u="none" strike="noStrike" spc="-68" dirty="0">
                  <a:solidFill>
                    <a:srgbClr val="22222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JASO Sans Bold"/>
                </a:rPr>
                <a:t> </a:t>
              </a:r>
              <a:r>
                <a:rPr lang="en-US" sz="3432" b="1" u="none" strike="noStrike" spc="-68" dirty="0" err="1">
                  <a:solidFill>
                    <a:srgbClr val="22222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JASO Sans Bold"/>
                </a:rPr>
                <a:t>절차</a:t>
              </a:r>
              <a:r>
                <a:rPr lang="en-US" sz="3432" b="1" u="none" strike="noStrike" spc="-68" dirty="0">
                  <a:solidFill>
                    <a:srgbClr val="22222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JASO Sans Bold"/>
                </a:rPr>
                <a:t> 및 </a:t>
              </a:r>
              <a:r>
                <a:rPr lang="en-US" sz="3432" b="1" u="none" strike="noStrike" spc="-68" dirty="0" err="1">
                  <a:solidFill>
                    <a:srgbClr val="22222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JASO Sans Bold"/>
                </a:rPr>
                <a:t>방법</a:t>
              </a:r>
              <a:endParaRPr lang="en-US" sz="3432" b="1" u="none" strike="noStrike" spc="-68" dirty="0">
                <a:solidFill>
                  <a:srgbClr val="22222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JASO Sans Bold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72119" y="6653750"/>
              <a:ext cx="5573917" cy="5001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79"/>
                </a:lnSpc>
                <a:spcBef>
                  <a:spcPct val="0"/>
                </a:spcBef>
              </a:pPr>
              <a:r>
                <a:rPr lang="en-US" sz="3432" b="1" u="none" strike="noStrike" spc="-68" dirty="0" err="1">
                  <a:solidFill>
                    <a:srgbClr val="22222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JASO Sans Bold"/>
                </a:rPr>
                <a:t>프로젝트</a:t>
              </a:r>
              <a:r>
                <a:rPr lang="en-US" sz="3432" b="1" u="none" strike="noStrike" spc="-68" dirty="0">
                  <a:solidFill>
                    <a:srgbClr val="22222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JASO Sans Bold"/>
                </a:rPr>
                <a:t> </a:t>
              </a:r>
              <a:r>
                <a:rPr lang="en-US" sz="3432" b="1" u="none" strike="noStrike" spc="-68" dirty="0" err="1">
                  <a:solidFill>
                    <a:srgbClr val="22222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JASO Sans Bold"/>
                </a:rPr>
                <a:t>수행</a:t>
              </a:r>
              <a:r>
                <a:rPr lang="en-US" sz="3432" b="1" u="none" strike="noStrike" spc="-68" dirty="0">
                  <a:solidFill>
                    <a:srgbClr val="22222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JASO Sans Bold"/>
                </a:rPr>
                <a:t> </a:t>
              </a:r>
              <a:r>
                <a:rPr lang="en-US" sz="3432" b="1" u="none" strike="noStrike" spc="-68" dirty="0" err="1">
                  <a:solidFill>
                    <a:srgbClr val="22222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JASO Sans Bold"/>
                </a:rPr>
                <a:t>경과</a:t>
              </a:r>
              <a:endParaRPr lang="en-US" sz="3432" b="1" u="none" strike="noStrike" spc="-68" dirty="0">
                <a:solidFill>
                  <a:srgbClr val="22222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JASO Sans Bold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72119" y="7615163"/>
              <a:ext cx="5573917" cy="5001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79"/>
                </a:lnSpc>
                <a:spcBef>
                  <a:spcPct val="0"/>
                </a:spcBef>
              </a:pPr>
              <a:r>
                <a:rPr lang="en-US" sz="3432" b="1" u="none" strike="noStrike" spc="-68" dirty="0" err="1">
                  <a:solidFill>
                    <a:srgbClr val="22222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JASO Sans Bold"/>
                </a:rPr>
                <a:t>자체</a:t>
              </a:r>
              <a:r>
                <a:rPr lang="en-US" sz="3432" b="1" u="none" strike="noStrike" spc="-68" dirty="0">
                  <a:solidFill>
                    <a:srgbClr val="22222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JASO Sans Bold"/>
                </a:rPr>
                <a:t> </a:t>
              </a:r>
              <a:r>
                <a:rPr lang="en-US" sz="3432" b="1" u="none" strike="noStrike" spc="-68" dirty="0" err="1">
                  <a:solidFill>
                    <a:srgbClr val="22222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JASO Sans Bold"/>
                </a:rPr>
                <a:t>평가</a:t>
              </a:r>
              <a:r>
                <a:rPr lang="en-US" sz="3432" b="1" u="none" strike="noStrike" spc="-68" dirty="0">
                  <a:solidFill>
                    <a:srgbClr val="22222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JASO Sans Bold"/>
                </a:rPr>
                <a:t> </a:t>
              </a:r>
              <a:r>
                <a:rPr lang="en-US" sz="3432" b="1" u="none" strike="noStrike" spc="-68" dirty="0" err="1">
                  <a:solidFill>
                    <a:srgbClr val="22222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JASO Sans Bold"/>
                </a:rPr>
                <a:t>의견</a:t>
              </a:r>
              <a:endParaRPr lang="en-US" sz="3432" b="1" u="none" strike="noStrike" spc="-68" dirty="0">
                <a:solidFill>
                  <a:srgbClr val="22222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JASO Sans Bold"/>
              </a:endParaRPr>
            </a:p>
          </p:txBody>
        </p:sp>
        <p:sp>
          <p:nvSpPr>
            <p:cNvPr id="23" name="AutoShape 23"/>
            <p:cNvSpPr/>
            <p:nvPr/>
          </p:nvSpPr>
          <p:spPr>
            <a:xfrm>
              <a:off x="13589274" y="3945826"/>
              <a:ext cx="2511073" cy="0"/>
            </a:xfrm>
            <a:prstGeom prst="line">
              <a:avLst/>
            </a:prstGeom>
            <a:ln w="19050" cap="rnd">
              <a:solidFill>
                <a:srgbClr val="222222">
                  <a:alpha val="14902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13589274" y="4925677"/>
              <a:ext cx="2511073" cy="0"/>
            </a:xfrm>
            <a:prstGeom prst="line">
              <a:avLst/>
            </a:prstGeom>
            <a:ln w="19050" cap="rnd">
              <a:solidFill>
                <a:srgbClr val="222222">
                  <a:alpha val="14902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AutoShape 25"/>
            <p:cNvSpPr/>
            <p:nvPr/>
          </p:nvSpPr>
          <p:spPr>
            <a:xfrm>
              <a:off x="13589274" y="5885010"/>
              <a:ext cx="2511073" cy="0"/>
            </a:xfrm>
            <a:prstGeom prst="line">
              <a:avLst/>
            </a:prstGeom>
            <a:ln w="19050" cap="rnd">
              <a:solidFill>
                <a:srgbClr val="222222">
                  <a:alpha val="14902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13589274" y="6864861"/>
              <a:ext cx="2511073" cy="0"/>
            </a:xfrm>
            <a:prstGeom prst="line">
              <a:avLst/>
            </a:prstGeom>
            <a:ln w="19050" cap="rnd">
              <a:solidFill>
                <a:srgbClr val="222222">
                  <a:alpha val="14902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13589274" y="7844712"/>
              <a:ext cx="2511073" cy="0"/>
            </a:xfrm>
            <a:prstGeom prst="line">
              <a:avLst/>
            </a:prstGeom>
            <a:ln w="19050" cap="rnd">
              <a:solidFill>
                <a:srgbClr val="222222">
                  <a:alpha val="14902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08789" y="3770643"/>
              <a:ext cx="675005" cy="333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6"/>
                </a:lnSpc>
              </a:pPr>
              <a:r>
                <a:rPr lang="en-US" sz="2639" b="1" dirty="0">
                  <a:solidFill>
                    <a:srgbClr val="3A59D1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DIN Next Bold"/>
                </a:rPr>
                <a:t>01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08788" y="4749403"/>
              <a:ext cx="468411" cy="33342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586"/>
                </a:lnSpc>
              </a:pPr>
              <a:r>
                <a:rPr lang="en-US" sz="2639" b="1" dirty="0">
                  <a:solidFill>
                    <a:srgbClr val="3A59D1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DIN Next Bold"/>
                </a:rPr>
                <a:t>02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08789" y="5726345"/>
              <a:ext cx="675005" cy="333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6"/>
                </a:lnSpc>
              </a:pPr>
              <a:r>
                <a:rPr lang="en-US" sz="2639" b="1" dirty="0">
                  <a:solidFill>
                    <a:srgbClr val="3A59D1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DIN Next Bold"/>
                </a:rPr>
                <a:t>03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08789" y="6686190"/>
              <a:ext cx="675005" cy="333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6"/>
                </a:lnSpc>
              </a:pPr>
              <a:r>
                <a:rPr lang="en-US" sz="2639" b="1" dirty="0">
                  <a:solidFill>
                    <a:srgbClr val="3A59D1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DIN Next Bold"/>
                </a:rPr>
                <a:t>04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08789" y="7663133"/>
              <a:ext cx="675005" cy="333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6"/>
                </a:lnSpc>
              </a:pPr>
              <a:r>
                <a:rPr lang="en-US" sz="2639" b="1" dirty="0">
                  <a:solidFill>
                    <a:srgbClr val="3A59D1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  <a:sym typeface="DIN Next Bold"/>
                </a:rPr>
                <a:t>05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 rot="-18144">
            <a:off x="2015912" y="1983148"/>
            <a:ext cx="3879079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515"/>
              </a:lnSpc>
            </a:pPr>
            <a:r>
              <a:rPr lang="en-US" sz="8348" b="1" spc="-58" dirty="0">
                <a:solidFill>
                  <a:srgbClr val="3A59D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ym typeface="Poppins Bold"/>
              </a:rPr>
              <a:t>INDEX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24128" y="1133856"/>
            <a:ext cx="50292" cy="274320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25296" y="111556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A59D1"/>
                </a:solidFill>
                <a:latin typeface="Pretendard SemiBold"/>
              </a:rPr>
              <a:t>01 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81328"/>
            <a:ext cx="16230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4000" b="1" dirty="0">
                <a:solidFill>
                  <a:srgbClr val="22222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일회성 Scan 이 아닌 Risk 단위 상태 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2331720"/>
            <a:ext cx="1623060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4950440" y="9692640"/>
            <a:ext cx="2304288" cy="384048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 SemiBold"/>
              </a:rPr>
              <a:t>PAGE 03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186416"/>
            <a:ext cx="4818888" cy="100584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24128" y="2697480"/>
            <a:ext cx="7818120" cy="187451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08176" y="300837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A59D1"/>
                </a:solidFill>
                <a:latin typeface="Pretendard SemiBold"/>
              </a:rPr>
              <a:t>대상 사용자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3410712"/>
            <a:ext cx="7040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>
                <a:solidFill>
                  <a:srgbClr val="222222"/>
                </a:solidFill>
                <a:latin typeface="Pretendard SemiBold"/>
              </a:rPr>
              <a:t>전담 법무·특허 인력이 부족한</a:t>
            </a:r>
          </a:p>
          <a:p>
            <a:pPr algn="l">
              <a:lnSpc>
                <a:spcPct val="120000"/>
              </a:lnSpc>
            </a:pPr>
            <a:r>
              <a:rPr sz="2500" b="1">
                <a:solidFill>
                  <a:srgbClr val="222222"/>
                </a:solidFill>
                <a:latin typeface="Pretendard SemiBold"/>
              </a:rPr>
              <a:t>스타트업·소규모 개발팀</a:t>
            </a:r>
          </a:p>
        </p:txBody>
      </p:sp>
      <p:sp>
        <p:nvSpPr>
          <p:cNvPr id="32" name="Rectangle 4">
            <a:extLst>
              <a:ext uri="{FF2B5EF4-FFF2-40B4-BE49-F238E27FC236}">
                <a16:creationId xmlns:a16="http://schemas.microsoft.com/office/drawing/2014/main" id="{B0D4427C-C2C3-CF45-2DC0-7AD23B12240F}"/>
              </a:ext>
            </a:extLst>
          </p:cNvPr>
          <p:cNvSpPr/>
          <p:nvPr/>
        </p:nvSpPr>
        <p:spPr>
          <a:xfrm>
            <a:off x="1039525" y="4898705"/>
            <a:ext cx="1623060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6301D86-D38B-E496-F19E-A57990F9FF7C}"/>
              </a:ext>
            </a:extLst>
          </p:cNvPr>
          <p:cNvSpPr/>
          <p:nvPr/>
        </p:nvSpPr>
        <p:spPr>
          <a:xfrm>
            <a:off x="1039525" y="5200457"/>
            <a:ext cx="16230600" cy="1783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FAB290-C5E7-5865-2781-76886EE81FA4}"/>
              </a:ext>
            </a:extLst>
          </p:cNvPr>
          <p:cNvSpPr txBox="1"/>
          <p:nvPr/>
        </p:nvSpPr>
        <p:spPr>
          <a:xfrm>
            <a:off x="1423573" y="5401625"/>
            <a:ext cx="82296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dirty="0" err="1">
                <a:solidFill>
                  <a:srgbClr val="939393"/>
                </a:solidFill>
                <a:latin typeface="Pretendard SemiBold"/>
              </a:rPr>
              <a:t>기존</a:t>
            </a:r>
            <a:r>
              <a:rPr sz="1700" b="1" dirty="0">
                <a:solidFill>
                  <a:srgbClr val="939393"/>
                </a:solidFill>
                <a:latin typeface="Pretendard SemiBold"/>
              </a:rPr>
              <a:t> </a:t>
            </a:r>
            <a:r>
              <a:rPr sz="1700" b="1" dirty="0" err="1">
                <a:solidFill>
                  <a:srgbClr val="939393"/>
                </a:solidFill>
                <a:latin typeface="Pretendard SemiBold"/>
              </a:rPr>
              <a:t>도구</a:t>
            </a:r>
            <a:r>
              <a:rPr sz="1600" b="0" dirty="0">
                <a:solidFill>
                  <a:srgbClr val="939393"/>
                </a:solidFill>
                <a:latin typeface="Pretendard"/>
              </a:rPr>
              <a:t>      One-shot Scan</a:t>
            </a:r>
          </a:p>
        </p:txBody>
      </p:sp>
      <p:sp>
        <p:nvSpPr>
          <p:cNvPr id="38" name="Rectangle 9">
            <a:extLst>
              <a:ext uri="{FF2B5EF4-FFF2-40B4-BE49-F238E27FC236}">
                <a16:creationId xmlns:a16="http://schemas.microsoft.com/office/drawing/2014/main" id="{60A7FCAB-86B6-266C-DBA8-E09D417726CB}"/>
              </a:ext>
            </a:extLst>
          </p:cNvPr>
          <p:cNvSpPr/>
          <p:nvPr/>
        </p:nvSpPr>
        <p:spPr>
          <a:xfrm>
            <a:off x="1423573" y="6206297"/>
            <a:ext cx="15462504" cy="16459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ounded Rectangle 10">
            <a:extLst>
              <a:ext uri="{FF2B5EF4-FFF2-40B4-BE49-F238E27FC236}">
                <a16:creationId xmlns:a16="http://schemas.microsoft.com/office/drawing/2014/main" id="{B9556B2C-653A-DA1D-A687-F9363EB254A9}"/>
              </a:ext>
            </a:extLst>
          </p:cNvPr>
          <p:cNvSpPr/>
          <p:nvPr/>
        </p:nvSpPr>
        <p:spPr>
          <a:xfrm>
            <a:off x="1862485" y="5895400"/>
            <a:ext cx="2103120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700" b="1">
                <a:solidFill>
                  <a:srgbClr val="222222"/>
                </a:solidFill>
                <a:latin typeface="Pretendard SemiBold"/>
              </a:rPr>
              <a:t>Scan 1회</a:t>
            </a:r>
          </a:p>
        </p:txBody>
      </p:sp>
      <p:sp>
        <p:nvSpPr>
          <p:cNvPr id="42" name="Rounded Rectangle 11">
            <a:extLst>
              <a:ext uri="{FF2B5EF4-FFF2-40B4-BE49-F238E27FC236}">
                <a16:creationId xmlns:a16="http://schemas.microsoft.com/office/drawing/2014/main" id="{E1BCE995-A1E0-BD53-37DE-30452A9299F1}"/>
              </a:ext>
            </a:extLst>
          </p:cNvPr>
          <p:cNvSpPr/>
          <p:nvPr/>
        </p:nvSpPr>
        <p:spPr>
          <a:xfrm>
            <a:off x="14051437" y="5895400"/>
            <a:ext cx="2103120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700" b="1">
                <a:solidFill>
                  <a:srgbClr val="222222"/>
                </a:solidFill>
                <a:latin typeface="Pretendard SemiBold"/>
              </a:rPr>
              <a:t>Scan 2회</a:t>
            </a:r>
          </a:p>
        </p:txBody>
      </p:sp>
      <p:sp>
        <p:nvSpPr>
          <p:cNvPr id="44" name="Rounded Rectangle 12">
            <a:extLst>
              <a:ext uri="{FF2B5EF4-FFF2-40B4-BE49-F238E27FC236}">
                <a16:creationId xmlns:a16="http://schemas.microsoft.com/office/drawing/2014/main" id="{B2897DCE-B337-3B6D-B674-E13DC5026442}"/>
              </a:ext>
            </a:extLst>
          </p:cNvPr>
          <p:cNvSpPr/>
          <p:nvPr/>
        </p:nvSpPr>
        <p:spPr>
          <a:xfrm>
            <a:off x="4349653" y="5931976"/>
            <a:ext cx="9336024" cy="566928"/>
          </a:xfrm>
          <a:prstGeom prst="roundRect">
            <a:avLst>
              <a:gd name="adj" fmla="val 30000"/>
            </a:avLst>
          </a:prstGeom>
          <a:solidFill>
            <a:srgbClr val="FAEEEE"/>
          </a:solidFill>
          <a:ln w="12700">
            <a:solidFill>
              <a:srgbClr val="C0393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600" b="1">
                <a:solidFill>
                  <a:srgbClr val="C03939"/>
                </a:solidFill>
                <a:latin typeface="Pretendard SemiBold"/>
              </a:rPr>
              <a:t>이 구간에서 발생한 Risk는 관측되지 않는다</a:t>
            </a:r>
          </a:p>
        </p:txBody>
      </p:sp>
      <p:sp>
        <p:nvSpPr>
          <p:cNvPr id="48" name="Rectangle 14">
            <a:extLst>
              <a:ext uri="{FF2B5EF4-FFF2-40B4-BE49-F238E27FC236}">
                <a16:creationId xmlns:a16="http://schemas.microsoft.com/office/drawing/2014/main" id="{C363054C-CB30-D2CC-1E25-0D2EE01FF242}"/>
              </a:ext>
            </a:extLst>
          </p:cNvPr>
          <p:cNvSpPr/>
          <p:nvPr/>
        </p:nvSpPr>
        <p:spPr>
          <a:xfrm>
            <a:off x="1039525" y="7212137"/>
            <a:ext cx="1623060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3A5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3FF7FDC-7463-8635-320B-635FCA8B7C78}"/>
              </a:ext>
            </a:extLst>
          </p:cNvPr>
          <p:cNvSpPr txBox="1"/>
          <p:nvPr/>
        </p:nvSpPr>
        <p:spPr>
          <a:xfrm>
            <a:off x="1423573" y="7413305"/>
            <a:ext cx="91440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700" b="1" dirty="0">
                <a:solidFill>
                  <a:srgbClr val="3A59D1"/>
                </a:solidFill>
                <a:latin typeface="Pretendard SemiBold"/>
              </a:rPr>
              <a:t>IP Risk Agent</a:t>
            </a:r>
            <a:r>
              <a:rPr sz="1600" b="0" dirty="0">
                <a:solidFill>
                  <a:srgbClr val="222222"/>
                </a:solidFill>
                <a:latin typeface="Pretendard"/>
              </a:rPr>
              <a:t>      Continuous Tracking · Risk </a:t>
            </a:r>
            <a:r>
              <a:rPr sz="1600" b="0" dirty="0" err="1">
                <a:solidFill>
                  <a:srgbClr val="222222"/>
                </a:solidFill>
                <a:latin typeface="Pretendard"/>
              </a:rPr>
              <a:t>상태</a:t>
            </a:r>
            <a:r>
              <a:rPr lang="en-US" sz="1600" b="0" dirty="0">
                <a:solidFill>
                  <a:srgbClr val="222222"/>
                </a:solidFill>
                <a:latin typeface="Pretendard"/>
              </a:rPr>
              <a:t> </a:t>
            </a:r>
            <a:r>
              <a:rPr lang="ko-KR" altLang="en-US" sz="1600" b="0" dirty="0">
                <a:solidFill>
                  <a:srgbClr val="222222"/>
                </a:solidFill>
                <a:latin typeface="Pretendard"/>
              </a:rPr>
              <a:t>추적 및 이력 관리</a:t>
            </a:r>
            <a:r>
              <a:rPr sz="1600" b="0" dirty="0">
                <a:solidFill>
                  <a:srgbClr val="222222"/>
                </a:solidFill>
                <a:latin typeface="Pretendard"/>
              </a:rPr>
              <a:t> </a:t>
            </a:r>
          </a:p>
        </p:txBody>
      </p:sp>
      <p:sp>
        <p:nvSpPr>
          <p:cNvPr id="52" name="Rectangle 16">
            <a:extLst>
              <a:ext uri="{FF2B5EF4-FFF2-40B4-BE49-F238E27FC236}">
                <a16:creationId xmlns:a16="http://schemas.microsoft.com/office/drawing/2014/main" id="{1E323EA9-EE4C-6B22-9559-9BDCF59A08F5}"/>
              </a:ext>
            </a:extLst>
          </p:cNvPr>
          <p:cNvSpPr/>
          <p:nvPr/>
        </p:nvSpPr>
        <p:spPr>
          <a:xfrm>
            <a:off x="1423573" y="8272841"/>
            <a:ext cx="15462504" cy="16459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Rounded Rectangle 17">
            <a:extLst>
              <a:ext uri="{FF2B5EF4-FFF2-40B4-BE49-F238E27FC236}">
                <a16:creationId xmlns:a16="http://schemas.microsoft.com/office/drawing/2014/main" id="{84D01EA4-22B6-7620-9049-5F37301CC8E2}"/>
              </a:ext>
            </a:extLst>
          </p:cNvPr>
          <p:cNvSpPr/>
          <p:nvPr/>
        </p:nvSpPr>
        <p:spPr>
          <a:xfrm>
            <a:off x="1654663" y="7961945"/>
            <a:ext cx="2103120" cy="640080"/>
          </a:xfrm>
          <a:prstGeom prst="roundRect">
            <a:avLst>
              <a:gd name="adj" fmla="val 18000"/>
            </a:avLst>
          </a:prstGeom>
          <a:solidFill>
            <a:srgbClr val="E4E7F2"/>
          </a:solidFill>
          <a:ln w="12700">
            <a:solidFill>
              <a:srgbClr val="3A5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700" b="1">
                <a:solidFill>
                  <a:srgbClr val="222222"/>
                </a:solidFill>
                <a:latin typeface="Pretendard SemiBold"/>
              </a:rPr>
              <a:t>Mount 1회</a:t>
            </a:r>
          </a:p>
        </p:txBody>
      </p:sp>
      <p:sp>
        <p:nvSpPr>
          <p:cNvPr id="56" name="Oval 18">
            <a:extLst>
              <a:ext uri="{FF2B5EF4-FFF2-40B4-BE49-F238E27FC236}">
                <a16:creationId xmlns:a16="http://schemas.microsoft.com/office/drawing/2014/main" id="{CAB9F36A-1718-91EE-06B2-2C94FFA29493}"/>
              </a:ext>
            </a:extLst>
          </p:cNvPr>
          <p:cNvSpPr/>
          <p:nvPr/>
        </p:nvSpPr>
        <p:spPr>
          <a:xfrm>
            <a:off x="3993036" y="8208833"/>
            <a:ext cx="123444" cy="123444"/>
          </a:xfrm>
          <a:prstGeom prst="ellipse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Rectangle 19">
            <a:extLst>
              <a:ext uri="{FF2B5EF4-FFF2-40B4-BE49-F238E27FC236}">
                <a16:creationId xmlns:a16="http://schemas.microsoft.com/office/drawing/2014/main" id="{8B0BD9E0-206A-5452-7D6B-B56DA398BFB7}"/>
              </a:ext>
            </a:extLst>
          </p:cNvPr>
          <p:cNvSpPr/>
          <p:nvPr/>
        </p:nvSpPr>
        <p:spPr>
          <a:xfrm>
            <a:off x="4047900" y="8053385"/>
            <a:ext cx="12801" cy="155448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Oval 20">
            <a:extLst>
              <a:ext uri="{FF2B5EF4-FFF2-40B4-BE49-F238E27FC236}">
                <a16:creationId xmlns:a16="http://schemas.microsoft.com/office/drawing/2014/main" id="{FF154D36-0011-BCF4-63C7-089582B682B4}"/>
              </a:ext>
            </a:extLst>
          </p:cNvPr>
          <p:cNvSpPr/>
          <p:nvPr/>
        </p:nvSpPr>
        <p:spPr>
          <a:xfrm>
            <a:off x="5693821" y="8208833"/>
            <a:ext cx="123444" cy="123444"/>
          </a:xfrm>
          <a:prstGeom prst="ellipse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Rectangle 21">
            <a:extLst>
              <a:ext uri="{FF2B5EF4-FFF2-40B4-BE49-F238E27FC236}">
                <a16:creationId xmlns:a16="http://schemas.microsoft.com/office/drawing/2014/main" id="{8DA3131D-08C1-580B-429A-FF6D54F57287}"/>
              </a:ext>
            </a:extLst>
          </p:cNvPr>
          <p:cNvSpPr/>
          <p:nvPr/>
        </p:nvSpPr>
        <p:spPr>
          <a:xfrm>
            <a:off x="5748685" y="8053385"/>
            <a:ext cx="12801" cy="155448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Oval 22">
            <a:extLst>
              <a:ext uri="{FF2B5EF4-FFF2-40B4-BE49-F238E27FC236}">
                <a16:creationId xmlns:a16="http://schemas.microsoft.com/office/drawing/2014/main" id="{A4B532EA-0E76-1F94-D217-C38C5B8945D6}"/>
              </a:ext>
            </a:extLst>
          </p:cNvPr>
          <p:cNvSpPr/>
          <p:nvPr/>
        </p:nvSpPr>
        <p:spPr>
          <a:xfrm>
            <a:off x="7394605" y="8208833"/>
            <a:ext cx="123444" cy="123444"/>
          </a:xfrm>
          <a:prstGeom prst="ellipse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Rectangle 23">
            <a:extLst>
              <a:ext uri="{FF2B5EF4-FFF2-40B4-BE49-F238E27FC236}">
                <a16:creationId xmlns:a16="http://schemas.microsoft.com/office/drawing/2014/main" id="{9A3CC96B-DD23-4A3B-8142-D889192C3E0E}"/>
              </a:ext>
            </a:extLst>
          </p:cNvPr>
          <p:cNvSpPr/>
          <p:nvPr/>
        </p:nvSpPr>
        <p:spPr>
          <a:xfrm>
            <a:off x="7449469" y="8053385"/>
            <a:ext cx="12801" cy="155448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Oval 24">
            <a:extLst>
              <a:ext uri="{FF2B5EF4-FFF2-40B4-BE49-F238E27FC236}">
                <a16:creationId xmlns:a16="http://schemas.microsoft.com/office/drawing/2014/main" id="{E4C9E37A-FD58-0EF4-B815-C9CADE6392FA}"/>
              </a:ext>
            </a:extLst>
          </p:cNvPr>
          <p:cNvSpPr/>
          <p:nvPr/>
        </p:nvSpPr>
        <p:spPr>
          <a:xfrm>
            <a:off x="9095389" y="8208833"/>
            <a:ext cx="123444" cy="123444"/>
          </a:xfrm>
          <a:prstGeom prst="ellipse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Rectangle 25">
            <a:extLst>
              <a:ext uri="{FF2B5EF4-FFF2-40B4-BE49-F238E27FC236}">
                <a16:creationId xmlns:a16="http://schemas.microsoft.com/office/drawing/2014/main" id="{6B9472B6-A9E8-0164-DEE2-891A16CB8753}"/>
              </a:ext>
            </a:extLst>
          </p:cNvPr>
          <p:cNvSpPr/>
          <p:nvPr/>
        </p:nvSpPr>
        <p:spPr>
          <a:xfrm>
            <a:off x="9150253" y="8053385"/>
            <a:ext cx="12801" cy="155448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Oval 26">
            <a:extLst>
              <a:ext uri="{FF2B5EF4-FFF2-40B4-BE49-F238E27FC236}">
                <a16:creationId xmlns:a16="http://schemas.microsoft.com/office/drawing/2014/main" id="{E7689974-BF62-B805-E9E4-B7875D61E174}"/>
              </a:ext>
            </a:extLst>
          </p:cNvPr>
          <p:cNvSpPr/>
          <p:nvPr/>
        </p:nvSpPr>
        <p:spPr>
          <a:xfrm>
            <a:off x="10796173" y="8208833"/>
            <a:ext cx="123444" cy="123444"/>
          </a:xfrm>
          <a:prstGeom prst="ellipse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Rectangle 27">
            <a:extLst>
              <a:ext uri="{FF2B5EF4-FFF2-40B4-BE49-F238E27FC236}">
                <a16:creationId xmlns:a16="http://schemas.microsoft.com/office/drawing/2014/main" id="{9B17D952-3FAB-9497-FEC3-3978EAB37062}"/>
              </a:ext>
            </a:extLst>
          </p:cNvPr>
          <p:cNvSpPr/>
          <p:nvPr/>
        </p:nvSpPr>
        <p:spPr>
          <a:xfrm>
            <a:off x="10851037" y="8053385"/>
            <a:ext cx="12801" cy="155448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6" name="Oval 28">
            <a:extLst>
              <a:ext uri="{FF2B5EF4-FFF2-40B4-BE49-F238E27FC236}">
                <a16:creationId xmlns:a16="http://schemas.microsoft.com/office/drawing/2014/main" id="{BEA68993-D522-64B6-058A-9F3CD7D10005}"/>
              </a:ext>
            </a:extLst>
          </p:cNvPr>
          <p:cNvSpPr/>
          <p:nvPr/>
        </p:nvSpPr>
        <p:spPr>
          <a:xfrm>
            <a:off x="12496957" y="8208833"/>
            <a:ext cx="123444" cy="123444"/>
          </a:xfrm>
          <a:prstGeom prst="ellipse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Rectangle 29">
            <a:extLst>
              <a:ext uri="{FF2B5EF4-FFF2-40B4-BE49-F238E27FC236}">
                <a16:creationId xmlns:a16="http://schemas.microsoft.com/office/drawing/2014/main" id="{D17C0DAE-D505-9DFF-C308-2904DAB88D42}"/>
              </a:ext>
            </a:extLst>
          </p:cNvPr>
          <p:cNvSpPr/>
          <p:nvPr/>
        </p:nvSpPr>
        <p:spPr>
          <a:xfrm>
            <a:off x="12551821" y="8053385"/>
            <a:ext cx="12801" cy="155448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Oval 30">
            <a:extLst>
              <a:ext uri="{FF2B5EF4-FFF2-40B4-BE49-F238E27FC236}">
                <a16:creationId xmlns:a16="http://schemas.microsoft.com/office/drawing/2014/main" id="{CCCBDA4D-53B0-FCB5-9BBC-E5DC7517B348}"/>
              </a:ext>
            </a:extLst>
          </p:cNvPr>
          <p:cNvSpPr/>
          <p:nvPr/>
        </p:nvSpPr>
        <p:spPr>
          <a:xfrm>
            <a:off x="14197741" y="8208833"/>
            <a:ext cx="123444" cy="123444"/>
          </a:xfrm>
          <a:prstGeom prst="ellipse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Rectangle 31">
            <a:extLst>
              <a:ext uri="{FF2B5EF4-FFF2-40B4-BE49-F238E27FC236}">
                <a16:creationId xmlns:a16="http://schemas.microsoft.com/office/drawing/2014/main" id="{157B614B-3CE2-A97F-D3DA-CBF2D738D933}"/>
              </a:ext>
            </a:extLst>
          </p:cNvPr>
          <p:cNvSpPr/>
          <p:nvPr/>
        </p:nvSpPr>
        <p:spPr>
          <a:xfrm>
            <a:off x="14252605" y="8053385"/>
            <a:ext cx="12801" cy="155448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B325EE2-3629-D924-9A81-5A17E88A1EF7}"/>
              </a:ext>
            </a:extLst>
          </p:cNvPr>
          <p:cNvSpPr txBox="1"/>
          <p:nvPr/>
        </p:nvSpPr>
        <p:spPr>
          <a:xfrm>
            <a:off x="3764436" y="7724201"/>
            <a:ext cx="109728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 err="1">
                <a:solidFill>
                  <a:srgbClr val="3A59D1"/>
                </a:solidFill>
                <a:latin typeface="Pretendard SemiBold"/>
              </a:rPr>
              <a:t>변경</a:t>
            </a:r>
            <a:r>
              <a:rPr lang="en-US" sz="1500" b="1" dirty="0">
                <a:solidFill>
                  <a:srgbClr val="3A59D1"/>
                </a:solidFill>
                <a:latin typeface="Pretendard SemiBold"/>
              </a:rPr>
              <a:t> </a:t>
            </a:r>
            <a:r>
              <a:rPr lang="ko-KR" altLang="en-US" sz="1500" b="1" dirty="0">
                <a:solidFill>
                  <a:srgbClr val="3A59D1"/>
                </a:solidFill>
                <a:latin typeface="Pretendard SemiBold"/>
              </a:rPr>
              <a:t>시</a:t>
            </a:r>
            <a:r>
              <a:rPr sz="1500" b="1" dirty="0">
                <a:solidFill>
                  <a:srgbClr val="3A59D1"/>
                </a:solidFill>
                <a:latin typeface="Pretendard SemiBold"/>
              </a:rPr>
              <a:t> </a:t>
            </a:r>
            <a:r>
              <a:rPr sz="1500" b="1" dirty="0" err="1">
                <a:solidFill>
                  <a:srgbClr val="3A59D1"/>
                </a:solidFill>
                <a:latin typeface="Pretendard SemiBold"/>
              </a:rPr>
              <a:t>자동</a:t>
            </a:r>
            <a:r>
              <a:rPr sz="1500" b="1" dirty="0">
                <a:solidFill>
                  <a:srgbClr val="3A59D1"/>
                </a:solidFill>
                <a:latin typeface="Pretendard SemiBold"/>
              </a:rPr>
              <a:t> </a:t>
            </a:r>
            <a:r>
              <a:rPr sz="1500" b="1" dirty="0" err="1">
                <a:solidFill>
                  <a:srgbClr val="3A59D1"/>
                </a:solidFill>
                <a:latin typeface="Pretendard SemiBold"/>
              </a:rPr>
              <a:t>재분석</a:t>
            </a:r>
            <a:endParaRPr sz="1500" b="1" dirty="0">
              <a:solidFill>
                <a:srgbClr val="3A59D1"/>
              </a:solidFill>
              <a:latin typeface="Pretendard SemiBold"/>
            </a:endParaRPr>
          </a:p>
        </p:txBody>
      </p:sp>
      <p:sp>
        <p:nvSpPr>
          <p:cNvPr id="88" name="Rectangle 35">
            <a:extLst>
              <a:ext uri="{FF2B5EF4-FFF2-40B4-BE49-F238E27FC236}">
                <a16:creationId xmlns:a16="http://schemas.microsoft.com/office/drawing/2014/main" id="{B001864A-34AD-8995-A287-FEE301CA4B21}"/>
              </a:ext>
            </a:extLst>
          </p:cNvPr>
          <p:cNvSpPr/>
          <p:nvPr/>
        </p:nvSpPr>
        <p:spPr>
          <a:xfrm>
            <a:off x="9049668" y="3090720"/>
            <a:ext cx="2592000" cy="1298448"/>
          </a:xfrm>
          <a:prstGeom prst="rect">
            <a:avLst/>
          </a:prstGeom>
          <a:noFill/>
          <a:ln w="1587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C054DE0-5332-2263-BA97-50CB9C04F715}"/>
              </a:ext>
            </a:extLst>
          </p:cNvPr>
          <p:cNvSpPr txBox="1"/>
          <p:nvPr/>
        </p:nvSpPr>
        <p:spPr>
          <a:xfrm>
            <a:off x="9360565" y="3291888"/>
            <a:ext cx="209283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 err="1">
                <a:solidFill>
                  <a:srgbClr val="222222"/>
                </a:solidFill>
                <a:latin typeface="Pretendard SemiBold"/>
              </a:rPr>
              <a:t>미관측</a:t>
            </a:r>
            <a:r>
              <a:rPr sz="1600" b="1" dirty="0">
                <a:solidFill>
                  <a:srgbClr val="222222"/>
                </a:solidFill>
                <a:latin typeface="Pretendard SemiBold"/>
              </a:rPr>
              <a:t> </a:t>
            </a:r>
            <a:r>
              <a:rPr sz="1600" b="1" dirty="0" err="1">
                <a:solidFill>
                  <a:srgbClr val="222222"/>
                </a:solidFill>
                <a:latin typeface="Pretendard SemiBold"/>
              </a:rPr>
              <a:t>구간</a:t>
            </a:r>
            <a:r>
              <a:rPr lang="en-US" sz="1600" b="1" dirty="0">
                <a:solidFill>
                  <a:srgbClr val="222222"/>
                </a:solidFill>
                <a:latin typeface="Pretendard SemiBold"/>
              </a:rPr>
              <a:t> </a:t>
            </a:r>
            <a:endParaRPr sz="1600" b="1" dirty="0">
              <a:solidFill>
                <a:srgbClr val="222222"/>
              </a:solidFill>
              <a:latin typeface="Pretendard SemiBold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E9FFA50-136E-DAEE-24ED-2F40291B53C1}"/>
              </a:ext>
            </a:extLst>
          </p:cNvPr>
          <p:cNvSpPr txBox="1"/>
          <p:nvPr/>
        </p:nvSpPr>
        <p:spPr>
          <a:xfrm>
            <a:off x="9360565" y="3639360"/>
            <a:ext cx="31089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939393"/>
                </a:solidFill>
                <a:latin typeface="Pretendard"/>
              </a:rPr>
              <a:t>Scan과 Scan 사이에 발생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E059314-2F19-FD00-C4FD-6F0F987B2DF5}"/>
              </a:ext>
            </a:extLst>
          </p:cNvPr>
          <p:cNvSpPr txBox="1"/>
          <p:nvPr/>
        </p:nvSpPr>
        <p:spPr>
          <a:xfrm>
            <a:off x="9360565" y="3986831"/>
            <a:ext cx="2092831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3A59D1"/>
                </a:solidFill>
                <a:latin typeface="Pretendard SemiBold"/>
              </a:rPr>
              <a:t>→  </a:t>
            </a:r>
            <a:r>
              <a:rPr lang="ko-KR" altLang="en-US" sz="1700" b="1" dirty="0">
                <a:solidFill>
                  <a:srgbClr val="3A59D1"/>
                </a:solidFill>
                <a:latin typeface="Pretendard SemiBold"/>
              </a:rPr>
              <a:t>커버</a:t>
            </a:r>
            <a:endParaRPr sz="1700" b="1" dirty="0">
              <a:solidFill>
                <a:srgbClr val="3A59D1"/>
              </a:solidFill>
              <a:latin typeface="Pretendard SemiBold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E2E7D63-3D7E-3BDE-A260-307E422BD6FE}"/>
              </a:ext>
            </a:extLst>
          </p:cNvPr>
          <p:cNvSpPr txBox="1"/>
          <p:nvPr/>
        </p:nvSpPr>
        <p:spPr>
          <a:xfrm>
            <a:off x="9068897" y="2672090"/>
            <a:ext cx="73152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700" b="1" dirty="0">
                <a:solidFill>
                  <a:srgbClr val="93939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기존 대비 차별성</a:t>
            </a:r>
            <a:endParaRPr sz="1700" b="1" dirty="0">
              <a:solidFill>
                <a:srgbClr val="939393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0" name="Rectangle 39">
            <a:extLst>
              <a:ext uri="{FF2B5EF4-FFF2-40B4-BE49-F238E27FC236}">
                <a16:creationId xmlns:a16="http://schemas.microsoft.com/office/drawing/2014/main" id="{A3F296B6-7C4A-8814-A011-B86A9873F0C9}"/>
              </a:ext>
            </a:extLst>
          </p:cNvPr>
          <p:cNvSpPr/>
          <p:nvPr/>
        </p:nvSpPr>
        <p:spPr>
          <a:xfrm>
            <a:off x="11956078" y="3086100"/>
            <a:ext cx="2592387" cy="1298448"/>
          </a:xfrm>
          <a:prstGeom prst="rect">
            <a:avLst/>
          </a:prstGeom>
          <a:noFill/>
          <a:ln w="1587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D04395B2-AD0E-46DF-94DA-71BD4C906F4A}"/>
              </a:ext>
            </a:extLst>
          </p:cNvPr>
          <p:cNvSpPr txBox="1"/>
          <p:nvPr/>
        </p:nvSpPr>
        <p:spPr>
          <a:xfrm>
            <a:off x="12266974" y="3287268"/>
            <a:ext cx="227927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 err="1">
                <a:solidFill>
                  <a:srgbClr val="222222"/>
                </a:solidFill>
                <a:latin typeface="Pretendard SemiBold"/>
              </a:rPr>
              <a:t>검토</a:t>
            </a:r>
            <a:r>
              <a:rPr sz="1600" b="1" dirty="0">
                <a:solidFill>
                  <a:srgbClr val="222222"/>
                </a:solidFill>
                <a:latin typeface="Pretendard SemiBold"/>
              </a:rPr>
              <a:t> </a:t>
            </a:r>
            <a:r>
              <a:rPr lang="ko-KR" altLang="en-US" sz="1600" b="1" dirty="0">
                <a:solidFill>
                  <a:srgbClr val="222222"/>
                </a:solidFill>
                <a:latin typeface="Pretendard SemiBold"/>
              </a:rPr>
              <a:t>시점</a:t>
            </a:r>
            <a:endParaRPr sz="1600" b="1" dirty="0">
              <a:solidFill>
                <a:srgbClr val="222222"/>
              </a:solidFill>
              <a:latin typeface="Pretendard SemiBold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9A5AC8C-4825-0184-B9CD-FA26B6FA794E}"/>
              </a:ext>
            </a:extLst>
          </p:cNvPr>
          <p:cNvSpPr txBox="1"/>
          <p:nvPr/>
        </p:nvSpPr>
        <p:spPr>
          <a:xfrm>
            <a:off x="12266974" y="3634740"/>
            <a:ext cx="156556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0" dirty="0">
                <a:solidFill>
                  <a:srgbClr val="939393"/>
                </a:solidFill>
                <a:latin typeface="Pretendard"/>
              </a:rPr>
              <a:t>수동적 검토</a:t>
            </a:r>
            <a:endParaRPr sz="1400" b="0" dirty="0">
              <a:solidFill>
                <a:srgbClr val="939393"/>
              </a:solidFill>
              <a:latin typeface="Pretendard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513D50DB-31E0-B2AE-6175-3C36448927A9}"/>
              </a:ext>
            </a:extLst>
          </p:cNvPr>
          <p:cNvSpPr txBox="1"/>
          <p:nvPr/>
        </p:nvSpPr>
        <p:spPr>
          <a:xfrm>
            <a:off x="12266974" y="3982211"/>
            <a:ext cx="2279275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3A59D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 </a:t>
            </a:r>
            <a:r>
              <a:rPr sz="1700" b="1" dirty="0" err="1">
                <a:solidFill>
                  <a:srgbClr val="3A59D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변경</a:t>
            </a:r>
            <a:r>
              <a:rPr lang="en-US" sz="1700" b="1" dirty="0">
                <a:solidFill>
                  <a:srgbClr val="3A59D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700" b="1" dirty="0">
                <a:solidFill>
                  <a:srgbClr val="3A59D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파일 발생 시</a:t>
            </a:r>
            <a:endParaRPr sz="1700" b="1" dirty="0">
              <a:solidFill>
                <a:srgbClr val="3A59D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8" name="Rectangle 43">
            <a:extLst>
              <a:ext uri="{FF2B5EF4-FFF2-40B4-BE49-F238E27FC236}">
                <a16:creationId xmlns:a16="http://schemas.microsoft.com/office/drawing/2014/main" id="{21427484-1518-4759-D287-0DB6A871E8B1}"/>
              </a:ext>
            </a:extLst>
          </p:cNvPr>
          <p:cNvSpPr/>
          <p:nvPr/>
        </p:nvSpPr>
        <p:spPr>
          <a:xfrm>
            <a:off x="14857413" y="3100823"/>
            <a:ext cx="2592387" cy="1298448"/>
          </a:xfrm>
          <a:prstGeom prst="rect">
            <a:avLst/>
          </a:prstGeom>
          <a:noFill/>
          <a:ln w="1587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EF4DE794-6996-E869-0683-25FA9CA542A6}"/>
              </a:ext>
            </a:extLst>
          </p:cNvPr>
          <p:cNvSpPr txBox="1"/>
          <p:nvPr/>
        </p:nvSpPr>
        <p:spPr>
          <a:xfrm>
            <a:off x="15168309" y="3301991"/>
            <a:ext cx="227927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Pretendard SemiBold"/>
              </a:rPr>
              <a:t>판단 이력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DDD8A87-A74D-A37D-13CA-009262C84F27}"/>
              </a:ext>
            </a:extLst>
          </p:cNvPr>
          <p:cNvSpPr txBox="1"/>
          <p:nvPr/>
        </p:nvSpPr>
        <p:spPr>
          <a:xfrm>
            <a:off x="15168309" y="3649463"/>
            <a:ext cx="156556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b="0" dirty="0">
                <a:solidFill>
                  <a:srgbClr val="939393"/>
                </a:solidFill>
                <a:latin typeface="Pretendard"/>
              </a:rPr>
              <a:t>별도 이력 관리 필요</a:t>
            </a:r>
            <a:endParaRPr sz="1400" b="0" dirty="0">
              <a:solidFill>
                <a:srgbClr val="939393"/>
              </a:solidFill>
              <a:latin typeface="Pretendard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53CE56AC-CDBF-1743-4214-9D31A8BA358C}"/>
              </a:ext>
            </a:extLst>
          </p:cNvPr>
          <p:cNvSpPr txBox="1"/>
          <p:nvPr/>
        </p:nvSpPr>
        <p:spPr>
          <a:xfrm>
            <a:off x="15168309" y="3996934"/>
            <a:ext cx="2279275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3A59D1"/>
                </a:solidFill>
                <a:latin typeface="Pretendard SemiBold"/>
              </a:rPr>
              <a:t>→  </a:t>
            </a:r>
            <a:r>
              <a:rPr sz="1700" b="1" dirty="0" err="1">
                <a:solidFill>
                  <a:srgbClr val="3A59D1"/>
                </a:solidFill>
                <a:latin typeface="Pretendard SemiBold"/>
              </a:rPr>
              <a:t>Risk에</a:t>
            </a:r>
            <a:r>
              <a:rPr sz="1700" b="1" dirty="0">
                <a:solidFill>
                  <a:srgbClr val="3A59D1"/>
                </a:solidFill>
                <a:latin typeface="Pretendard SemiBold"/>
              </a:rPr>
              <a:t> </a:t>
            </a:r>
            <a:r>
              <a:rPr lang="ko-KR" altLang="en-US" sz="1700" b="1" dirty="0">
                <a:solidFill>
                  <a:srgbClr val="3A59D1"/>
                </a:solidFill>
                <a:latin typeface="Pretendard SemiBold"/>
              </a:rPr>
              <a:t>기록</a:t>
            </a:r>
            <a:r>
              <a:rPr sz="1700" b="1" dirty="0">
                <a:solidFill>
                  <a:srgbClr val="3A59D1"/>
                </a:solidFill>
                <a:latin typeface="Pretendard SemiBold"/>
              </a:rPr>
              <a:t>·</a:t>
            </a:r>
            <a:r>
              <a:rPr sz="1700" b="1" dirty="0" err="1">
                <a:solidFill>
                  <a:srgbClr val="3A59D1"/>
                </a:solidFill>
                <a:latin typeface="Pretendard SemiBold"/>
              </a:rPr>
              <a:t>보존</a:t>
            </a:r>
            <a:endParaRPr sz="1700" b="1" dirty="0">
              <a:solidFill>
                <a:srgbClr val="3A59D1"/>
              </a:solidFill>
              <a:latin typeface="Pretendard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24128" y="1133856"/>
            <a:ext cx="50292" cy="274320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25296" y="111556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A59D1"/>
                </a:solidFill>
                <a:latin typeface="Pretendard SemiBold"/>
              </a:rPr>
              <a:t>01 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81328"/>
            <a:ext cx="16230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dirty="0" err="1">
                <a:solidFill>
                  <a:srgbClr val="22222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네 가지 설계 원칙 — 지속 추적 · 보안 · 근거 · 사람</a:t>
            </a:r>
            <a:endParaRPr sz="4000" b="1" dirty="0">
              <a:solidFill>
                <a:srgbClr val="22222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24128" y="2331720"/>
            <a:ext cx="1623060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4950440" y="9692640"/>
            <a:ext cx="2304288" cy="384048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 SemiBold"/>
              </a:rPr>
              <a:t>PAGE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186416"/>
            <a:ext cx="4818888" cy="100584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24128" y="4610100"/>
            <a:ext cx="3803904" cy="4983480"/>
          </a:xfrm>
          <a:prstGeom prst="rect">
            <a:avLst/>
          </a:prstGeom>
          <a:noFill/>
          <a:ln w="1587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24128" y="4610100"/>
            <a:ext cx="3803904" cy="64008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497586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3A59D1"/>
                </a:solidFill>
                <a:latin typeface="Pretendard SemiBol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497068"/>
            <a:ext cx="310896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300" b="1" dirty="0">
                <a:solidFill>
                  <a:srgbClr val="22222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지속적인 모니터링</a:t>
            </a:r>
            <a:endParaRPr sz="2300" b="1" dirty="0">
              <a:solidFill>
                <a:srgbClr val="222222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1600" y="5990844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939393"/>
                </a:solidFill>
                <a:latin typeface="Pretendard"/>
              </a:rPr>
              <a:t>Continuous Monitoring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6576060"/>
            <a:ext cx="310896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371600" y="6923532"/>
            <a:ext cx="54864" cy="54864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54480" y="6832092"/>
            <a:ext cx="2926080" cy="257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 dirty="0">
                <a:solidFill>
                  <a:srgbClr val="222222"/>
                </a:solidFill>
                <a:latin typeface="Pretendard"/>
              </a:rPr>
              <a:t>Drive </a:t>
            </a:r>
            <a:r>
              <a:rPr sz="1500" b="0" dirty="0" err="1">
                <a:solidFill>
                  <a:srgbClr val="222222"/>
                </a:solidFill>
                <a:latin typeface="Pretendard"/>
              </a:rPr>
              <a:t>변경</a:t>
            </a:r>
            <a:r>
              <a:rPr sz="1500" b="0" dirty="0">
                <a:solidFill>
                  <a:srgbClr val="222222"/>
                </a:solidFill>
                <a:latin typeface="Pretendard"/>
              </a:rPr>
              <a:t> </a:t>
            </a:r>
            <a:r>
              <a:rPr lang="ko-KR" altLang="en-US" sz="1500" dirty="0">
                <a:solidFill>
                  <a:srgbClr val="222222"/>
                </a:solidFill>
                <a:latin typeface="Pretendard"/>
              </a:rPr>
              <a:t>감지</a:t>
            </a:r>
            <a:endParaRPr sz="1500" b="0" dirty="0">
              <a:solidFill>
                <a:srgbClr val="222222"/>
              </a:solidFill>
              <a:latin typeface="Pretendard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371600" y="7581900"/>
            <a:ext cx="54864" cy="54864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54480" y="7490460"/>
            <a:ext cx="2926080" cy="257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 dirty="0">
                <a:solidFill>
                  <a:srgbClr val="222222"/>
                </a:solidFill>
                <a:latin typeface="Pretendard"/>
              </a:rPr>
              <a:t>GitHub </a:t>
            </a:r>
            <a:r>
              <a:rPr lang="en-US" sz="1500" dirty="0">
                <a:solidFill>
                  <a:srgbClr val="222222"/>
                </a:solidFill>
                <a:latin typeface="Pretendard"/>
              </a:rPr>
              <a:t>commit</a:t>
            </a:r>
            <a:r>
              <a:rPr sz="1500" b="0" dirty="0">
                <a:solidFill>
                  <a:srgbClr val="222222"/>
                </a:solidFill>
                <a:latin typeface="Pretendard"/>
              </a:rPr>
              <a:t> </a:t>
            </a:r>
            <a:r>
              <a:rPr lang="ko-KR" altLang="en-US" sz="1500" dirty="0">
                <a:solidFill>
                  <a:srgbClr val="222222"/>
                </a:solidFill>
                <a:latin typeface="Pretendard"/>
              </a:rPr>
              <a:t>추적</a:t>
            </a:r>
            <a:endParaRPr sz="1500" b="0" dirty="0">
              <a:solidFill>
                <a:srgbClr val="222222"/>
              </a:solidFill>
              <a:latin typeface="Pretendard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371600" y="8240268"/>
            <a:ext cx="54864" cy="54864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8148828"/>
            <a:ext cx="2926080" cy="257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lang="en-US" sz="1500" dirty="0">
                <a:solidFill>
                  <a:srgbClr val="222222"/>
                </a:solidFill>
                <a:latin typeface="Pretendard"/>
              </a:rPr>
              <a:t>Local Directory</a:t>
            </a:r>
            <a:r>
              <a:rPr sz="1500" b="0" dirty="0">
                <a:solidFill>
                  <a:srgbClr val="222222"/>
                </a:solidFill>
                <a:latin typeface="Pretendard"/>
              </a:rPr>
              <a:t> </a:t>
            </a:r>
            <a:r>
              <a:rPr lang="ko-KR" altLang="en-US" sz="1500" b="0" dirty="0">
                <a:solidFill>
                  <a:srgbClr val="222222"/>
                </a:solidFill>
                <a:latin typeface="Pretendard"/>
              </a:rPr>
              <a:t>추적</a:t>
            </a:r>
            <a:endParaRPr sz="1500" b="0" dirty="0">
              <a:solidFill>
                <a:srgbClr val="222222"/>
              </a:solidFill>
              <a:latin typeface="Pretendard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371600" y="8898636"/>
            <a:ext cx="54864" cy="54864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54480" y="8807196"/>
            <a:ext cx="2926080" cy="257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lang="ko-KR" altLang="en-US" sz="1500" b="0" dirty="0">
                <a:solidFill>
                  <a:srgbClr val="22222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변경 발생 자동 감지</a:t>
            </a:r>
            <a:endParaRPr sz="1500" b="0" dirty="0">
              <a:solidFill>
                <a:srgbClr val="22222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166360" y="4610100"/>
            <a:ext cx="3803904" cy="4983480"/>
          </a:xfrm>
          <a:prstGeom prst="rect">
            <a:avLst/>
          </a:prstGeom>
          <a:noFill/>
          <a:ln w="1587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166360" y="4610100"/>
            <a:ext cx="3803904" cy="64008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13832" y="497586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3A59D1"/>
                </a:solidFill>
                <a:latin typeface="Pretendard SemiBold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13832" y="5497068"/>
            <a:ext cx="310896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dirty="0" err="1">
                <a:solidFill>
                  <a:srgbClr val="22222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보안</a:t>
            </a:r>
            <a:r>
              <a:rPr lang="en-US" sz="2300" b="1" dirty="0">
                <a:solidFill>
                  <a:srgbClr val="22222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ko-KR" altLang="en-US" sz="2300" b="1" dirty="0">
                <a:solidFill>
                  <a:srgbClr val="22222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구조</a:t>
            </a:r>
            <a:r>
              <a:rPr lang="en-US" sz="2300" b="1" dirty="0">
                <a:solidFill>
                  <a:srgbClr val="22222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endParaRPr sz="2300" b="1" dirty="0">
              <a:solidFill>
                <a:srgbClr val="222222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513832" y="5990844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939393"/>
                </a:solidFill>
                <a:latin typeface="Pretendard"/>
              </a:rPr>
              <a:t>Security by Architecture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13832" y="6576060"/>
            <a:ext cx="310896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513832" y="6923532"/>
            <a:ext cx="54864" cy="54864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96712" y="6832092"/>
            <a:ext cx="2926080" cy="257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 dirty="0" err="1">
                <a:solidFill>
                  <a:srgbClr val="222222"/>
                </a:solidFill>
                <a:latin typeface="Pretendard"/>
              </a:rPr>
              <a:t>사용자</a:t>
            </a:r>
            <a:r>
              <a:rPr lang="ko-KR" altLang="en-US" sz="1500" dirty="0">
                <a:solidFill>
                  <a:srgbClr val="222222"/>
                </a:solidFill>
                <a:latin typeface="Pretendard"/>
              </a:rPr>
              <a:t> 지정 </a:t>
            </a:r>
            <a:r>
              <a:rPr sz="1500" b="0" dirty="0" err="1">
                <a:solidFill>
                  <a:srgbClr val="222222"/>
                </a:solidFill>
                <a:latin typeface="Pretendard"/>
              </a:rPr>
              <a:t>범위</a:t>
            </a:r>
            <a:r>
              <a:rPr lang="en-US" sz="1500" b="0" dirty="0">
                <a:solidFill>
                  <a:srgbClr val="222222"/>
                </a:solidFill>
                <a:latin typeface="Pretendard"/>
              </a:rPr>
              <a:t> </a:t>
            </a:r>
            <a:r>
              <a:rPr lang="ko-KR" altLang="en-US" sz="1500" b="0" dirty="0">
                <a:solidFill>
                  <a:srgbClr val="222222"/>
                </a:solidFill>
                <a:latin typeface="Pretendard"/>
              </a:rPr>
              <a:t>한정 추적</a:t>
            </a:r>
            <a:endParaRPr sz="1500" b="0" dirty="0">
              <a:solidFill>
                <a:srgbClr val="222222"/>
              </a:solidFill>
              <a:latin typeface="Pretendard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5513832" y="7581900"/>
            <a:ext cx="54864" cy="54864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96712" y="7490460"/>
            <a:ext cx="2926080" cy="257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lang="ko-KR" altLang="en-US" sz="1500" dirty="0">
                <a:solidFill>
                  <a:srgbClr val="222222"/>
                </a:solidFill>
                <a:latin typeface="Pretendard"/>
              </a:rPr>
              <a:t>추적 </a:t>
            </a:r>
            <a:r>
              <a:rPr sz="1500" b="0" dirty="0" err="1">
                <a:solidFill>
                  <a:srgbClr val="222222"/>
                </a:solidFill>
                <a:latin typeface="Pretendard"/>
              </a:rPr>
              <a:t>제외</a:t>
            </a:r>
            <a:r>
              <a:rPr sz="1500" b="0" dirty="0">
                <a:solidFill>
                  <a:srgbClr val="222222"/>
                </a:solidFill>
                <a:latin typeface="Pretendard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Pretendard"/>
              </a:rPr>
              <a:t>목록</a:t>
            </a:r>
            <a:r>
              <a:rPr lang="en-US" sz="1500" dirty="0">
                <a:solidFill>
                  <a:srgbClr val="222222"/>
                </a:solidFill>
                <a:latin typeface="Pretendard"/>
              </a:rPr>
              <a:t>(.</a:t>
            </a:r>
            <a:r>
              <a:rPr lang="en-US" sz="1500" dirty="0" err="1">
                <a:solidFill>
                  <a:srgbClr val="222222"/>
                </a:solidFill>
                <a:latin typeface="Pretendard"/>
              </a:rPr>
              <a:t>ipriskignore</a:t>
            </a:r>
            <a:r>
              <a:rPr lang="en-US" sz="1500" dirty="0">
                <a:solidFill>
                  <a:srgbClr val="222222"/>
                </a:solidFill>
                <a:latin typeface="Pretendard"/>
              </a:rPr>
              <a:t>)</a:t>
            </a:r>
            <a:endParaRPr sz="1500" b="0" dirty="0">
              <a:solidFill>
                <a:srgbClr val="222222"/>
              </a:solidFill>
              <a:latin typeface="Pretendard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5513832" y="8240268"/>
            <a:ext cx="54864" cy="54864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96712" y="8148828"/>
            <a:ext cx="29260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 dirty="0" err="1">
                <a:solidFill>
                  <a:srgbClr val="222222"/>
                </a:solidFill>
                <a:latin typeface="Pretendard"/>
              </a:rPr>
              <a:t>파일</a:t>
            </a:r>
            <a:r>
              <a:rPr sz="1500" b="0" dirty="0">
                <a:solidFill>
                  <a:srgbClr val="222222"/>
                </a:solidFill>
                <a:latin typeface="Pretendard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Pretendard"/>
              </a:rPr>
              <a:t>종류·크기·비밀정보</a:t>
            </a:r>
            <a:r>
              <a:rPr sz="1500" b="0" dirty="0">
                <a:solidFill>
                  <a:srgbClr val="222222"/>
                </a:solidFill>
                <a:latin typeface="Pretendard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Pretendard"/>
              </a:rPr>
              <a:t>검사</a:t>
            </a:r>
            <a:endParaRPr sz="1500" b="0" dirty="0">
              <a:solidFill>
                <a:srgbClr val="222222"/>
              </a:solidFill>
              <a:latin typeface="Pretendard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513832" y="8898636"/>
            <a:ext cx="54864" cy="54864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96712" y="8807196"/>
            <a:ext cx="2926080" cy="257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lang="ko-KR" altLang="en-US" sz="1500" dirty="0">
                <a:solidFill>
                  <a:srgbClr val="222222"/>
                </a:solidFill>
                <a:latin typeface="Pretendard"/>
              </a:rPr>
              <a:t>파일 </a:t>
            </a:r>
            <a:r>
              <a:rPr sz="1500" b="0" dirty="0" err="1">
                <a:solidFill>
                  <a:srgbClr val="222222"/>
                </a:solidFill>
                <a:latin typeface="Pretendard"/>
              </a:rPr>
              <a:t>원본</a:t>
            </a:r>
            <a:r>
              <a:rPr sz="1500" b="0" dirty="0">
                <a:solidFill>
                  <a:srgbClr val="222222"/>
                </a:solidFill>
                <a:latin typeface="Pretendard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Pretendard"/>
              </a:rPr>
              <a:t>저장</a:t>
            </a:r>
            <a:r>
              <a:rPr lang="en-US" sz="1500" b="0" dirty="0">
                <a:solidFill>
                  <a:srgbClr val="222222"/>
                </a:solidFill>
                <a:latin typeface="Pretendard"/>
              </a:rPr>
              <a:t> X</a:t>
            </a:r>
            <a:endParaRPr sz="1500" b="0" dirty="0">
              <a:solidFill>
                <a:srgbClr val="222222"/>
              </a:solidFill>
              <a:latin typeface="Pretendard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308592" y="4610100"/>
            <a:ext cx="3803904" cy="4983480"/>
          </a:xfrm>
          <a:prstGeom prst="rect">
            <a:avLst/>
          </a:prstGeom>
          <a:noFill/>
          <a:ln w="1587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308592" y="4610100"/>
            <a:ext cx="3803904" cy="64008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56064" y="497586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3A59D1"/>
                </a:solidFill>
                <a:latin typeface="Pretendard SemiBold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56064" y="5497068"/>
            <a:ext cx="310896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dirty="0" err="1">
                <a:solidFill>
                  <a:srgbClr val="22222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근거</a:t>
            </a:r>
            <a:r>
              <a:rPr lang="en-US" sz="2300" b="1" dirty="0">
                <a:solidFill>
                  <a:srgbClr val="22222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ko-KR" altLang="en-US" sz="2300" b="1" dirty="0">
                <a:solidFill>
                  <a:srgbClr val="22222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기반 </a:t>
            </a:r>
            <a:r>
              <a:rPr sz="2300" b="1" dirty="0" err="1">
                <a:solidFill>
                  <a:srgbClr val="22222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분석</a:t>
            </a:r>
            <a:endParaRPr sz="2300" b="1" dirty="0">
              <a:solidFill>
                <a:srgbClr val="222222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656064" y="5990844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939393"/>
                </a:solidFill>
                <a:latin typeface="Pretendard"/>
              </a:rPr>
              <a:t>Evidence-grounded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56064" y="6576060"/>
            <a:ext cx="310896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656064" y="6923532"/>
            <a:ext cx="54864" cy="54864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838944" y="6832092"/>
            <a:ext cx="29260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222222"/>
                </a:solidFill>
                <a:latin typeface="Pretendard"/>
              </a:rPr>
              <a:t>특허 DB(KIPRIS)에서 찾은 근거</a:t>
            </a:r>
          </a:p>
        </p:txBody>
      </p:sp>
      <p:sp>
        <p:nvSpPr>
          <p:cNvPr id="44" name="Oval 43"/>
          <p:cNvSpPr/>
          <p:nvPr/>
        </p:nvSpPr>
        <p:spPr>
          <a:xfrm>
            <a:off x="9656064" y="7581900"/>
            <a:ext cx="54864" cy="54864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838944" y="7490460"/>
            <a:ext cx="29260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222222"/>
                </a:solidFill>
                <a:latin typeface="Pretendard"/>
              </a:rPr>
              <a:t>표준 목록(SPDX)으로 라이선스 식별</a:t>
            </a:r>
          </a:p>
        </p:txBody>
      </p:sp>
      <p:sp>
        <p:nvSpPr>
          <p:cNvPr id="46" name="Oval 45"/>
          <p:cNvSpPr/>
          <p:nvPr/>
        </p:nvSpPr>
        <p:spPr>
          <a:xfrm>
            <a:off x="9656064" y="8240268"/>
            <a:ext cx="54864" cy="54864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838944" y="8148828"/>
            <a:ext cx="29260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222222"/>
                </a:solidFill>
                <a:latin typeface="Pretendard"/>
              </a:rPr>
              <a:t>참조 문서에서 의무 조항 검색</a:t>
            </a:r>
          </a:p>
        </p:txBody>
      </p:sp>
      <p:sp>
        <p:nvSpPr>
          <p:cNvPr id="48" name="Oval 47"/>
          <p:cNvSpPr/>
          <p:nvPr/>
        </p:nvSpPr>
        <p:spPr>
          <a:xfrm>
            <a:off x="9656064" y="8898636"/>
            <a:ext cx="54864" cy="54864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838944" y="8807196"/>
            <a:ext cx="29260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222222"/>
                </a:solidFill>
                <a:latin typeface="Pretendard"/>
              </a:rPr>
              <a:t>인용문이 원문에 실제 있는지 확인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450824" y="4610100"/>
            <a:ext cx="3803904" cy="4983480"/>
          </a:xfrm>
          <a:prstGeom prst="rect">
            <a:avLst/>
          </a:prstGeom>
          <a:noFill/>
          <a:ln w="1587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3450824" y="4610100"/>
            <a:ext cx="3803904" cy="64008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3798296" y="497586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3A59D1"/>
                </a:solidFill>
                <a:latin typeface="Pretendard SemiBold"/>
              </a:rPr>
              <a:t>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798296" y="5497068"/>
            <a:ext cx="310896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dirty="0" err="1">
                <a:solidFill>
                  <a:srgbClr val="22222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최종</a:t>
            </a:r>
            <a:r>
              <a:rPr sz="2300" b="1" dirty="0">
                <a:solidFill>
                  <a:srgbClr val="22222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sz="2300" b="1" dirty="0" err="1">
                <a:solidFill>
                  <a:srgbClr val="22222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판단</a:t>
            </a:r>
            <a:r>
              <a:rPr lang="ko-KR" altLang="en-US" sz="2300" b="1" dirty="0">
                <a:solidFill>
                  <a:srgbClr val="222222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은 사람이</a:t>
            </a:r>
            <a:endParaRPr sz="2300" b="1" dirty="0">
              <a:solidFill>
                <a:srgbClr val="222222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3798296" y="5990844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939393"/>
                </a:solidFill>
                <a:latin typeface="Pretendard"/>
              </a:rPr>
              <a:t>Human-in-the-Loop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98296" y="6576060"/>
            <a:ext cx="310896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3798296" y="6923532"/>
            <a:ext cx="54864" cy="54864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3981176" y="6832092"/>
            <a:ext cx="29260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222222"/>
                </a:solidFill>
                <a:latin typeface="Pretendard"/>
              </a:rPr>
              <a:t>AI는 위험 후보와 근거만 제안</a:t>
            </a:r>
          </a:p>
        </p:txBody>
      </p:sp>
      <p:sp>
        <p:nvSpPr>
          <p:cNvPr id="58" name="Oval 57"/>
          <p:cNvSpPr/>
          <p:nvPr/>
        </p:nvSpPr>
        <p:spPr>
          <a:xfrm>
            <a:off x="13798296" y="7581900"/>
            <a:ext cx="54864" cy="54864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3981176" y="7490460"/>
            <a:ext cx="29260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222222"/>
                </a:solidFill>
                <a:latin typeface="Pretendard"/>
              </a:rPr>
              <a:t>위험 상태는 제어 계층이 관리</a:t>
            </a:r>
          </a:p>
        </p:txBody>
      </p:sp>
      <p:sp>
        <p:nvSpPr>
          <p:cNvPr id="60" name="Oval 59"/>
          <p:cNvSpPr/>
          <p:nvPr/>
        </p:nvSpPr>
        <p:spPr>
          <a:xfrm>
            <a:off x="13798296" y="8240268"/>
            <a:ext cx="54864" cy="54864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3981176" y="8148828"/>
            <a:ext cx="3108960" cy="257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 dirty="0" err="1">
                <a:solidFill>
                  <a:srgbClr val="222222"/>
                </a:solidFill>
                <a:latin typeface="Pretendard"/>
              </a:rPr>
              <a:t>지켜보기·감수하기·제외를</a:t>
            </a:r>
            <a:r>
              <a:rPr sz="1500" b="0" dirty="0">
                <a:solidFill>
                  <a:srgbClr val="222222"/>
                </a:solidFill>
                <a:latin typeface="Pretendard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Pretendard"/>
              </a:rPr>
              <a:t>사용자가</a:t>
            </a:r>
            <a:r>
              <a:rPr sz="1500" b="0" dirty="0">
                <a:solidFill>
                  <a:srgbClr val="222222"/>
                </a:solidFill>
                <a:latin typeface="Pretendard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Pretendard"/>
              </a:rPr>
              <a:t>선택</a:t>
            </a:r>
            <a:endParaRPr sz="1500" b="0" dirty="0">
              <a:solidFill>
                <a:srgbClr val="222222"/>
              </a:solidFill>
              <a:latin typeface="Pretendard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13798296" y="8898636"/>
            <a:ext cx="54864" cy="54864"/>
          </a:xfrm>
          <a:prstGeom prst="ellipse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3981176" y="8807196"/>
            <a:ext cx="292608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222222"/>
                </a:solidFill>
                <a:latin typeface="Pretendard"/>
              </a:rPr>
              <a:t>판단 사유와 이력을 남김</a:t>
            </a:r>
          </a:p>
        </p:txBody>
      </p:sp>
      <p:sp>
        <p:nvSpPr>
          <p:cNvPr id="65" name="Rectangle 14">
            <a:extLst>
              <a:ext uri="{FF2B5EF4-FFF2-40B4-BE49-F238E27FC236}">
                <a16:creationId xmlns:a16="http://schemas.microsoft.com/office/drawing/2014/main" id="{512A1826-4894-7ACB-7BEC-3028338A014E}"/>
              </a:ext>
            </a:extLst>
          </p:cNvPr>
          <p:cNvSpPr/>
          <p:nvPr/>
        </p:nvSpPr>
        <p:spPr>
          <a:xfrm>
            <a:off x="1022648" y="2507286"/>
            <a:ext cx="1623060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3A5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CEB2E01-00A3-5A10-05C1-FC02C5C12867}"/>
              </a:ext>
            </a:extLst>
          </p:cNvPr>
          <p:cNvSpPr txBox="1"/>
          <p:nvPr/>
        </p:nvSpPr>
        <p:spPr>
          <a:xfrm>
            <a:off x="1406696" y="2708454"/>
            <a:ext cx="91440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700" b="1" dirty="0">
                <a:solidFill>
                  <a:srgbClr val="3A59D1"/>
                </a:solidFill>
                <a:latin typeface="Pretendard SemiBold"/>
              </a:rPr>
              <a:t>IP Risk Agent</a:t>
            </a:r>
            <a:r>
              <a:rPr sz="1600" b="0" dirty="0">
                <a:solidFill>
                  <a:srgbClr val="222222"/>
                </a:solidFill>
                <a:latin typeface="Pretendard"/>
              </a:rPr>
              <a:t>      Continuous Tracking · Risk </a:t>
            </a:r>
            <a:r>
              <a:rPr sz="1600" b="0" dirty="0" err="1">
                <a:solidFill>
                  <a:srgbClr val="222222"/>
                </a:solidFill>
                <a:latin typeface="Pretendard"/>
              </a:rPr>
              <a:t>상태</a:t>
            </a:r>
            <a:r>
              <a:rPr lang="en-US" sz="1600" b="0" dirty="0">
                <a:solidFill>
                  <a:srgbClr val="222222"/>
                </a:solidFill>
                <a:latin typeface="Pretendard"/>
              </a:rPr>
              <a:t> </a:t>
            </a:r>
            <a:r>
              <a:rPr lang="ko-KR" altLang="en-US" sz="1600" b="0" dirty="0">
                <a:solidFill>
                  <a:srgbClr val="222222"/>
                </a:solidFill>
                <a:latin typeface="Pretendard"/>
              </a:rPr>
              <a:t>추적 및 이력 관리</a:t>
            </a:r>
            <a:r>
              <a:rPr sz="1600" b="0" dirty="0">
                <a:solidFill>
                  <a:srgbClr val="222222"/>
                </a:solidFill>
                <a:latin typeface="Pretendard"/>
              </a:rPr>
              <a:t> </a:t>
            </a:r>
          </a:p>
        </p:txBody>
      </p:sp>
      <p:sp>
        <p:nvSpPr>
          <p:cNvPr id="71" name="Rectangle 16">
            <a:extLst>
              <a:ext uri="{FF2B5EF4-FFF2-40B4-BE49-F238E27FC236}">
                <a16:creationId xmlns:a16="http://schemas.microsoft.com/office/drawing/2014/main" id="{AC65DE61-2971-F1BE-155C-69D3A04E0696}"/>
              </a:ext>
            </a:extLst>
          </p:cNvPr>
          <p:cNvSpPr/>
          <p:nvPr/>
        </p:nvSpPr>
        <p:spPr>
          <a:xfrm>
            <a:off x="1406696" y="3567990"/>
            <a:ext cx="15462504" cy="16459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Rounded Rectangle 17">
            <a:extLst>
              <a:ext uri="{FF2B5EF4-FFF2-40B4-BE49-F238E27FC236}">
                <a16:creationId xmlns:a16="http://schemas.microsoft.com/office/drawing/2014/main" id="{09B12CA7-562A-29B6-2BD3-8AE641D510AD}"/>
              </a:ext>
            </a:extLst>
          </p:cNvPr>
          <p:cNvSpPr/>
          <p:nvPr/>
        </p:nvSpPr>
        <p:spPr>
          <a:xfrm>
            <a:off x="1637786" y="3257094"/>
            <a:ext cx="2103120" cy="640080"/>
          </a:xfrm>
          <a:prstGeom prst="roundRect">
            <a:avLst>
              <a:gd name="adj" fmla="val 18000"/>
            </a:avLst>
          </a:prstGeom>
          <a:solidFill>
            <a:srgbClr val="E4E7F2"/>
          </a:solidFill>
          <a:ln w="12700">
            <a:solidFill>
              <a:srgbClr val="3A5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700" b="1">
                <a:solidFill>
                  <a:srgbClr val="222222"/>
                </a:solidFill>
                <a:latin typeface="Pretendard SemiBold"/>
              </a:rPr>
              <a:t>Mount 1회</a:t>
            </a:r>
          </a:p>
        </p:txBody>
      </p:sp>
      <p:sp>
        <p:nvSpPr>
          <p:cNvPr id="79" name="Oval 18">
            <a:extLst>
              <a:ext uri="{FF2B5EF4-FFF2-40B4-BE49-F238E27FC236}">
                <a16:creationId xmlns:a16="http://schemas.microsoft.com/office/drawing/2014/main" id="{A96AD7A9-8EBC-618D-665C-880E4D0EAB5D}"/>
              </a:ext>
            </a:extLst>
          </p:cNvPr>
          <p:cNvSpPr/>
          <p:nvPr/>
        </p:nvSpPr>
        <p:spPr>
          <a:xfrm>
            <a:off x="3976159" y="3503982"/>
            <a:ext cx="123444" cy="123444"/>
          </a:xfrm>
          <a:prstGeom prst="ellipse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Rectangle 19">
            <a:extLst>
              <a:ext uri="{FF2B5EF4-FFF2-40B4-BE49-F238E27FC236}">
                <a16:creationId xmlns:a16="http://schemas.microsoft.com/office/drawing/2014/main" id="{7134B6AA-495F-37EB-D498-4F21C0C72D9D}"/>
              </a:ext>
            </a:extLst>
          </p:cNvPr>
          <p:cNvSpPr/>
          <p:nvPr/>
        </p:nvSpPr>
        <p:spPr>
          <a:xfrm>
            <a:off x="4031023" y="3348534"/>
            <a:ext cx="12801" cy="155448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7" name="Oval 20">
            <a:extLst>
              <a:ext uri="{FF2B5EF4-FFF2-40B4-BE49-F238E27FC236}">
                <a16:creationId xmlns:a16="http://schemas.microsoft.com/office/drawing/2014/main" id="{7C020E7E-9B45-4E08-4DB4-288E9321F210}"/>
              </a:ext>
            </a:extLst>
          </p:cNvPr>
          <p:cNvSpPr/>
          <p:nvPr/>
        </p:nvSpPr>
        <p:spPr>
          <a:xfrm>
            <a:off x="5676944" y="3503982"/>
            <a:ext cx="123444" cy="123444"/>
          </a:xfrm>
          <a:prstGeom prst="ellipse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Rectangle 21">
            <a:extLst>
              <a:ext uri="{FF2B5EF4-FFF2-40B4-BE49-F238E27FC236}">
                <a16:creationId xmlns:a16="http://schemas.microsoft.com/office/drawing/2014/main" id="{FB20319E-B2D4-54D5-D449-0E62D4264634}"/>
              </a:ext>
            </a:extLst>
          </p:cNvPr>
          <p:cNvSpPr/>
          <p:nvPr/>
        </p:nvSpPr>
        <p:spPr>
          <a:xfrm>
            <a:off x="5731808" y="3348534"/>
            <a:ext cx="12801" cy="155448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Oval 22">
            <a:extLst>
              <a:ext uri="{FF2B5EF4-FFF2-40B4-BE49-F238E27FC236}">
                <a16:creationId xmlns:a16="http://schemas.microsoft.com/office/drawing/2014/main" id="{287AEDDD-2A38-FAB6-26F2-749CBE6760E4}"/>
              </a:ext>
            </a:extLst>
          </p:cNvPr>
          <p:cNvSpPr/>
          <p:nvPr/>
        </p:nvSpPr>
        <p:spPr>
          <a:xfrm>
            <a:off x="7377728" y="3503982"/>
            <a:ext cx="123444" cy="123444"/>
          </a:xfrm>
          <a:prstGeom prst="ellipse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9" name="Rectangle 23">
            <a:extLst>
              <a:ext uri="{FF2B5EF4-FFF2-40B4-BE49-F238E27FC236}">
                <a16:creationId xmlns:a16="http://schemas.microsoft.com/office/drawing/2014/main" id="{8DA9D3E6-267A-A8B8-A738-578677555961}"/>
              </a:ext>
            </a:extLst>
          </p:cNvPr>
          <p:cNvSpPr/>
          <p:nvPr/>
        </p:nvSpPr>
        <p:spPr>
          <a:xfrm>
            <a:off x="7432592" y="3348534"/>
            <a:ext cx="12801" cy="155448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3" name="Oval 24">
            <a:extLst>
              <a:ext uri="{FF2B5EF4-FFF2-40B4-BE49-F238E27FC236}">
                <a16:creationId xmlns:a16="http://schemas.microsoft.com/office/drawing/2014/main" id="{B4B08583-6CC3-95E2-A805-CF5AE5DA3797}"/>
              </a:ext>
            </a:extLst>
          </p:cNvPr>
          <p:cNvSpPr/>
          <p:nvPr/>
        </p:nvSpPr>
        <p:spPr>
          <a:xfrm>
            <a:off x="9078512" y="3503982"/>
            <a:ext cx="123444" cy="123444"/>
          </a:xfrm>
          <a:prstGeom prst="ellipse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7" name="Rectangle 25">
            <a:extLst>
              <a:ext uri="{FF2B5EF4-FFF2-40B4-BE49-F238E27FC236}">
                <a16:creationId xmlns:a16="http://schemas.microsoft.com/office/drawing/2014/main" id="{3D357187-E07B-5059-540F-AFD777321F30}"/>
              </a:ext>
            </a:extLst>
          </p:cNvPr>
          <p:cNvSpPr/>
          <p:nvPr/>
        </p:nvSpPr>
        <p:spPr>
          <a:xfrm>
            <a:off x="9133376" y="3348534"/>
            <a:ext cx="12801" cy="155448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9" name="Oval 26">
            <a:extLst>
              <a:ext uri="{FF2B5EF4-FFF2-40B4-BE49-F238E27FC236}">
                <a16:creationId xmlns:a16="http://schemas.microsoft.com/office/drawing/2014/main" id="{42042BC0-BE38-54ED-2CA4-1AE44DBF43A4}"/>
              </a:ext>
            </a:extLst>
          </p:cNvPr>
          <p:cNvSpPr/>
          <p:nvPr/>
        </p:nvSpPr>
        <p:spPr>
          <a:xfrm>
            <a:off x="10779296" y="3503982"/>
            <a:ext cx="123444" cy="123444"/>
          </a:xfrm>
          <a:prstGeom prst="ellipse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1" name="Rectangle 27">
            <a:extLst>
              <a:ext uri="{FF2B5EF4-FFF2-40B4-BE49-F238E27FC236}">
                <a16:creationId xmlns:a16="http://schemas.microsoft.com/office/drawing/2014/main" id="{F236A31D-C7AE-CB4D-90DB-2EF5FAFC0670}"/>
              </a:ext>
            </a:extLst>
          </p:cNvPr>
          <p:cNvSpPr/>
          <p:nvPr/>
        </p:nvSpPr>
        <p:spPr>
          <a:xfrm>
            <a:off x="10834160" y="3348534"/>
            <a:ext cx="12801" cy="155448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3" name="Oval 28">
            <a:extLst>
              <a:ext uri="{FF2B5EF4-FFF2-40B4-BE49-F238E27FC236}">
                <a16:creationId xmlns:a16="http://schemas.microsoft.com/office/drawing/2014/main" id="{723962FF-67AD-1956-5E6C-DFE96C82060E}"/>
              </a:ext>
            </a:extLst>
          </p:cNvPr>
          <p:cNvSpPr/>
          <p:nvPr/>
        </p:nvSpPr>
        <p:spPr>
          <a:xfrm>
            <a:off x="12480080" y="3503982"/>
            <a:ext cx="123444" cy="123444"/>
          </a:xfrm>
          <a:prstGeom prst="ellipse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5" name="Rectangle 29">
            <a:extLst>
              <a:ext uri="{FF2B5EF4-FFF2-40B4-BE49-F238E27FC236}">
                <a16:creationId xmlns:a16="http://schemas.microsoft.com/office/drawing/2014/main" id="{395DDCFC-B8BD-3ECA-4160-A0A9D2E69147}"/>
              </a:ext>
            </a:extLst>
          </p:cNvPr>
          <p:cNvSpPr/>
          <p:nvPr/>
        </p:nvSpPr>
        <p:spPr>
          <a:xfrm>
            <a:off x="12534944" y="3348534"/>
            <a:ext cx="12801" cy="155448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7" name="Oval 30">
            <a:extLst>
              <a:ext uri="{FF2B5EF4-FFF2-40B4-BE49-F238E27FC236}">
                <a16:creationId xmlns:a16="http://schemas.microsoft.com/office/drawing/2014/main" id="{68948BEC-9D1D-5CDE-374A-98148AA2EBAA}"/>
              </a:ext>
            </a:extLst>
          </p:cNvPr>
          <p:cNvSpPr/>
          <p:nvPr/>
        </p:nvSpPr>
        <p:spPr>
          <a:xfrm>
            <a:off x="14180864" y="3503982"/>
            <a:ext cx="123444" cy="123444"/>
          </a:xfrm>
          <a:prstGeom prst="ellipse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9" name="Rectangle 31">
            <a:extLst>
              <a:ext uri="{FF2B5EF4-FFF2-40B4-BE49-F238E27FC236}">
                <a16:creationId xmlns:a16="http://schemas.microsoft.com/office/drawing/2014/main" id="{5AD4BD77-E468-3EE1-6190-848DB4A5FDB2}"/>
              </a:ext>
            </a:extLst>
          </p:cNvPr>
          <p:cNvSpPr/>
          <p:nvPr/>
        </p:nvSpPr>
        <p:spPr>
          <a:xfrm>
            <a:off x="14235728" y="3348534"/>
            <a:ext cx="12801" cy="155448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5121821A-817E-50DE-A5D9-5925474C4191}"/>
              </a:ext>
            </a:extLst>
          </p:cNvPr>
          <p:cNvSpPr txBox="1"/>
          <p:nvPr/>
        </p:nvSpPr>
        <p:spPr>
          <a:xfrm>
            <a:off x="3747559" y="3019350"/>
            <a:ext cx="109728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 err="1">
                <a:solidFill>
                  <a:srgbClr val="3A59D1"/>
                </a:solidFill>
                <a:latin typeface="Pretendard SemiBold"/>
              </a:rPr>
              <a:t>변경</a:t>
            </a:r>
            <a:r>
              <a:rPr lang="en-US" sz="1500" b="1" dirty="0">
                <a:solidFill>
                  <a:srgbClr val="3A59D1"/>
                </a:solidFill>
                <a:latin typeface="Pretendard SemiBold"/>
              </a:rPr>
              <a:t> </a:t>
            </a:r>
            <a:r>
              <a:rPr lang="ko-KR" altLang="en-US" sz="1500" b="1" dirty="0">
                <a:solidFill>
                  <a:srgbClr val="3A59D1"/>
                </a:solidFill>
                <a:latin typeface="Pretendard SemiBold"/>
              </a:rPr>
              <a:t>시</a:t>
            </a:r>
            <a:r>
              <a:rPr sz="1500" b="1" dirty="0">
                <a:solidFill>
                  <a:srgbClr val="3A59D1"/>
                </a:solidFill>
                <a:latin typeface="Pretendard SemiBold"/>
              </a:rPr>
              <a:t> </a:t>
            </a:r>
            <a:r>
              <a:rPr sz="1500" b="1" dirty="0" err="1">
                <a:solidFill>
                  <a:srgbClr val="3A59D1"/>
                </a:solidFill>
                <a:latin typeface="Pretendard SemiBold"/>
              </a:rPr>
              <a:t>자동</a:t>
            </a:r>
            <a:r>
              <a:rPr sz="1500" b="1" dirty="0">
                <a:solidFill>
                  <a:srgbClr val="3A59D1"/>
                </a:solidFill>
                <a:latin typeface="Pretendard SemiBold"/>
              </a:rPr>
              <a:t> </a:t>
            </a:r>
            <a:r>
              <a:rPr sz="1500" b="1" dirty="0" err="1">
                <a:solidFill>
                  <a:srgbClr val="3A59D1"/>
                </a:solidFill>
                <a:latin typeface="Pretendard SemiBold"/>
              </a:rPr>
              <a:t>재분석</a:t>
            </a:r>
            <a:endParaRPr sz="1500" b="1" dirty="0">
              <a:solidFill>
                <a:srgbClr val="3A59D1"/>
              </a:solidFill>
              <a:latin typeface="Pretendard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24128" y="566928"/>
            <a:ext cx="50292" cy="256032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3A59D1"/>
                </a:solidFill>
                <a:latin typeface="Pretendard SemiBold"/>
              </a:rPr>
              <a:t>01 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859536"/>
            <a:ext cx="13716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22222"/>
                </a:solidFill>
                <a:latin typeface="Pretendard SemiBold"/>
              </a:rPr>
              <a:t>Source · Control · Intelligence 3-Plane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186416"/>
            <a:ext cx="4818888" cy="100584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box:human"/>
          <p:cNvSpPr/>
          <p:nvPr/>
        </p:nvSpPr>
        <p:spPr>
          <a:xfrm>
            <a:off x="2704670" y="1651708"/>
            <a:ext cx="7526488" cy="1639101"/>
          </a:xfrm>
          <a:prstGeom prst="roundRect">
            <a:avLst>
              <a:gd name="adj" fmla="val 4081"/>
            </a:avLst>
          </a:prstGeom>
          <a:noFill/>
          <a:ln w="8572">
            <a:solidFill>
              <a:srgbClr val="7D80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box:user-bar"/>
          <p:cNvSpPr/>
          <p:nvPr/>
        </p:nvSpPr>
        <p:spPr>
          <a:xfrm>
            <a:off x="2704670" y="1651708"/>
            <a:ext cx="7526488" cy="401412"/>
          </a:xfrm>
          <a:prstGeom prst="roundRect">
            <a:avLst>
              <a:gd name="adj" fmla="val 12500"/>
            </a:avLst>
          </a:prstGeom>
          <a:solidFill>
            <a:srgbClr val="175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:t-user"/>
          <p:cNvSpPr txBox="1"/>
          <p:nvPr/>
        </p:nvSpPr>
        <p:spPr>
          <a:xfrm>
            <a:off x="6189435" y="1759587"/>
            <a:ext cx="556960" cy="2007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spc="243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USER</a:t>
            </a:r>
          </a:p>
        </p:txBody>
      </p:sp>
      <p:sp>
        <p:nvSpPr>
          <p:cNvPr id="205" name="box:node"/>
          <p:cNvSpPr/>
          <p:nvPr/>
        </p:nvSpPr>
        <p:spPr>
          <a:xfrm>
            <a:off x="2825466" y="2170199"/>
            <a:ext cx="2458652" cy="986806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8572">
            <a:solidFill>
              <a:srgbClr val="C3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ox:user-sub"/>
          <p:cNvSpPr/>
          <p:nvPr/>
        </p:nvSpPr>
        <p:spPr>
          <a:xfrm>
            <a:off x="2825466" y="2170199"/>
            <a:ext cx="2458652" cy="284334"/>
          </a:xfrm>
          <a:prstGeom prst="roundRect">
            <a:avLst>
              <a:gd name="adj" fmla="val 11764"/>
            </a:avLst>
          </a:prstGeom>
          <a:solidFill>
            <a:srgbClr val="175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:t-usub"/>
          <p:cNvSpPr txBox="1"/>
          <p:nvPr/>
        </p:nvSpPr>
        <p:spPr>
          <a:xfrm>
            <a:off x="3580175" y="2259096"/>
            <a:ext cx="949234" cy="1404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1" spc="57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자료 연결 · 작업</a:t>
            </a:r>
          </a:p>
        </p:txBody>
      </p:sp>
      <p:sp>
        <p:nvSpPr>
          <p:cNvPr id="9" name="box:inner"/>
          <p:cNvSpPr/>
          <p:nvPr/>
        </p:nvSpPr>
        <p:spPr>
          <a:xfrm>
            <a:off x="2875642" y="2538161"/>
            <a:ext cx="669021" cy="535216"/>
          </a:xfrm>
          <a:prstGeom prst="roundRect">
            <a:avLst>
              <a:gd name="adj" fmla="val 6250"/>
            </a:avLst>
          </a:prstGeom>
          <a:solidFill>
            <a:srgbClr val="EEF2F7"/>
          </a:solidFill>
          <a:ln w="8572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con:i-drive" descr="i-dr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437" y="2621788"/>
            <a:ext cx="217431" cy="217431"/>
          </a:xfrm>
          <a:prstGeom prst="rect">
            <a:avLst/>
          </a:prstGeom>
        </p:spPr>
      </p:pic>
      <p:sp>
        <p:nvSpPr>
          <p:cNvPr id="11" name="text:t-node-s"/>
          <p:cNvSpPr txBox="1"/>
          <p:nvPr/>
        </p:nvSpPr>
        <p:spPr>
          <a:xfrm>
            <a:off x="3050528" y="2886679"/>
            <a:ext cx="319248" cy="15052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10" b="1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Drive</a:t>
            </a:r>
          </a:p>
        </p:txBody>
      </p:sp>
      <p:sp>
        <p:nvSpPr>
          <p:cNvPr id="12" name="box:inner"/>
          <p:cNvSpPr/>
          <p:nvPr/>
        </p:nvSpPr>
        <p:spPr>
          <a:xfrm>
            <a:off x="3720282" y="2538161"/>
            <a:ext cx="669021" cy="535216"/>
          </a:xfrm>
          <a:prstGeom prst="roundRect">
            <a:avLst>
              <a:gd name="adj" fmla="val 6250"/>
            </a:avLst>
          </a:prstGeom>
          <a:solidFill>
            <a:srgbClr val="EEF2F7"/>
          </a:solidFill>
          <a:ln w="8572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con:i-github" descr="i-github_ic-f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076" y="2621788"/>
            <a:ext cx="217431" cy="217431"/>
          </a:xfrm>
          <a:prstGeom prst="rect">
            <a:avLst/>
          </a:prstGeom>
        </p:spPr>
      </p:pic>
      <p:sp>
        <p:nvSpPr>
          <p:cNvPr id="14" name="text:t-node-s"/>
          <p:cNvSpPr txBox="1"/>
          <p:nvPr/>
        </p:nvSpPr>
        <p:spPr>
          <a:xfrm>
            <a:off x="3844992" y="2886679"/>
            <a:ext cx="419601" cy="15052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10" b="1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GitHub</a:t>
            </a:r>
          </a:p>
        </p:txBody>
      </p:sp>
      <p:sp>
        <p:nvSpPr>
          <p:cNvPr id="15" name="box:inner"/>
          <p:cNvSpPr/>
          <p:nvPr/>
        </p:nvSpPr>
        <p:spPr>
          <a:xfrm>
            <a:off x="4564921" y="2538161"/>
            <a:ext cx="669021" cy="535216"/>
          </a:xfrm>
          <a:prstGeom prst="roundRect">
            <a:avLst>
              <a:gd name="adj" fmla="val 6250"/>
            </a:avLst>
          </a:prstGeom>
          <a:solidFill>
            <a:srgbClr val="EEF2F7"/>
          </a:solidFill>
          <a:ln w="8572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:i-folder" descr="i-folder_ic-f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0716" y="2621788"/>
            <a:ext cx="217431" cy="217431"/>
          </a:xfrm>
          <a:prstGeom prst="rect">
            <a:avLst/>
          </a:prstGeom>
        </p:spPr>
      </p:pic>
      <p:sp>
        <p:nvSpPr>
          <p:cNvPr id="17" name="text:t-node-s"/>
          <p:cNvSpPr txBox="1"/>
          <p:nvPr/>
        </p:nvSpPr>
        <p:spPr>
          <a:xfrm>
            <a:off x="4743017" y="2886679"/>
            <a:ext cx="312828" cy="15052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10" b="1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내 PC</a:t>
            </a:r>
          </a:p>
        </p:txBody>
      </p:sp>
      <p:sp>
        <p:nvSpPr>
          <p:cNvPr id="18" name="box:node"/>
          <p:cNvSpPr/>
          <p:nvPr/>
        </p:nvSpPr>
        <p:spPr>
          <a:xfrm>
            <a:off x="6367562" y="2170199"/>
            <a:ext cx="3378557" cy="986806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8572">
            <a:solidFill>
              <a:srgbClr val="C3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box:user-sub"/>
          <p:cNvSpPr/>
          <p:nvPr/>
        </p:nvSpPr>
        <p:spPr>
          <a:xfrm>
            <a:off x="6367562" y="2170199"/>
            <a:ext cx="3378557" cy="284334"/>
          </a:xfrm>
          <a:prstGeom prst="roundRect">
            <a:avLst>
              <a:gd name="adj" fmla="val 11764"/>
            </a:avLst>
          </a:prstGeom>
          <a:solidFill>
            <a:srgbClr val="175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:t-usub"/>
          <p:cNvSpPr txBox="1"/>
          <p:nvPr/>
        </p:nvSpPr>
        <p:spPr>
          <a:xfrm>
            <a:off x="7582223" y="2259096"/>
            <a:ext cx="949234" cy="1404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1" spc="57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위험 검토 · 조치</a:t>
            </a:r>
          </a:p>
        </p:txBody>
      </p:sp>
      <p:sp>
        <p:nvSpPr>
          <p:cNvPr id="21" name="box:inner"/>
          <p:cNvSpPr/>
          <p:nvPr/>
        </p:nvSpPr>
        <p:spPr>
          <a:xfrm>
            <a:off x="6451189" y="2521435"/>
            <a:ext cx="752648" cy="217431"/>
          </a:xfrm>
          <a:prstGeom prst="roundRect">
            <a:avLst>
              <a:gd name="adj" fmla="val 11538"/>
            </a:avLst>
          </a:prstGeom>
          <a:solidFill>
            <a:srgbClr val="EEF2F7"/>
          </a:solidFill>
          <a:ln w="8572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:t-scr"/>
          <p:cNvSpPr txBox="1"/>
          <p:nvPr/>
        </p:nvSpPr>
        <p:spPr>
          <a:xfrm>
            <a:off x="6599837" y="2584114"/>
            <a:ext cx="455352" cy="110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0" b="0" spc="0">
                <a:solidFill>
                  <a:srgbClr val="59647A"/>
                </a:solidFill>
                <a:latin typeface="Pretendard"/>
                <a:ea typeface="Pretendard"/>
                <a:cs typeface="Pretendard"/>
              </a:rPr>
              <a:t>Dashboard</a:t>
            </a:r>
          </a:p>
        </p:txBody>
      </p:sp>
      <p:sp>
        <p:nvSpPr>
          <p:cNvPr id="23" name="box:inner"/>
          <p:cNvSpPr/>
          <p:nvPr/>
        </p:nvSpPr>
        <p:spPr>
          <a:xfrm>
            <a:off x="7270740" y="2521435"/>
            <a:ext cx="752648" cy="217431"/>
          </a:xfrm>
          <a:prstGeom prst="roundRect">
            <a:avLst>
              <a:gd name="adj" fmla="val 11538"/>
            </a:avLst>
          </a:prstGeom>
          <a:solidFill>
            <a:srgbClr val="EEF2F7"/>
          </a:solidFill>
          <a:ln w="8572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:t-scr"/>
          <p:cNvSpPr txBox="1"/>
          <p:nvPr/>
        </p:nvSpPr>
        <p:spPr>
          <a:xfrm>
            <a:off x="7431347" y="2584114"/>
            <a:ext cx="431434" cy="110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0" b="0" spc="0">
                <a:solidFill>
                  <a:srgbClr val="59647A"/>
                </a:solidFill>
                <a:latin typeface="Pretendard"/>
                <a:ea typeface="Pretendard"/>
                <a:cs typeface="Pretendard"/>
              </a:rPr>
              <a:t>Risk Detail</a:t>
            </a:r>
          </a:p>
        </p:txBody>
      </p:sp>
      <p:sp>
        <p:nvSpPr>
          <p:cNvPr id="25" name="box:inner"/>
          <p:cNvSpPr/>
          <p:nvPr/>
        </p:nvSpPr>
        <p:spPr>
          <a:xfrm>
            <a:off x="8090291" y="2521435"/>
            <a:ext cx="752648" cy="217431"/>
          </a:xfrm>
          <a:prstGeom prst="roundRect">
            <a:avLst>
              <a:gd name="adj" fmla="val 11538"/>
            </a:avLst>
          </a:prstGeom>
          <a:solidFill>
            <a:srgbClr val="EEF2F7"/>
          </a:solidFill>
          <a:ln w="8572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:t-scr"/>
          <p:cNvSpPr txBox="1"/>
          <p:nvPr/>
        </p:nvSpPr>
        <p:spPr>
          <a:xfrm>
            <a:off x="8309772" y="2584114"/>
            <a:ext cx="313686" cy="110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0" b="0" spc="0">
                <a:solidFill>
                  <a:srgbClr val="59647A"/>
                </a:solidFill>
                <a:latin typeface="Pretendard"/>
                <a:ea typeface="Pretendard"/>
                <a:cs typeface="Pretendard"/>
              </a:rPr>
              <a:t>Activity</a:t>
            </a:r>
          </a:p>
        </p:txBody>
      </p:sp>
      <p:sp>
        <p:nvSpPr>
          <p:cNvPr id="27" name="box:inner"/>
          <p:cNvSpPr/>
          <p:nvPr/>
        </p:nvSpPr>
        <p:spPr>
          <a:xfrm>
            <a:off x="8909842" y="2521435"/>
            <a:ext cx="752648" cy="217431"/>
          </a:xfrm>
          <a:prstGeom prst="roundRect">
            <a:avLst>
              <a:gd name="adj" fmla="val 11538"/>
            </a:avLst>
          </a:prstGeom>
          <a:solidFill>
            <a:srgbClr val="EEF2F7"/>
          </a:solidFill>
          <a:ln w="8572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:t-scr"/>
          <p:cNvSpPr txBox="1"/>
          <p:nvPr/>
        </p:nvSpPr>
        <p:spPr>
          <a:xfrm>
            <a:off x="9114834" y="2584114"/>
            <a:ext cx="342664" cy="110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0" b="0" spc="0">
                <a:solidFill>
                  <a:srgbClr val="59647A"/>
                </a:solidFill>
                <a:latin typeface="Pretendard"/>
                <a:ea typeface="Pretendard"/>
                <a:cs typeface="Pretendard"/>
              </a:rPr>
              <a:t>Security</a:t>
            </a:r>
          </a:p>
        </p:txBody>
      </p:sp>
      <p:sp>
        <p:nvSpPr>
          <p:cNvPr id="29" name="box:inner"/>
          <p:cNvSpPr/>
          <p:nvPr/>
        </p:nvSpPr>
        <p:spPr>
          <a:xfrm>
            <a:off x="6451189" y="2789044"/>
            <a:ext cx="1572199" cy="284334"/>
          </a:xfrm>
          <a:prstGeom prst="roundRect">
            <a:avLst>
              <a:gd name="adj" fmla="val 11764"/>
            </a:avLst>
          </a:prstGeom>
          <a:solidFill>
            <a:srgbClr val="EEF2F7"/>
          </a:solidFill>
          <a:ln w="8572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con:i-react" descr="i-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1542" y="2839220"/>
            <a:ext cx="183980" cy="183980"/>
          </a:xfrm>
          <a:prstGeom prst="rect">
            <a:avLst/>
          </a:prstGeom>
        </p:spPr>
      </p:pic>
      <p:sp>
        <p:nvSpPr>
          <p:cNvPr id="31" name="text:t-node-s"/>
          <p:cNvSpPr txBox="1"/>
          <p:nvPr/>
        </p:nvSpPr>
        <p:spPr>
          <a:xfrm>
            <a:off x="6802425" y="2869954"/>
            <a:ext cx="726306" cy="15052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0" b="1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React + Vite</a:t>
            </a:r>
          </a:p>
        </p:txBody>
      </p:sp>
      <p:sp>
        <p:nvSpPr>
          <p:cNvPr id="32" name="box:inner"/>
          <p:cNvSpPr/>
          <p:nvPr/>
        </p:nvSpPr>
        <p:spPr>
          <a:xfrm>
            <a:off x="8090291" y="2789044"/>
            <a:ext cx="1572199" cy="284334"/>
          </a:xfrm>
          <a:prstGeom prst="roundRect">
            <a:avLst>
              <a:gd name="adj" fmla="val 11764"/>
            </a:avLst>
          </a:prstGeom>
          <a:solidFill>
            <a:srgbClr val="EEF2F7"/>
          </a:solidFill>
          <a:ln w="8572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icon:i-electron" descr="i-electr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0644" y="2839220"/>
            <a:ext cx="183980" cy="183980"/>
          </a:xfrm>
          <a:prstGeom prst="rect">
            <a:avLst/>
          </a:prstGeom>
        </p:spPr>
      </p:pic>
      <p:sp>
        <p:nvSpPr>
          <p:cNvPr id="34" name="text:t-node-s"/>
          <p:cNvSpPr txBox="1"/>
          <p:nvPr/>
        </p:nvSpPr>
        <p:spPr>
          <a:xfrm>
            <a:off x="8441527" y="2869954"/>
            <a:ext cx="500511" cy="15052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0" b="1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Electron</a:t>
            </a:r>
          </a:p>
        </p:txBody>
      </p:sp>
      <p:sp>
        <p:nvSpPr>
          <p:cNvPr id="35" name="box:band"/>
          <p:cNvSpPr/>
          <p:nvPr/>
        </p:nvSpPr>
        <p:spPr>
          <a:xfrm>
            <a:off x="2674936" y="3524967"/>
            <a:ext cx="2759712" cy="3261478"/>
          </a:xfrm>
          <a:prstGeom prst="roundRect">
            <a:avLst>
              <a:gd name="adj" fmla="val 3030"/>
            </a:avLst>
          </a:prstGeom>
          <a:solidFill>
            <a:srgbClr val="E7ECF2"/>
          </a:solidFill>
          <a:ln w="8572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box:band"/>
          <p:cNvSpPr/>
          <p:nvPr/>
        </p:nvSpPr>
        <p:spPr>
          <a:xfrm>
            <a:off x="6217032" y="3524967"/>
            <a:ext cx="4014127" cy="6355701"/>
          </a:xfrm>
          <a:prstGeom prst="roundRect">
            <a:avLst>
              <a:gd name="adj" fmla="val 2083"/>
            </a:avLst>
          </a:prstGeom>
          <a:solidFill>
            <a:srgbClr val="E7ECF2"/>
          </a:solidFill>
          <a:ln w="8572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box:band"/>
          <p:cNvSpPr/>
          <p:nvPr/>
        </p:nvSpPr>
        <p:spPr>
          <a:xfrm>
            <a:off x="10816553" y="3524967"/>
            <a:ext cx="2843340" cy="4214833"/>
          </a:xfrm>
          <a:prstGeom prst="roundRect">
            <a:avLst>
              <a:gd name="adj" fmla="val 2941"/>
            </a:avLst>
          </a:prstGeom>
          <a:solidFill>
            <a:srgbClr val="E7ECF2"/>
          </a:solidFill>
          <a:ln w="8572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box:band-ext"/>
          <p:cNvSpPr/>
          <p:nvPr/>
        </p:nvSpPr>
        <p:spPr>
          <a:xfrm>
            <a:off x="14295463" y="3524967"/>
            <a:ext cx="1443174" cy="4214833"/>
          </a:xfrm>
          <a:prstGeom prst="roundRect">
            <a:avLst>
              <a:gd name="adj" fmla="val 6666"/>
            </a:avLst>
          </a:prstGeom>
          <a:noFill/>
          <a:ln w="8572">
            <a:solidFill>
              <a:srgbClr val="C3CE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:t-plane"/>
          <p:cNvSpPr txBox="1"/>
          <p:nvPr/>
        </p:nvSpPr>
        <p:spPr>
          <a:xfrm>
            <a:off x="3004572" y="6527199"/>
            <a:ext cx="1894859" cy="15052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0" b="1" spc="162" dirty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SOURCE PLANE · 자료 수집</a:t>
            </a:r>
          </a:p>
        </p:txBody>
      </p:sp>
      <p:sp>
        <p:nvSpPr>
          <p:cNvPr id="40" name="text:t-plane"/>
          <p:cNvSpPr txBox="1"/>
          <p:nvPr/>
        </p:nvSpPr>
        <p:spPr>
          <a:xfrm>
            <a:off x="7080677" y="9620121"/>
            <a:ext cx="2023168" cy="15052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0" b="1" spc="162" dirty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CONTROL PLANE · 제어/관리</a:t>
            </a:r>
          </a:p>
        </p:txBody>
      </p:sp>
      <p:sp>
        <p:nvSpPr>
          <p:cNvPr id="41" name="text:t-plane"/>
          <p:cNvSpPr txBox="1"/>
          <p:nvPr/>
        </p:nvSpPr>
        <p:spPr>
          <a:xfrm>
            <a:off x="11061847" y="7478857"/>
            <a:ext cx="2376288" cy="15052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0" b="1" spc="162" dirty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INTELLIGENCE PLANE · 위험 분석</a:t>
            </a:r>
          </a:p>
        </p:txBody>
      </p:sp>
      <p:sp>
        <p:nvSpPr>
          <p:cNvPr id="42" name="text:t-plane"/>
          <p:cNvSpPr txBox="1"/>
          <p:nvPr/>
        </p:nvSpPr>
        <p:spPr>
          <a:xfrm>
            <a:off x="14408274" y="7482338"/>
            <a:ext cx="1217549" cy="15052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0" b="1" spc="162" dirty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EXTERNAL · 외부</a:t>
            </a:r>
          </a:p>
        </p:txBody>
      </p:sp>
      <p:cxnSp>
        <p:nvCxnSpPr>
          <p:cNvPr id="43" name="edge:edge"/>
          <p:cNvCxnSpPr/>
          <p:nvPr/>
        </p:nvCxnSpPr>
        <p:spPr>
          <a:xfrm>
            <a:off x="3210153" y="3157005"/>
            <a:ext cx="0" cy="786099"/>
          </a:xfrm>
          <a:prstGeom prst="line">
            <a:avLst/>
          </a:prstGeom>
          <a:ln w="13716">
            <a:solidFill>
              <a:srgbClr val="1319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:t-lbl"/>
          <p:cNvSpPr txBox="1"/>
          <p:nvPr/>
        </p:nvSpPr>
        <p:spPr>
          <a:xfrm>
            <a:off x="3277055" y="3512757"/>
            <a:ext cx="378330" cy="1204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0" b="0" spc="0" dirty="0">
                <a:solidFill>
                  <a:srgbClr val="59647A"/>
                </a:solidFill>
                <a:latin typeface="Pretendard"/>
                <a:ea typeface="Pretendard"/>
                <a:cs typeface="Pretendard"/>
              </a:rPr>
              <a:t>변경 알림</a:t>
            </a:r>
          </a:p>
        </p:txBody>
      </p:sp>
      <p:cxnSp>
        <p:nvCxnSpPr>
          <p:cNvPr id="45" name="edge:edge"/>
          <p:cNvCxnSpPr/>
          <p:nvPr/>
        </p:nvCxnSpPr>
        <p:spPr>
          <a:xfrm>
            <a:off x="4054793" y="3157005"/>
            <a:ext cx="0" cy="786099"/>
          </a:xfrm>
          <a:prstGeom prst="line">
            <a:avLst/>
          </a:prstGeom>
          <a:ln w="13716">
            <a:solidFill>
              <a:srgbClr val="1319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:t-lbl"/>
          <p:cNvSpPr txBox="1"/>
          <p:nvPr/>
        </p:nvSpPr>
        <p:spPr>
          <a:xfrm>
            <a:off x="4121695" y="3512757"/>
            <a:ext cx="378330" cy="1204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0" b="0" spc="0">
                <a:solidFill>
                  <a:srgbClr val="59647A"/>
                </a:solidFill>
                <a:latin typeface="Pretendard"/>
                <a:ea typeface="Pretendard"/>
                <a:cs typeface="Pretendard"/>
              </a:rPr>
              <a:t>커밋 알림</a:t>
            </a:r>
          </a:p>
        </p:txBody>
      </p:sp>
      <p:cxnSp>
        <p:nvCxnSpPr>
          <p:cNvPr id="47" name="edge:edge"/>
          <p:cNvCxnSpPr/>
          <p:nvPr/>
        </p:nvCxnSpPr>
        <p:spPr>
          <a:xfrm>
            <a:off x="4899432" y="3157005"/>
            <a:ext cx="0" cy="786099"/>
          </a:xfrm>
          <a:prstGeom prst="line">
            <a:avLst/>
          </a:prstGeom>
          <a:ln w="13716">
            <a:solidFill>
              <a:srgbClr val="1319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:t-lbl"/>
          <p:cNvSpPr txBox="1"/>
          <p:nvPr/>
        </p:nvSpPr>
        <p:spPr>
          <a:xfrm>
            <a:off x="4966334" y="3512757"/>
            <a:ext cx="378330" cy="1204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0" b="0" spc="0">
                <a:solidFill>
                  <a:srgbClr val="59647A"/>
                </a:solidFill>
                <a:latin typeface="Pretendard"/>
                <a:ea typeface="Pretendard"/>
                <a:cs typeface="Pretendard"/>
              </a:rPr>
              <a:t>파일 변경</a:t>
            </a:r>
          </a:p>
        </p:txBody>
      </p:sp>
      <p:cxnSp>
        <p:nvCxnSpPr>
          <p:cNvPr id="49" name="edge:edge"/>
          <p:cNvCxnSpPr/>
          <p:nvPr/>
        </p:nvCxnSpPr>
        <p:spPr>
          <a:xfrm>
            <a:off x="7638702" y="3157005"/>
            <a:ext cx="0" cy="786099"/>
          </a:xfrm>
          <a:prstGeom prst="line">
            <a:avLst/>
          </a:prstGeom>
          <a:ln w="13716">
            <a:solidFill>
              <a:srgbClr val="1319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:t-lbl"/>
          <p:cNvSpPr txBox="1"/>
          <p:nvPr/>
        </p:nvSpPr>
        <p:spPr>
          <a:xfrm>
            <a:off x="7705604" y="3512757"/>
            <a:ext cx="515814" cy="1204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0" b="0" spc="0">
                <a:solidFill>
                  <a:srgbClr val="59647A"/>
                </a:solidFill>
                <a:latin typeface="Pretendard"/>
                <a:ea typeface="Pretendard"/>
                <a:cs typeface="Pretendard"/>
              </a:rPr>
              <a:t>로그인 · 요청</a:t>
            </a:r>
          </a:p>
        </p:txBody>
      </p:sp>
      <p:sp>
        <p:nvSpPr>
          <p:cNvPr id="51" name="box:node"/>
          <p:cNvSpPr/>
          <p:nvPr/>
        </p:nvSpPr>
        <p:spPr>
          <a:xfrm>
            <a:off x="2825466" y="3976556"/>
            <a:ext cx="769374" cy="602119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8572">
            <a:solidFill>
              <a:srgbClr val="C3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:t-node-s"/>
          <p:cNvSpPr txBox="1"/>
          <p:nvPr/>
        </p:nvSpPr>
        <p:spPr>
          <a:xfrm>
            <a:off x="3050528" y="4157819"/>
            <a:ext cx="319248" cy="15052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10" b="1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Drive</a:t>
            </a:r>
          </a:p>
        </p:txBody>
      </p:sp>
      <p:sp>
        <p:nvSpPr>
          <p:cNvPr id="53" name="box:node"/>
          <p:cNvSpPr/>
          <p:nvPr/>
        </p:nvSpPr>
        <p:spPr>
          <a:xfrm>
            <a:off x="3670105" y="3976556"/>
            <a:ext cx="769374" cy="602119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8572">
            <a:solidFill>
              <a:srgbClr val="C3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:t-node-s"/>
          <p:cNvSpPr txBox="1"/>
          <p:nvPr/>
        </p:nvSpPr>
        <p:spPr>
          <a:xfrm>
            <a:off x="3844992" y="4157819"/>
            <a:ext cx="419601" cy="15052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10" b="1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GitHub</a:t>
            </a:r>
          </a:p>
        </p:txBody>
      </p:sp>
      <p:sp>
        <p:nvSpPr>
          <p:cNvPr id="55" name="box:node"/>
          <p:cNvSpPr/>
          <p:nvPr/>
        </p:nvSpPr>
        <p:spPr>
          <a:xfrm>
            <a:off x="4514744" y="3976556"/>
            <a:ext cx="769374" cy="602119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8572">
            <a:solidFill>
              <a:srgbClr val="C3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:t-node-s"/>
          <p:cNvSpPr txBox="1"/>
          <p:nvPr/>
        </p:nvSpPr>
        <p:spPr>
          <a:xfrm>
            <a:off x="4743017" y="4157819"/>
            <a:ext cx="312828" cy="15052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10" b="1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내 PC</a:t>
            </a:r>
          </a:p>
        </p:txBody>
      </p:sp>
      <p:cxnSp>
        <p:nvCxnSpPr>
          <p:cNvPr id="57" name="edge:edge"/>
          <p:cNvCxnSpPr/>
          <p:nvPr/>
        </p:nvCxnSpPr>
        <p:spPr>
          <a:xfrm>
            <a:off x="3210153" y="4578676"/>
            <a:ext cx="0" cy="267608"/>
          </a:xfrm>
          <a:prstGeom prst="line">
            <a:avLst/>
          </a:prstGeom>
          <a:ln w="13716">
            <a:solidFill>
              <a:srgbClr val="1319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edge:edge"/>
          <p:cNvCxnSpPr/>
          <p:nvPr/>
        </p:nvCxnSpPr>
        <p:spPr>
          <a:xfrm>
            <a:off x="4054793" y="4578676"/>
            <a:ext cx="0" cy="267608"/>
          </a:xfrm>
          <a:prstGeom prst="line">
            <a:avLst/>
          </a:prstGeom>
          <a:ln w="13716">
            <a:solidFill>
              <a:srgbClr val="1319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edge:edge"/>
          <p:cNvCxnSpPr/>
          <p:nvPr/>
        </p:nvCxnSpPr>
        <p:spPr>
          <a:xfrm>
            <a:off x="4899432" y="4578676"/>
            <a:ext cx="0" cy="267608"/>
          </a:xfrm>
          <a:prstGeom prst="line">
            <a:avLst/>
          </a:prstGeom>
          <a:ln w="13716">
            <a:solidFill>
              <a:srgbClr val="1319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box:node"/>
          <p:cNvSpPr/>
          <p:nvPr/>
        </p:nvSpPr>
        <p:spPr>
          <a:xfrm>
            <a:off x="2825466" y="4863010"/>
            <a:ext cx="2458652" cy="155547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8572">
            <a:solidFill>
              <a:srgbClr val="C3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icon:i-python" descr="i-pyth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5819" y="4980088"/>
            <a:ext cx="200706" cy="200706"/>
          </a:xfrm>
          <a:prstGeom prst="rect">
            <a:avLst/>
          </a:prstGeom>
        </p:spPr>
      </p:pic>
      <p:sp>
        <p:nvSpPr>
          <p:cNvPr id="62" name="text:t-node"/>
          <p:cNvSpPr txBox="1"/>
          <p:nvPr/>
        </p:nvSpPr>
        <p:spPr>
          <a:xfrm>
            <a:off x="3193428" y="5020313"/>
            <a:ext cx="697552" cy="1806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20" b="1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자료 수집기</a:t>
            </a:r>
          </a:p>
        </p:txBody>
      </p:sp>
      <p:sp>
        <p:nvSpPr>
          <p:cNvPr id="63" name="box:inner"/>
          <p:cNvSpPr/>
          <p:nvPr/>
        </p:nvSpPr>
        <p:spPr>
          <a:xfrm>
            <a:off x="2925819" y="5314599"/>
            <a:ext cx="2257946" cy="418138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8572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:t-rule"/>
          <p:cNvSpPr txBox="1"/>
          <p:nvPr/>
        </p:nvSpPr>
        <p:spPr>
          <a:xfrm>
            <a:off x="3059623" y="5470021"/>
            <a:ext cx="721203" cy="1304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0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변경 내용 표준화</a:t>
            </a:r>
          </a:p>
        </p:txBody>
      </p:sp>
      <p:sp>
        <p:nvSpPr>
          <p:cNvPr id="65" name="box:inner"/>
          <p:cNvSpPr/>
          <p:nvPr/>
        </p:nvSpPr>
        <p:spPr>
          <a:xfrm>
            <a:off x="2925819" y="5833090"/>
            <a:ext cx="2257946" cy="418138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8572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:t-rule"/>
          <p:cNvSpPr txBox="1"/>
          <p:nvPr/>
        </p:nvSpPr>
        <p:spPr>
          <a:xfrm>
            <a:off x="3059623" y="5988512"/>
            <a:ext cx="909818" cy="1304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0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바뀐 파일만 가져오기</a:t>
            </a:r>
          </a:p>
        </p:txBody>
      </p:sp>
      <p:sp>
        <p:nvSpPr>
          <p:cNvPr id="67" name="box:gcpnode"/>
          <p:cNvSpPr/>
          <p:nvPr/>
        </p:nvSpPr>
        <p:spPr>
          <a:xfrm>
            <a:off x="6367562" y="3976556"/>
            <a:ext cx="2090691" cy="535216"/>
          </a:xfrm>
          <a:prstGeom prst="roundRect">
            <a:avLst>
              <a:gd name="adj" fmla="val 7812"/>
            </a:avLst>
          </a:prstGeom>
          <a:solidFill>
            <a:srgbClr val="EDF4FE"/>
          </a:solidFill>
          <a:ln w="8572">
            <a:solidFill>
              <a:srgbClr val="9FC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8" name="icon:i-fastapi" descr="i-fastap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7915" y="4060184"/>
            <a:ext cx="200706" cy="200706"/>
          </a:xfrm>
          <a:prstGeom prst="rect">
            <a:avLst/>
          </a:prstGeom>
        </p:spPr>
      </p:pic>
      <p:pic>
        <p:nvPicPr>
          <p:cNvPr id="69" name="icon:i-gcp" descr="i-gc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0644" y="4060184"/>
            <a:ext cx="167255" cy="167255"/>
          </a:xfrm>
          <a:prstGeom prst="rect">
            <a:avLst/>
          </a:prstGeom>
        </p:spPr>
      </p:pic>
      <p:sp>
        <p:nvSpPr>
          <p:cNvPr id="70" name="text:t-node"/>
          <p:cNvSpPr txBox="1"/>
          <p:nvPr/>
        </p:nvSpPr>
        <p:spPr>
          <a:xfrm>
            <a:off x="6467915" y="4301116"/>
            <a:ext cx="1012312" cy="1806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20" b="1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Cloud Run API</a:t>
            </a:r>
          </a:p>
        </p:txBody>
      </p:sp>
      <p:sp>
        <p:nvSpPr>
          <p:cNvPr id="71" name="box:gcpnode"/>
          <p:cNvSpPr/>
          <p:nvPr/>
        </p:nvSpPr>
        <p:spPr>
          <a:xfrm>
            <a:off x="8558606" y="3976556"/>
            <a:ext cx="1187512" cy="535216"/>
          </a:xfrm>
          <a:prstGeom prst="roundRect">
            <a:avLst>
              <a:gd name="adj" fmla="val 7812"/>
            </a:avLst>
          </a:prstGeom>
          <a:solidFill>
            <a:srgbClr val="EDF4FE"/>
          </a:solidFill>
          <a:ln w="8572">
            <a:solidFill>
              <a:srgbClr val="9FC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" name="icon:i-scheduler" descr="i-schedul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58959" y="4060184"/>
            <a:ext cx="183980" cy="183980"/>
          </a:xfrm>
          <a:prstGeom prst="rect">
            <a:avLst/>
          </a:prstGeom>
        </p:spPr>
      </p:pic>
      <p:pic>
        <p:nvPicPr>
          <p:cNvPr id="73" name="icon:i-gcp" descr="i-gc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8687" y="4060184"/>
            <a:ext cx="167255" cy="167255"/>
          </a:xfrm>
          <a:prstGeom prst="rect">
            <a:avLst/>
          </a:prstGeom>
        </p:spPr>
      </p:pic>
      <p:sp>
        <p:nvSpPr>
          <p:cNvPr id="74" name="text:t-node-s"/>
          <p:cNvSpPr txBox="1"/>
          <p:nvPr/>
        </p:nvSpPr>
        <p:spPr>
          <a:xfrm>
            <a:off x="8658959" y="4325075"/>
            <a:ext cx="982909" cy="15052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0" b="1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Cloud Scheduler</a:t>
            </a:r>
          </a:p>
        </p:txBody>
      </p:sp>
      <p:cxnSp>
        <p:nvCxnSpPr>
          <p:cNvPr id="75" name="edge:edge"/>
          <p:cNvCxnSpPr/>
          <p:nvPr/>
        </p:nvCxnSpPr>
        <p:spPr>
          <a:xfrm>
            <a:off x="7412907" y="4511773"/>
            <a:ext cx="0" cy="234157"/>
          </a:xfrm>
          <a:prstGeom prst="line">
            <a:avLst/>
          </a:prstGeom>
          <a:ln w="13716">
            <a:solidFill>
              <a:srgbClr val="1319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:t-lbl"/>
          <p:cNvSpPr txBox="1"/>
          <p:nvPr/>
        </p:nvSpPr>
        <p:spPr>
          <a:xfrm>
            <a:off x="7479809" y="4599917"/>
            <a:ext cx="378330" cy="1204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0" b="0" spc="0" dirty="0" err="1">
                <a:solidFill>
                  <a:srgbClr val="59647A"/>
                </a:solidFill>
                <a:latin typeface="Pretendard"/>
                <a:ea typeface="Pretendard"/>
                <a:cs typeface="Pretendard"/>
              </a:rPr>
              <a:t>작업</a:t>
            </a:r>
            <a:r>
              <a:rPr sz="810" b="0" spc="0" dirty="0">
                <a:solidFill>
                  <a:srgbClr val="59647A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810" b="0" spc="0" dirty="0" err="1">
                <a:solidFill>
                  <a:srgbClr val="59647A"/>
                </a:solidFill>
                <a:latin typeface="Pretendard"/>
                <a:ea typeface="Pretendard"/>
                <a:cs typeface="Pretendard"/>
              </a:rPr>
              <a:t>등록</a:t>
            </a:r>
            <a:endParaRPr sz="810" b="0" spc="0" dirty="0">
              <a:solidFill>
                <a:srgbClr val="59647A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77" name="edge:edge"/>
          <p:cNvCxnSpPr/>
          <p:nvPr/>
        </p:nvCxnSpPr>
        <p:spPr>
          <a:xfrm>
            <a:off x="9152362" y="4511773"/>
            <a:ext cx="0" cy="234157"/>
          </a:xfrm>
          <a:prstGeom prst="line">
            <a:avLst/>
          </a:prstGeom>
          <a:ln w="13716">
            <a:solidFill>
              <a:srgbClr val="1319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:t-lbl"/>
          <p:cNvSpPr txBox="1"/>
          <p:nvPr/>
        </p:nvSpPr>
        <p:spPr>
          <a:xfrm>
            <a:off x="9219264" y="4599917"/>
            <a:ext cx="378330" cy="1204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0" b="0" spc="0">
                <a:solidFill>
                  <a:srgbClr val="59647A"/>
                </a:solidFill>
                <a:latin typeface="Pretendard"/>
                <a:ea typeface="Pretendard"/>
                <a:cs typeface="Pretendard"/>
              </a:rPr>
              <a:t>주기 실행</a:t>
            </a:r>
          </a:p>
        </p:txBody>
      </p:sp>
      <p:sp>
        <p:nvSpPr>
          <p:cNvPr id="79" name="box:gcpnode"/>
          <p:cNvSpPr/>
          <p:nvPr/>
        </p:nvSpPr>
        <p:spPr>
          <a:xfrm>
            <a:off x="6367562" y="4762656"/>
            <a:ext cx="3378557" cy="468314"/>
          </a:xfrm>
          <a:prstGeom prst="roundRect">
            <a:avLst>
              <a:gd name="adj" fmla="val 8928"/>
            </a:avLst>
          </a:prstGeom>
          <a:solidFill>
            <a:srgbClr val="EDF4FE"/>
          </a:solidFill>
          <a:ln w="8572">
            <a:solidFill>
              <a:srgbClr val="9FC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0" name="icon:i-tasks" descr="i-task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7915" y="4846284"/>
            <a:ext cx="183980" cy="183980"/>
          </a:xfrm>
          <a:prstGeom prst="rect">
            <a:avLst/>
          </a:prstGeom>
        </p:spPr>
      </p:pic>
      <p:pic>
        <p:nvPicPr>
          <p:cNvPr id="81" name="icon:i-gcp" descr="i-gc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8687" y="4846284"/>
            <a:ext cx="167255" cy="167255"/>
          </a:xfrm>
          <a:prstGeom prst="rect">
            <a:avLst/>
          </a:prstGeom>
        </p:spPr>
      </p:pic>
      <p:sp>
        <p:nvSpPr>
          <p:cNvPr id="82" name="text:t-node"/>
          <p:cNvSpPr txBox="1"/>
          <p:nvPr/>
        </p:nvSpPr>
        <p:spPr>
          <a:xfrm>
            <a:off x="6467915" y="5003588"/>
            <a:ext cx="888878" cy="1806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20" b="1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Cloud Tasks</a:t>
            </a:r>
          </a:p>
        </p:txBody>
      </p:sp>
      <p:cxnSp>
        <p:nvCxnSpPr>
          <p:cNvPr id="83" name="edge:edge"/>
          <p:cNvCxnSpPr/>
          <p:nvPr/>
        </p:nvCxnSpPr>
        <p:spPr>
          <a:xfrm>
            <a:off x="8056840" y="5230971"/>
            <a:ext cx="0" cy="234157"/>
          </a:xfrm>
          <a:prstGeom prst="line">
            <a:avLst/>
          </a:prstGeom>
          <a:ln w="13716">
            <a:solidFill>
              <a:srgbClr val="1319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:t-lbl"/>
          <p:cNvSpPr txBox="1"/>
          <p:nvPr/>
        </p:nvSpPr>
        <p:spPr>
          <a:xfrm>
            <a:off x="8123742" y="5319115"/>
            <a:ext cx="378330" cy="1204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0" b="0" spc="0">
                <a:solidFill>
                  <a:srgbClr val="59647A"/>
                </a:solidFill>
                <a:latin typeface="Pretendard"/>
                <a:ea typeface="Pretendard"/>
                <a:cs typeface="Pretendard"/>
              </a:rPr>
              <a:t>작업 배정</a:t>
            </a:r>
          </a:p>
        </p:txBody>
      </p:sp>
      <p:sp>
        <p:nvSpPr>
          <p:cNvPr id="85" name="box:gcpnode"/>
          <p:cNvSpPr/>
          <p:nvPr/>
        </p:nvSpPr>
        <p:spPr>
          <a:xfrm>
            <a:off x="6367562" y="5481854"/>
            <a:ext cx="3378557" cy="802825"/>
          </a:xfrm>
          <a:prstGeom prst="roundRect">
            <a:avLst>
              <a:gd name="adj" fmla="val 5208"/>
            </a:avLst>
          </a:prstGeom>
          <a:solidFill>
            <a:srgbClr val="EDF4FE"/>
          </a:solidFill>
          <a:ln w="8572">
            <a:solidFill>
              <a:srgbClr val="9FC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6" name="icon:i-cloudrun" descr="i-cloudr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67915" y="5582207"/>
            <a:ext cx="200706" cy="200706"/>
          </a:xfrm>
          <a:prstGeom prst="rect">
            <a:avLst/>
          </a:prstGeom>
        </p:spPr>
      </p:pic>
      <p:pic>
        <p:nvPicPr>
          <p:cNvPr id="87" name="icon:i-python" descr="i-pyth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4529" y="5582207"/>
            <a:ext cx="167255" cy="167255"/>
          </a:xfrm>
          <a:prstGeom prst="rect">
            <a:avLst/>
          </a:prstGeom>
        </p:spPr>
      </p:pic>
      <p:pic>
        <p:nvPicPr>
          <p:cNvPr id="88" name="icon:i-gcp" descr="i-gc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11961" y="5582207"/>
            <a:ext cx="167255" cy="167255"/>
          </a:xfrm>
          <a:prstGeom prst="rect">
            <a:avLst/>
          </a:prstGeom>
        </p:spPr>
      </p:pic>
      <p:sp>
        <p:nvSpPr>
          <p:cNvPr id="89" name="text:t-node"/>
          <p:cNvSpPr txBox="1"/>
          <p:nvPr/>
        </p:nvSpPr>
        <p:spPr>
          <a:xfrm>
            <a:off x="6467915" y="5839864"/>
            <a:ext cx="1939576" cy="1806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20" b="1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Cloud Run Analysis Worker</a:t>
            </a:r>
          </a:p>
        </p:txBody>
      </p:sp>
      <p:cxnSp>
        <p:nvCxnSpPr>
          <p:cNvPr id="90" name="edge:edge"/>
          <p:cNvCxnSpPr/>
          <p:nvPr/>
        </p:nvCxnSpPr>
        <p:spPr>
          <a:xfrm>
            <a:off x="8056840" y="6284680"/>
            <a:ext cx="0" cy="234157"/>
          </a:xfrm>
          <a:prstGeom prst="line">
            <a:avLst/>
          </a:prstGeom>
          <a:ln w="13716">
            <a:solidFill>
              <a:srgbClr val="1319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box:gate"/>
          <p:cNvSpPr/>
          <p:nvPr/>
        </p:nvSpPr>
        <p:spPr>
          <a:xfrm>
            <a:off x="6367562" y="6535563"/>
            <a:ext cx="3378557" cy="1137336"/>
          </a:xfrm>
          <a:prstGeom prst="roundRect">
            <a:avLst>
              <a:gd name="adj" fmla="val 3676"/>
            </a:avLst>
          </a:prstGeom>
          <a:solidFill>
            <a:srgbClr val="F7EDD6"/>
          </a:solidFill>
          <a:ln w="13716">
            <a:solidFill>
              <a:srgbClr val="B98D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2" name="icon:i-shield" descr="i-shield_ic-ac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67915" y="6635916"/>
            <a:ext cx="200706" cy="200706"/>
          </a:xfrm>
          <a:prstGeom prst="rect">
            <a:avLst/>
          </a:prstGeom>
        </p:spPr>
      </p:pic>
      <p:sp>
        <p:nvSpPr>
          <p:cNvPr id="93" name="text:t-gate"/>
          <p:cNvSpPr txBox="1"/>
          <p:nvPr/>
        </p:nvSpPr>
        <p:spPr>
          <a:xfrm>
            <a:off x="6752249" y="6676141"/>
            <a:ext cx="1778269" cy="1806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20" b="1" spc="0">
                <a:solidFill>
                  <a:srgbClr val="8A6410"/>
                </a:solidFill>
                <a:latin typeface="Pretendard"/>
                <a:ea typeface="Pretendard"/>
                <a:cs typeface="Pretendard"/>
              </a:rPr>
              <a:t>Security Gate · 보안 검문소</a:t>
            </a:r>
          </a:p>
        </p:txBody>
      </p:sp>
      <p:sp>
        <p:nvSpPr>
          <p:cNvPr id="94" name="box:gchip"/>
          <p:cNvSpPr/>
          <p:nvPr/>
        </p:nvSpPr>
        <p:spPr>
          <a:xfrm>
            <a:off x="6467915" y="6987152"/>
            <a:ext cx="1003531" cy="284334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8572">
            <a:solidFill>
              <a:srgbClr val="B98D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:t-gchip"/>
          <p:cNvSpPr txBox="1"/>
          <p:nvPr/>
        </p:nvSpPr>
        <p:spPr>
          <a:xfrm>
            <a:off x="6681164" y="7075295"/>
            <a:ext cx="577030" cy="1204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10" b="0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접근 권한 확인</a:t>
            </a:r>
          </a:p>
        </p:txBody>
      </p:sp>
      <p:sp>
        <p:nvSpPr>
          <p:cNvPr id="96" name="box:gchip"/>
          <p:cNvSpPr/>
          <p:nvPr/>
        </p:nvSpPr>
        <p:spPr>
          <a:xfrm>
            <a:off x="7555074" y="6987152"/>
            <a:ext cx="1003531" cy="284334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8572">
            <a:solidFill>
              <a:srgbClr val="B98D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:t-gchip"/>
          <p:cNvSpPr txBox="1"/>
          <p:nvPr/>
        </p:nvSpPr>
        <p:spPr>
          <a:xfrm>
            <a:off x="7768325" y="7075295"/>
            <a:ext cx="577030" cy="1204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10" b="0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허용 범위 확인</a:t>
            </a:r>
          </a:p>
        </p:txBody>
      </p:sp>
      <p:sp>
        <p:nvSpPr>
          <p:cNvPr id="98" name="box:gchip"/>
          <p:cNvSpPr/>
          <p:nvPr/>
        </p:nvSpPr>
        <p:spPr>
          <a:xfrm>
            <a:off x="8642234" y="6987152"/>
            <a:ext cx="1003531" cy="284334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8572">
            <a:solidFill>
              <a:srgbClr val="B98D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:t-gchip"/>
          <p:cNvSpPr txBox="1"/>
          <p:nvPr/>
        </p:nvSpPr>
        <p:spPr>
          <a:xfrm>
            <a:off x="8855484" y="7075295"/>
            <a:ext cx="577030" cy="1204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10" b="0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제외 목록 적용</a:t>
            </a:r>
          </a:p>
        </p:txBody>
      </p:sp>
      <p:sp>
        <p:nvSpPr>
          <p:cNvPr id="100" name="box:gchip"/>
          <p:cNvSpPr/>
          <p:nvPr/>
        </p:nvSpPr>
        <p:spPr>
          <a:xfrm>
            <a:off x="6467915" y="7321662"/>
            <a:ext cx="1003531" cy="284334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8572">
            <a:solidFill>
              <a:srgbClr val="B98D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:t-gchip"/>
          <p:cNvSpPr txBox="1"/>
          <p:nvPr/>
        </p:nvSpPr>
        <p:spPr>
          <a:xfrm>
            <a:off x="6655827" y="7409806"/>
            <a:ext cx="627708" cy="1204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10" b="0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파일 종류 · 크기</a:t>
            </a:r>
          </a:p>
        </p:txBody>
      </p:sp>
      <p:sp>
        <p:nvSpPr>
          <p:cNvPr id="102" name="box:gchip"/>
          <p:cNvSpPr/>
          <p:nvPr/>
        </p:nvSpPr>
        <p:spPr>
          <a:xfrm>
            <a:off x="7555074" y="7321662"/>
            <a:ext cx="1003531" cy="284334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8572">
            <a:solidFill>
              <a:srgbClr val="B98D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:t-gchip"/>
          <p:cNvSpPr txBox="1"/>
          <p:nvPr/>
        </p:nvSpPr>
        <p:spPr>
          <a:xfrm>
            <a:off x="7780868" y="7409806"/>
            <a:ext cx="551941" cy="1204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10" b="0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비밀정보 제거</a:t>
            </a:r>
          </a:p>
        </p:txBody>
      </p:sp>
      <p:sp>
        <p:nvSpPr>
          <p:cNvPr id="104" name="box:gchip"/>
          <p:cNvSpPr/>
          <p:nvPr/>
        </p:nvSpPr>
        <p:spPr>
          <a:xfrm>
            <a:off x="8642234" y="7321662"/>
            <a:ext cx="1003531" cy="284334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8572">
            <a:solidFill>
              <a:srgbClr val="B98D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:t-gchip"/>
          <p:cNvSpPr txBox="1"/>
          <p:nvPr/>
        </p:nvSpPr>
        <p:spPr>
          <a:xfrm>
            <a:off x="8768679" y="7409806"/>
            <a:ext cx="750641" cy="1204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10" b="0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최소 데이터만 전달</a:t>
            </a:r>
          </a:p>
        </p:txBody>
      </p:sp>
      <p:cxnSp>
        <p:nvCxnSpPr>
          <p:cNvPr id="106" name="edge:edge"/>
          <p:cNvCxnSpPr/>
          <p:nvPr/>
        </p:nvCxnSpPr>
        <p:spPr>
          <a:xfrm>
            <a:off x="8056840" y="7672899"/>
            <a:ext cx="0" cy="234157"/>
          </a:xfrm>
          <a:prstGeom prst="line">
            <a:avLst/>
          </a:prstGeom>
          <a:ln w="13716">
            <a:solidFill>
              <a:srgbClr val="1319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box:node"/>
          <p:cNvSpPr/>
          <p:nvPr/>
        </p:nvSpPr>
        <p:spPr>
          <a:xfrm>
            <a:off x="6367562" y="7923782"/>
            <a:ext cx="3378557" cy="853002"/>
          </a:xfrm>
          <a:prstGeom prst="roundRect">
            <a:avLst>
              <a:gd name="adj" fmla="val 4901"/>
            </a:avLst>
          </a:prstGeom>
          <a:solidFill>
            <a:srgbClr val="FFFFFF"/>
          </a:solidFill>
          <a:ln w="8572">
            <a:solidFill>
              <a:srgbClr val="C3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:t-node"/>
          <p:cNvSpPr txBox="1"/>
          <p:nvPr/>
        </p:nvSpPr>
        <p:spPr>
          <a:xfrm>
            <a:off x="6484640" y="8047634"/>
            <a:ext cx="863061" cy="1806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20" b="1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위험 상태 관리</a:t>
            </a:r>
          </a:p>
        </p:txBody>
      </p:sp>
      <p:sp>
        <p:nvSpPr>
          <p:cNvPr id="109" name="box:inner"/>
          <p:cNvSpPr/>
          <p:nvPr/>
        </p:nvSpPr>
        <p:spPr>
          <a:xfrm>
            <a:off x="6467915" y="8291743"/>
            <a:ext cx="1588925" cy="401412"/>
          </a:xfrm>
          <a:prstGeom prst="roundRect">
            <a:avLst>
              <a:gd name="adj" fmla="val 6250"/>
            </a:avLst>
          </a:prstGeom>
          <a:solidFill>
            <a:srgbClr val="EEF2F7"/>
          </a:solidFill>
          <a:ln w="8572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:t-rule"/>
          <p:cNvSpPr txBox="1"/>
          <p:nvPr/>
        </p:nvSpPr>
        <p:spPr>
          <a:xfrm>
            <a:off x="6827513" y="8442273"/>
            <a:ext cx="626896" cy="1321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0" spc="0" dirty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자동 위험 판정</a:t>
            </a:r>
          </a:p>
        </p:txBody>
      </p:sp>
      <p:sp>
        <p:nvSpPr>
          <p:cNvPr id="111" name="box:inner"/>
          <p:cNvSpPr/>
          <p:nvPr/>
        </p:nvSpPr>
        <p:spPr>
          <a:xfrm>
            <a:off x="8157193" y="8291743"/>
            <a:ext cx="1488572" cy="401412"/>
          </a:xfrm>
          <a:prstGeom prst="roundRect">
            <a:avLst>
              <a:gd name="adj" fmla="val 6250"/>
            </a:avLst>
          </a:prstGeom>
          <a:solidFill>
            <a:srgbClr val="EEF2F7"/>
          </a:solidFill>
          <a:ln w="8572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2" name="icon:i-user" descr="i-user_ic-fg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40821" y="8392096"/>
            <a:ext cx="150529" cy="150529"/>
          </a:xfrm>
          <a:prstGeom prst="rect">
            <a:avLst/>
          </a:prstGeom>
        </p:spPr>
      </p:pic>
      <p:sp>
        <p:nvSpPr>
          <p:cNvPr id="113" name="text:t-rule"/>
          <p:cNvSpPr txBox="1"/>
          <p:nvPr/>
        </p:nvSpPr>
        <p:spPr>
          <a:xfrm>
            <a:off x="8458253" y="8438802"/>
            <a:ext cx="721203" cy="1304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0" spc="0" dirty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사용자 판단 기록</a:t>
            </a:r>
          </a:p>
        </p:txBody>
      </p:sp>
      <p:cxnSp>
        <p:nvCxnSpPr>
          <p:cNvPr id="114" name="edge:edge"/>
          <p:cNvCxnSpPr/>
          <p:nvPr/>
        </p:nvCxnSpPr>
        <p:spPr>
          <a:xfrm>
            <a:off x="7412907" y="8776784"/>
            <a:ext cx="0" cy="234157"/>
          </a:xfrm>
          <a:prstGeom prst="line">
            <a:avLst/>
          </a:prstGeom>
          <a:ln w="13716">
            <a:solidFill>
              <a:srgbClr val="1319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:t-lbl"/>
          <p:cNvSpPr txBox="1"/>
          <p:nvPr/>
        </p:nvSpPr>
        <p:spPr>
          <a:xfrm>
            <a:off x="7479809" y="8864927"/>
            <a:ext cx="627708" cy="1204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0" b="0" spc="0">
                <a:solidFill>
                  <a:srgbClr val="59647A"/>
                </a:solidFill>
                <a:latin typeface="Pretendard"/>
                <a:ea typeface="Pretendard"/>
                <a:cs typeface="Pretendard"/>
              </a:rPr>
              <a:t>위험 · 이력 기록</a:t>
            </a:r>
          </a:p>
        </p:txBody>
      </p:sp>
      <p:sp>
        <p:nvSpPr>
          <p:cNvPr id="116" name="box:store"/>
          <p:cNvSpPr/>
          <p:nvPr/>
        </p:nvSpPr>
        <p:spPr>
          <a:xfrm>
            <a:off x="6367562" y="9027667"/>
            <a:ext cx="3378557" cy="501765"/>
          </a:xfrm>
          <a:prstGeom prst="roundRect">
            <a:avLst>
              <a:gd name="adj" fmla="val 8333"/>
            </a:avLst>
          </a:prstGeom>
          <a:solidFill>
            <a:srgbClr val="EDF4FE"/>
          </a:solidFill>
          <a:ln w="8572">
            <a:solidFill>
              <a:srgbClr val="9FC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7" name="icon:i-firestore" descr="i-firestor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2826" y="9194922"/>
            <a:ext cx="200706" cy="200706"/>
          </a:xfrm>
          <a:prstGeom prst="rect">
            <a:avLst/>
          </a:prstGeom>
        </p:spPr>
      </p:pic>
      <p:pic>
        <p:nvPicPr>
          <p:cNvPr id="118" name="icon:i-gcp" descr="i-gc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8687" y="9128020"/>
            <a:ext cx="167255" cy="167255"/>
          </a:xfrm>
          <a:prstGeom prst="rect">
            <a:avLst/>
          </a:prstGeom>
        </p:spPr>
      </p:pic>
      <p:sp>
        <p:nvSpPr>
          <p:cNvPr id="119" name="text:t-node"/>
          <p:cNvSpPr txBox="1"/>
          <p:nvPr/>
        </p:nvSpPr>
        <p:spPr>
          <a:xfrm>
            <a:off x="6721823" y="9194922"/>
            <a:ext cx="1261439" cy="1806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20" b="1" spc="0" dirty="0" err="1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Firestore</a:t>
            </a:r>
            <a:r>
              <a:rPr sz="1220" b="1" spc="0" dirty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 — Seoul</a:t>
            </a:r>
          </a:p>
        </p:txBody>
      </p:sp>
      <p:sp>
        <p:nvSpPr>
          <p:cNvPr id="120" name="box:node"/>
          <p:cNvSpPr/>
          <p:nvPr/>
        </p:nvSpPr>
        <p:spPr>
          <a:xfrm>
            <a:off x="10967082" y="3976556"/>
            <a:ext cx="2542280" cy="501765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572">
            <a:solidFill>
              <a:srgbClr val="C3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1" name="icon:i-python" descr="i-pyth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7435" y="4060184"/>
            <a:ext cx="200706" cy="200706"/>
          </a:xfrm>
          <a:prstGeom prst="rect">
            <a:avLst/>
          </a:prstGeom>
        </p:spPr>
      </p:pic>
      <p:sp>
        <p:nvSpPr>
          <p:cNvPr id="122" name="text:t-node"/>
          <p:cNvSpPr txBox="1"/>
          <p:nvPr/>
        </p:nvSpPr>
        <p:spPr>
          <a:xfrm>
            <a:off x="11335044" y="4100409"/>
            <a:ext cx="697552" cy="1806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20" b="1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분석기 선택</a:t>
            </a:r>
          </a:p>
        </p:txBody>
      </p:sp>
      <p:cxnSp>
        <p:nvCxnSpPr>
          <p:cNvPr id="123" name="edge:edge"/>
          <p:cNvCxnSpPr/>
          <p:nvPr/>
        </p:nvCxnSpPr>
        <p:spPr>
          <a:xfrm>
            <a:off x="12238223" y="4478322"/>
            <a:ext cx="0" cy="267608"/>
          </a:xfrm>
          <a:prstGeom prst="line">
            <a:avLst/>
          </a:prstGeom>
          <a:ln w="13716">
            <a:solidFill>
              <a:srgbClr val="1319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box:node"/>
          <p:cNvSpPr/>
          <p:nvPr/>
        </p:nvSpPr>
        <p:spPr>
          <a:xfrm>
            <a:off x="10967082" y="4762656"/>
            <a:ext cx="2542280" cy="769374"/>
          </a:xfrm>
          <a:prstGeom prst="roundRect">
            <a:avLst>
              <a:gd name="adj" fmla="val 5434"/>
            </a:avLst>
          </a:prstGeom>
          <a:solidFill>
            <a:srgbClr val="FFFFFF"/>
          </a:solidFill>
          <a:ln w="8572">
            <a:solidFill>
              <a:srgbClr val="C3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5" name="icon:i-doc" descr="i-doc_ic-mut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67435" y="4846284"/>
            <a:ext cx="200706" cy="200706"/>
          </a:xfrm>
          <a:prstGeom prst="rect">
            <a:avLst/>
          </a:prstGeom>
        </p:spPr>
      </p:pic>
      <p:sp>
        <p:nvSpPr>
          <p:cNvPr id="126" name="text:t-node"/>
          <p:cNvSpPr txBox="1"/>
          <p:nvPr/>
        </p:nvSpPr>
        <p:spPr>
          <a:xfrm>
            <a:off x="11335044" y="4886509"/>
            <a:ext cx="863061" cy="1806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20" b="1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특허 위험 분석</a:t>
            </a:r>
          </a:p>
        </p:txBody>
      </p:sp>
      <p:sp>
        <p:nvSpPr>
          <p:cNvPr id="127" name="box:inner"/>
          <p:cNvSpPr/>
          <p:nvPr/>
        </p:nvSpPr>
        <p:spPr>
          <a:xfrm>
            <a:off x="11033984" y="5113892"/>
            <a:ext cx="769374" cy="267608"/>
          </a:xfrm>
          <a:prstGeom prst="roundRect">
            <a:avLst>
              <a:gd name="adj" fmla="val 9375"/>
            </a:avLst>
          </a:prstGeom>
          <a:solidFill>
            <a:srgbClr val="EEF2F7"/>
          </a:solidFill>
          <a:ln w="8572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:t-scr"/>
          <p:cNvSpPr txBox="1"/>
          <p:nvPr/>
        </p:nvSpPr>
        <p:spPr>
          <a:xfrm>
            <a:off x="11165698" y="5201659"/>
            <a:ext cx="505947" cy="110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0" b="0" spc="0">
                <a:solidFill>
                  <a:srgbClr val="59647A"/>
                </a:solidFill>
                <a:latin typeface="Pretendard"/>
                <a:ea typeface="Pretendard"/>
                <a:cs typeface="Pretendard"/>
              </a:rPr>
              <a:t>기술요소 추출</a:t>
            </a:r>
          </a:p>
        </p:txBody>
      </p:sp>
      <p:sp>
        <p:nvSpPr>
          <p:cNvPr id="129" name="box:inner"/>
          <p:cNvSpPr/>
          <p:nvPr/>
        </p:nvSpPr>
        <p:spPr>
          <a:xfrm>
            <a:off x="11870261" y="5113892"/>
            <a:ext cx="769374" cy="267608"/>
          </a:xfrm>
          <a:prstGeom prst="roundRect">
            <a:avLst>
              <a:gd name="adj" fmla="val 9375"/>
            </a:avLst>
          </a:prstGeom>
          <a:solidFill>
            <a:srgbClr val="EEF2F7"/>
          </a:solidFill>
          <a:ln w="8572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:t-scr"/>
          <p:cNvSpPr txBox="1"/>
          <p:nvPr/>
        </p:nvSpPr>
        <p:spPr>
          <a:xfrm>
            <a:off x="12082130" y="5201659"/>
            <a:ext cx="345634" cy="110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0" b="0" spc="0">
                <a:solidFill>
                  <a:srgbClr val="59647A"/>
                </a:solidFill>
                <a:latin typeface="Pretendard"/>
                <a:ea typeface="Pretendard"/>
                <a:cs typeface="Pretendard"/>
              </a:rPr>
              <a:t>특허 검색</a:t>
            </a:r>
          </a:p>
        </p:txBody>
      </p:sp>
      <p:sp>
        <p:nvSpPr>
          <p:cNvPr id="131" name="box:inner"/>
          <p:cNvSpPr/>
          <p:nvPr/>
        </p:nvSpPr>
        <p:spPr>
          <a:xfrm>
            <a:off x="12706537" y="5113892"/>
            <a:ext cx="769374" cy="267608"/>
          </a:xfrm>
          <a:prstGeom prst="roundRect">
            <a:avLst>
              <a:gd name="adj" fmla="val 9375"/>
            </a:avLst>
          </a:prstGeom>
          <a:solidFill>
            <a:srgbClr val="EEF2F7"/>
          </a:solidFill>
          <a:ln w="8572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:t-scr"/>
          <p:cNvSpPr txBox="1"/>
          <p:nvPr/>
        </p:nvSpPr>
        <p:spPr>
          <a:xfrm>
            <a:off x="12878754" y="5201659"/>
            <a:ext cx="424938" cy="110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0" b="0" spc="0">
                <a:solidFill>
                  <a:srgbClr val="59647A"/>
                </a:solidFill>
                <a:latin typeface="Pretendard"/>
                <a:ea typeface="Pretendard"/>
                <a:cs typeface="Pretendard"/>
              </a:rPr>
              <a:t>청구항 대조</a:t>
            </a:r>
          </a:p>
        </p:txBody>
      </p:sp>
      <p:cxnSp>
        <p:nvCxnSpPr>
          <p:cNvPr id="133" name="edge:edge"/>
          <p:cNvCxnSpPr/>
          <p:nvPr/>
        </p:nvCxnSpPr>
        <p:spPr>
          <a:xfrm>
            <a:off x="12238223" y="5532031"/>
            <a:ext cx="0" cy="267608"/>
          </a:xfrm>
          <a:prstGeom prst="line">
            <a:avLst/>
          </a:prstGeom>
          <a:ln w="13716">
            <a:solidFill>
              <a:srgbClr val="1319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box:node"/>
          <p:cNvSpPr/>
          <p:nvPr/>
        </p:nvSpPr>
        <p:spPr>
          <a:xfrm>
            <a:off x="10967082" y="5816365"/>
            <a:ext cx="2542280" cy="769374"/>
          </a:xfrm>
          <a:prstGeom prst="roundRect">
            <a:avLst>
              <a:gd name="adj" fmla="val 5434"/>
            </a:avLst>
          </a:prstGeom>
          <a:solidFill>
            <a:srgbClr val="FFFFFF"/>
          </a:solidFill>
          <a:ln w="8572">
            <a:solidFill>
              <a:srgbClr val="C3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5" name="icon:i-license" descr="i-license_ic-mu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67435" y="5899992"/>
            <a:ext cx="200706" cy="200706"/>
          </a:xfrm>
          <a:prstGeom prst="rect">
            <a:avLst/>
          </a:prstGeom>
        </p:spPr>
      </p:pic>
      <p:sp>
        <p:nvSpPr>
          <p:cNvPr id="136" name="text:t-node"/>
          <p:cNvSpPr txBox="1"/>
          <p:nvPr/>
        </p:nvSpPr>
        <p:spPr>
          <a:xfrm>
            <a:off x="11335044" y="5940218"/>
            <a:ext cx="1124549" cy="1806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20" b="1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라이선스 위험 분석</a:t>
            </a:r>
          </a:p>
        </p:txBody>
      </p:sp>
      <p:sp>
        <p:nvSpPr>
          <p:cNvPr id="137" name="box:inner"/>
          <p:cNvSpPr/>
          <p:nvPr/>
        </p:nvSpPr>
        <p:spPr>
          <a:xfrm>
            <a:off x="11033984" y="6167601"/>
            <a:ext cx="769374" cy="267608"/>
          </a:xfrm>
          <a:prstGeom prst="roundRect">
            <a:avLst>
              <a:gd name="adj" fmla="val 9375"/>
            </a:avLst>
          </a:prstGeom>
          <a:solidFill>
            <a:srgbClr val="EEF2F7"/>
          </a:solidFill>
          <a:ln w="8572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:t-scr"/>
          <p:cNvSpPr txBox="1"/>
          <p:nvPr/>
        </p:nvSpPr>
        <p:spPr>
          <a:xfrm>
            <a:off x="11206202" y="6255368"/>
            <a:ext cx="424938" cy="110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0" b="0" spc="0">
                <a:solidFill>
                  <a:srgbClr val="59647A"/>
                </a:solidFill>
                <a:latin typeface="Pretendard"/>
                <a:ea typeface="Pretendard"/>
                <a:cs typeface="Pretendard"/>
              </a:rPr>
              <a:t>의존성 확인</a:t>
            </a:r>
          </a:p>
        </p:txBody>
      </p:sp>
      <p:sp>
        <p:nvSpPr>
          <p:cNvPr id="139" name="box:inner"/>
          <p:cNvSpPr/>
          <p:nvPr/>
        </p:nvSpPr>
        <p:spPr>
          <a:xfrm>
            <a:off x="11870261" y="6167601"/>
            <a:ext cx="769374" cy="267608"/>
          </a:xfrm>
          <a:prstGeom prst="roundRect">
            <a:avLst>
              <a:gd name="adj" fmla="val 9375"/>
            </a:avLst>
          </a:prstGeom>
          <a:solidFill>
            <a:srgbClr val="EEF2F7"/>
          </a:solidFill>
          <a:ln w="8572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:t-scr"/>
          <p:cNvSpPr txBox="1"/>
          <p:nvPr/>
        </p:nvSpPr>
        <p:spPr>
          <a:xfrm>
            <a:off x="12002826" y="6255368"/>
            <a:ext cx="504242" cy="110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0" b="0" spc="0">
                <a:solidFill>
                  <a:srgbClr val="59647A"/>
                </a:solidFill>
                <a:latin typeface="Pretendard"/>
                <a:ea typeface="Pretendard"/>
                <a:cs typeface="Pretendard"/>
              </a:rPr>
              <a:t>라이선스 식별</a:t>
            </a:r>
          </a:p>
        </p:txBody>
      </p:sp>
      <p:sp>
        <p:nvSpPr>
          <p:cNvPr id="141" name="box:inner"/>
          <p:cNvSpPr/>
          <p:nvPr/>
        </p:nvSpPr>
        <p:spPr>
          <a:xfrm>
            <a:off x="12706537" y="6167601"/>
            <a:ext cx="769374" cy="267608"/>
          </a:xfrm>
          <a:prstGeom prst="roundRect">
            <a:avLst>
              <a:gd name="adj" fmla="val 9375"/>
            </a:avLst>
          </a:prstGeom>
          <a:solidFill>
            <a:srgbClr val="EEF2F7"/>
          </a:solidFill>
          <a:ln w="8572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:t-scr"/>
          <p:cNvSpPr txBox="1"/>
          <p:nvPr/>
        </p:nvSpPr>
        <p:spPr>
          <a:xfrm>
            <a:off x="12918407" y="6255368"/>
            <a:ext cx="345634" cy="110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0" b="0" spc="0">
                <a:solidFill>
                  <a:srgbClr val="59647A"/>
                </a:solidFill>
                <a:latin typeface="Pretendard"/>
                <a:ea typeface="Pretendard"/>
                <a:cs typeface="Pretendard"/>
              </a:rPr>
              <a:t>의무 정리</a:t>
            </a:r>
          </a:p>
        </p:txBody>
      </p:sp>
      <p:cxnSp>
        <p:nvCxnSpPr>
          <p:cNvPr id="143" name="edge:edge"/>
          <p:cNvCxnSpPr/>
          <p:nvPr/>
        </p:nvCxnSpPr>
        <p:spPr>
          <a:xfrm>
            <a:off x="12238223" y="6585739"/>
            <a:ext cx="0" cy="267608"/>
          </a:xfrm>
          <a:prstGeom prst="line">
            <a:avLst/>
          </a:prstGeom>
          <a:ln w="13716">
            <a:solidFill>
              <a:srgbClr val="1319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box:node"/>
          <p:cNvSpPr/>
          <p:nvPr/>
        </p:nvSpPr>
        <p:spPr>
          <a:xfrm>
            <a:off x="10967082" y="6870073"/>
            <a:ext cx="2542280" cy="501765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8572">
            <a:solidFill>
              <a:srgbClr val="C3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:t-node"/>
          <p:cNvSpPr txBox="1"/>
          <p:nvPr/>
        </p:nvSpPr>
        <p:spPr>
          <a:xfrm>
            <a:off x="11067435" y="7044103"/>
            <a:ext cx="566808" cy="1806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20" b="1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근거 검증</a:t>
            </a:r>
          </a:p>
        </p:txBody>
      </p:sp>
      <p:sp>
        <p:nvSpPr>
          <p:cNvPr id="146" name="box:node"/>
          <p:cNvSpPr/>
          <p:nvPr/>
        </p:nvSpPr>
        <p:spPr>
          <a:xfrm>
            <a:off x="14510602" y="4762656"/>
            <a:ext cx="1053708" cy="501765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8572">
            <a:solidFill>
              <a:srgbClr val="C3C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7" name="icon:i-doc" descr="i-doc_ic-mut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594230" y="4829558"/>
            <a:ext cx="167255" cy="167255"/>
          </a:xfrm>
          <a:prstGeom prst="rect">
            <a:avLst/>
          </a:prstGeom>
        </p:spPr>
      </p:pic>
      <p:sp>
        <p:nvSpPr>
          <p:cNvPr id="148" name="text:t-node-s"/>
          <p:cNvSpPr txBox="1"/>
          <p:nvPr/>
        </p:nvSpPr>
        <p:spPr>
          <a:xfrm>
            <a:off x="14594230" y="5044273"/>
            <a:ext cx="834002" cy="15052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0" b="1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KIPRIS 특허 DB</a:t>
            </a:r>
          </a:p>
        </p:txBody>
      </p:sp>
      <p:sp>
        <p:nvSpPr>
          <p:cNvPr id="149" name="box:gcpnode"/>
          <p:cNvSpPr/>
          <p:nvPr/>
        </p:nvSpPr>
        <p:spPr>
          <a:xfrm>
            <a:off x="14510602" y="5515305"/>
            <a:ext cx="1053708" cy="501765"/>
          </a:xfrm>
          <a:prstGeom prst="roundRect">
            <a:avLst>
              <a:gd name="adj" fmla="val 6666"/>
            </a:avLst>
          </a:prstGeom>
          <a:solidFill>
            <a:srgbClr val="EDF4FE"/>
          </a:solidFill>
          <a:ln w="8572">
            <a:solidFill>
              <a:srgbClr val="9FC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0" name="icon:i-gemini" descr="i-gemini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594230" y="5582207"/>
            <a:ext cx="167255" cy="167255"/>
          </a:xfrm>
          <a:prstGeom prst="rect">
            <a:avLst/>
          </a:prstGeom>
        </p:spPr>
      </p:pic>
      <p:sp>
        <p:nvSpPr>
          <p:cNvPr id="151" name="text:t-node-s"/>
          <p:cNvSpPr txBox="1"/>
          <p:nvPr/>
        </p:nvSpPr>
        <p:spPr>
          <a:xfrm>
            <a:off x="14594230" y="5796921"/>
            <a:ext cx="646651" cy="15052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0" b="1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Gemini 3.6</a:t>
            </a:r>
          </a:p>
        </p:txBody>
      </p:sp>
      <p:grpSp>
        <p:nvGrpSpPr>
          <p:cNvPr id="201" name="그룹 200">
            <a:extLst>
              <a:ext uri="{FF2B5EF4-FFF2-40B4-BE49-F238E27FC236}">
                <a16:creationId xmlns:a16="http://schemas.microsoft.com/office/drawing/2014/main" id="{A2B48184-D648-E18E-FEB1-C46EB377FFFF}"/>
              </a:ext>
            </a:extLst>
          </p:cNvPr>
          <p:cNvGrpSpPr/>
          <p:nvPr/>
        </p:nvGrpSpPr>
        <p:grpSpPr>
          <a:xfrm>
            <a:off x="14445368" y="6284680"/>
            <a:ext cx="1187512" cy="919904"/>
            <a:chOff x="12336237" y="4886325"/>
            <a:chExt cx="1217295" cy="942975"/>
          </a:xfrm>
        </p:grpSpPr>
        <p:sp>
          <p:nvSpPr>
            <p:cNvPr id="152" name="box:region"/>
            <p:cNvSpPr/>
            <p:nvPr/>
          </p:nvSpPr>
          <p:spPr>
            <a:xfrm>
              <a:off x="12336237" y="4886325"/>
              <a:ext cx="1217295" cy="942975"/>
            </a:xfrm>
            <a:prstGeom prst="roundRect">
              <a:avLst>
                <a:gd name="adj" fmla="val 4545"/>
              </a:avLst>
            </a:prstGeom>
            <a:noFill/>
            <a:ln w="8572">
              <a:solidFill>
                <a:srgbClr val="B98D2A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3" name="text:t-acc"/>
            <p:cNvSpPr txBox="1"/>
            <p:nvPr/>
          </p:nvSpPr>
          <p:spPr>
            <a:xfrm>
              <a:off x="12404817" y="4976679"/>
              <a:ext cx="855364" cy="123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10" b="0" spc="0">
                  <a:solidFill>
                    <a:srgbClr val="8A6410"/>
                  </a:solidFill>
                  <a:latin typeface="Pretendard"/>
                  <a:ea typeface="Pretendard"/>
                  <a:cs typeface="Pretendard"/>
                </a:rPr>
                <a:t>external GA region</a:t>
              </a:r>
            </a:p>
          </p:txBody>
        </p:sp>
        <p:sp>
          <p:nvSpPr>
            <p:cNvPr id="154" name="box:gcpnode"/>
            <p:cNvSpPr/>
            <p:nvPr/>
          </p:nvSpPr>
          <p:spPr>
            <a:xfrm>
              <a:off x="12404817" y="5160645"/>
              <a:ext cx="1080135" cy="548640"/>
            </a:xfrm>
            <a:prstGeom prst="roundRect">
              <a:avLst>
                <a:gd name="adj" fmla="val 6250"/>
              </a:avLst>
            </a:prstGeom>
            <a:solidFill>
              <a:srgbClr val="EDF4FE"/>
            </a:solidFill>
            <a:ln w="8572">
              <a:solidFill>
                <a:srgbClr val="9FC2F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55" name="icon:i-rag" descr="i-rag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2490542" y="5229225"/>
              <a:ext cx="171450" cy="171450"/>
            </a:xfrm>
            <a:prstGeom prst="rect">
              <a:avLst/>
            </a:prstGeom>
          </p:spPr>
        </p:pic>
        <p:pic>
          <p:nvPicPr>
            <p:cNvPr id="156" name="icon:i-gcp" descr="i-gcp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3227777" y="5229225"/>
              <a:ext cx="154305" cy="154305"/>
            </a:xfrm>
            <a:prstGeom prst="rect">
              <a:avLst/>
            </a:prstGeom>
          </p:spPr>
        </p:pic>
        <p:sp>
          <p:nvSpPr>
            <p:cNvPr id="157" name="text:t-node-s"/>
            <p:cNvSpPr txBox="1"/>
            <p:nvPr/>
          </p:nvSpPr>
          <p:spPr>
            <a:xfrm>
              <a:off x="12490542" y="5466469"/>
              <a:ext cx="719447" cy="15430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10" b="1" spc="0">
                  <a:solidFill>
                    <a:srgbClr val="131922"/>
                  </a:solidFill>
                  <a:latin typeface="Pretendard"/>
                  <a:ea typeface="Pretendard"/>
                  <a:cs typeface="Pretendard"/>
                </a:rPr>
                <a:t>RAG Engine</a:t>
              </a:r>
            </a:p>
          </p:txBody>
        </p:sp>
      </p:grpSp>
      <p:cxnSp>
        <p:nvCxnSpPr>
          <p:cNvPr id="158" name="edge:edge"/>
          <p:cNvCxnSpPr/>
          <p:nvPr/>
        </p:nvCxnSpPr>
        <p:spPr>
          <a:xfrm>
            <a:off x="13509363" y="5013539"/>
            <a:ext cx="869727" cy="0"/>
          </a:xfrm>
          <a:prstGeom prst="line">
            <a:avLst/>
          </a:prstGeom>
          <a:ln w="13716">
            <a:solidFill>
              <a:srgbClr val="1319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:t-lbl"/>
          <p:cNvSpPr txBox="1"/>
          <p:nvPr/>
        </p:nvSpPr>
        <p:spPr>
          <a:xfrm>
            <a:off x="13576265" y="4850800"/>
            <a:ext cx="534379" cy="1204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0" b="0" spc="0">
                <a:solidFill>
                  <a:srgbClr val="59647A"/>
                </a:solidFill>
                <a:latin typeface="Pretendard"/>
                <a:ea typeface="Pretendard"/>
                <a:cs typeface="Pretendard"/>
              </a:rPr>
              <a:t>특허 DB 조회</a:t>
            </a:r>
          </a:p>
        </p:txBody>
      </p:sp>
      <p:cxnSp>
        <p:nvCxnSpPr>
          <p:cNvPr id="160" name="edge:edge"/>
          <p:cNvCxnSpPr/>
          <p:nvPr/>
        </p:nvCxnSpPr>
        <p:spPr>
          <a:xfrm>
            <a:off x="13509363" y="5322962"/>
            <a:ext cx="418138" cy="0"/>
          </a:xfrm>
          <a:prstGeom prst="line">
            <a:avLst/>
          </a:prstGeom>
          <a:ln w="13716">
            <a:solidFill>
              <a:srgbClr val="1319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edge:edge"/>
          <p:cNvCxnSpPr/>
          <p:nvPr/>
        </p:nvCxnSpPr>
        <p:spPr>
          <a:xfrm>
            <a:off x="13927501" y="5322962"/>
            <a:ext cx="0" cy="376323"/>
          </a:xfrm>
          <a:prstGeom prst="line">
            <a:avLst/>
          </a:prstGeom>
          <a:ln w="13716">
            <a:solidFill>
              <a:srgbClr val="1319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edge:edge"/>
          <p:cNvCxnSpPr>
            <a:cxnSpLocks/>
          </p:cNvCxnSpPr>
          <p:nvPr/>
        </p:nvCxnSpPr>
        <p:spPr>
          <a:xfrm>
            <a:off x="13927501" y="5699286"/>
            <a:ext cx="451589" cy="0"/>
          </a:xfrm>
          <a:prstGeom prst="line">
            <a:avLst/>
          </a:prstGeom>
          <a:ln w="13716">
            <a:solidFill>
              <a:srgbClr val="1319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:t-lbl"/>
          <p:cNvSpPr txBox="1"/>
          <p:nvPr/>
        </p:nvSpPr>
        <p:spPr>
          <a:xfrm>
            <a:off x="13576265" y="5160223"/>
            <a:ext cx="378330" cy="1204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0" b="0" spc="0">
                <a:solidFill>
                  <a:srgbClr val="59647A"/>
                </a:solidFill>
                <a:latin typeface="Pretendard"/>
                <a:ea typeface="Pretendard"/>
                <a:cs typeface="Pretendard"/>
              </a:rPr>
              <a:t>기술 분석</a:t>
            </a:r>
          </a:p>
        </p:txBody>
      </p:sp>
      <p:cxnSp>
        <p:nvCxnSpPr>
          <p:cNvPr id="164" name="edge:edge"/>
          <p:cNvCxnSpPr>
            <a:cxnSpLocks/>
          </p:cNvCxnSpPr>
          <p:nvPr/>
        </p:nvCxnSpPr>
        <p:spPr>
          <a:xfrm>
            <a:off x="13509363" y="6075610"/>
            <a:ext cx="546986" cy="0"/>
          </a:xfrm>
          <a:prstGeom prst="line">
            <a:avLst/>
          </a:prstGeom>
          <a:ln w="13716">
            <a:solidFill>
              <a:srgbClr val="1319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edge:edge"/>
          <p:cNvCxnSpPr/>
          <p:nvPr/>
        </p:nvCxnSpPr>
        <p:spPr>
          <a:xfrm flipV="1">
            <a:off x="14056350" y="5849816"/>
            <a:ext cx="0" cy="225794"/>
          </a:xfrm>
          <a:prstGeom prst="line">
            <a:avLst/>
          </a:prstGeom>
          <a:ln w="13716">
            <a:solidFill>
              <a:srgbClr val="1319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edge:edge"/>
          <p:cNvCxnSpPr>
            <a:cxnSpLocks/>
          </p:cNvCxnSpPr>
          <p:nvPr/>
        </p:nvCxnSpPr>
        <p:spPr>
          <a:xfrm>
            <a:off x="14056350" y="5849816"/>
            <a:ext cx="322740" cy="0"/>
          </a:xfrm>
          <a:prstGeom prst="line">
            <a:avLst/>
          </a:prstGeom>
          <a:ln w="13716">
            <a:solidFill>
              <a:srgbClr val="1319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:t-lbl"/>
          <p:cNvSpPr txBox="1"/>
          <p:nvPr/>
        </p:nvSpPr>
        <p:spPr>
          <a:xfrm>
            <a:off x="13576265" y="5912871"/>
            <a:ext cx="378330" cy="1204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0" b="0" spc="0" dirty="0" err="1">
                <a:solidFill>
                  <a:srgbClr val="59647A"/>
                </a:solidFill>
                <a:latin typeface="Pretendard"/>
                <a:ea typeface="Pretendard"/>
                <a:cs typeface="Pretendard"/>
              </a:rPr>
              <a:t>의무 해석</a:t>
            </a:r>
            <a:endParaRPr sz="810" b="0" spc="0" dirty="0">
              <a:solidFill>
                <a:srgbClr val="59647A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168" name="edge:edge"/>
          <p:cNvCxnSpPr/>
          <p:nvPr/>
        </p:nvCxnSpPr>
        <p:spPr>
          <a:xfrm>
            <a:off x="13509363" y="6368307"/>
            <a:ext cx="568668" cy="0"/>
          </a:xfrm>
          <a:prstGeom prst="line">
            <a:avLst/>
          </a:prstGeom>
          <a:ln w="13716">
            <a:solidFill>
              <a:srgbClr val="1319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edge:edge"/>
          <p:cNvCxnSpPr/>
          <p:nvPr/>
        </p:nvCxnSpPr>
        <p:spPr>
          <a:xfrm>
            <a:off x="14078031" y="6368307"/>
            <a:ext cx="0" cy="451589"/>
          </a:xfrm>
          <a:prstGeom prst="line">
            <a:avLst/>
          </a:prstGeom>
          <a:ln w="13716">
            <a:solidFill>
              <a:srgbClr val="1319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edge:edge"/>
          <p:cNvCxnSpPr/>
          <p:nvPr/>
        </p:nvCxnSpPr>
        <p:spPr>
          <a:xfrm>
            <a:off x="14078031" y="6819897"/>
            <a:ext cx="301059" cy="0"/>
          </a:xfrm>
          <a:prstGeom prst="line">
            <a:avLst/>
          </a:prstGeom>
          <a:ln w="13716">
            <a:solidFill>
              <a:srgbClr val="1319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:t-lbl"/>
          <p:cNvSpPr txBox="1"/>
          <p:nvPr/>
        </p:nvSpPr>
        <p:spPr>
          <a:xfrm>
            <a:off x="13576265" y="6205568"/>
            <a:ext cx="378330" cy="1204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0" b="0" spc="0">
                <a:solidFill>
                  <a:srgbClr val="59647A"/>
                </a:solidFill>
                <a:latin typeface="Pretendard"/>
                <a:ea typeface="Pretendard"/>
                <a:cs typeface="Pretendard"/>
              </a:rPr>
              <a:t>자료 조회</a:t>
            </a:r>
          </a:p>
        </p:txBody>
      </p:sp>
      <p:cxnSp>
        <p:nvCxnSpPr>
          <p:cNvPr id="172" name="edge:edge"/>
          <p:cNvCxnSpPr>
            <a:cxnSpLocks/>
          </p:cNvCxnSpPr>
          <p:nvPr/>
        </p:nvCxnSpPr>
        <p:spPr>
          <a:xfrm>
            <a:off x="5284119" y="5515305"/>
            <a:ext cx="556587" cy="0"/>
          </a:xfrm>
          <a:prstGeom prst="line">
            <a:avLst/>
          </a:prstGeom>
          <a:ln w="13716">
            <a:solidFill>
              <a:srgbClr val="1319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edge:edge"/>
          <p:cNvCxnSpPr/>
          <p:nvPr/>
        </p:nvCxnSpPr>
        <p:spPr>
          <a:xfrm flipV="1">
            <a:off x="5840707" y="4846284"/>
            <a:ext cx="0" cy="669021"/>
          </a:xfrm>
          <a:prstGeom prst="line">
            <a:avLst/>
          </a:prstGeom>
          <a:ln w="13716">
            <a:solidFill>
              <a:srgbClr val="1319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edge:edge"/>
          <p:cNvCxnSpPr/>
          <p:nvPr/>
        </p:nvCxnSpPr>
        <p:spPr>
          <a:xfrm flipV="1">
            <a:off x="5840707" y="4244165"/>
            <a:ext cx="0" cy="301059"/>
          </a:xfrm>
          <a:prstGeom prst="line">
            <a:avLst/>
          </a:prstGeom>
          <a:ln w="13716">
            <a:solidFill>
              <a:srgbClr val="1319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edge:edge"/>
          <p:cNvCxnSpPr/>
          <p:nvPr/>
        </p:nvCxnSpPr>
        <p:spPr>
          <a:xfrm>
            <a:off x="5840707" y="4244165"/>
            <a:ext cx="510129" cy="0"/>
          </a:xfrm>
          <a:prstGeom prst="line">
            <a:avLst/>
          </a:prstGeom>
          <a:ln w="13716">
            <a:solidFill>
              <a:srgbClr val="1319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box:chip"/>
          <p:cNvSpPr/>
          <p:nvPr/>
        </p:nvSpPr>
        <p:spPr>
          <a:xfrm>
            <a:off x="5422570" y="4545224"/>
            <a:ext cx="836276" cy="301059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144">
            <a:solidFill>
              <a:srgbClr val="131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:t-chip"/>
          <p:cNvSpPr txBox="1"/>
          <p:nvPr/>
        </p:nvSpPr>
        <p:spPr>
          <a:xfrm>
            <a:off x="5652546" y="4641731"/>
            <a:ext cx="376323" cy="1204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10" b="1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변경 정보</a:t>
            </a:r>
          </a:p>
        </p:txBody>
      </p:sp>
      <p:cxnSp>
        <p:nvCxnSpPr>
          <p:cNvPr id="178" name="edge:edge"/>
          <p:cNvCxnSpPr/>
          <p:nvPr/>
        </p:nvCxnSpPr>
        <p:spPr>
          <a:xfrm flipH="1">
            <a:off x="5330579" y="6000346"/>
            <a:ext cx="1020257" cy="0"/>
          </a:xfrm>
          <a:prstGeom prst="line">
            <a:avLst/>
          </a:prstGeom>
          <a:ln w="13716">
            <a:solidFill>
              <a:srgbClr val="1319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:t-lbl"/>
          <p:cNvSpPr txBox="1"/>
          <p:nvPr/>
        </p:nvSpPr>
        <p:spPr>
          <a:xfrm>
            <a:off x="5651542" y="5837606"/>
            <a:ext cx="378330" cy="1204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10" b="0" spc="0">
                <a:solidFill>
                  <a:srgbClr val="59647A"/>
                </a:solidFill>
                <a:latin typeface="Pretendard"/>
                <a:ea typeface="Pretendard"/>
                <a:cs typeface="Pretendard"/>
              </a:rPr>
              <a:t>원본 요청</a:t>
            </a:r>
          </a:p>
        </p:txBody>
      </p:sp>
      <p:cxnSp>
        <p:nvCxnSpPr>
          <p:cNvPr id="180" name="edge:edge"/>
          <p:cNvCxnSpPr/>
          <p:nvPr/>
        </p:nvCxnSpPr>
        <p:spPr>
          <a:xfrm>
            <a:off x="5284119" y="6251229"/>
            <a:ext cx="83627" cy="0"/>
          </a:xfrm>
          <a:prstGeom prst="line">
            <a:avLst/>
          </a:prstGeom>
          <a:ln w="13716">
            <a:solidFill>
              <a:srgbClr val="1319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edge:edge"/>
          <p:cNvCxnSpPr/>
          <p:nvPr/>
        </p:nvCxnSpPr>
        <p:spPr>
          <a:xfrm>
            <a:off x="6283934" y="6251229"/>
            <a:ext cx="66902" cy="0"/>
          </a:xfrm>
          <a:prstGeom prst="line">
            <a:avLst/>
          </a:prstGeom>
          <a:ln w="13716">
            <a:solidFill>
              <a:srgbClr val="1319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edge:edge"/>
          <p:cNvCxnSpPr/>
          <p:nvPr/>
        </p:nvCxnSpPr>
        <p:spPr>
          <a:xfrm>
            <a:off x="9746119" y="7037328"/>
            <a:ext cx="652295" cy="0"/>
          </a:xfrm>
          <a:prstGeom prst="line">
            <a:avLst/>
          </a:prstGeom>
          <a:ln w="13716">
            <a:solidFill>
              <a:srgbClr val="1319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edge:edge"/>
          <p:cNvCxnSpPr/>
          <p:nvPr/>
        </p:nvCxnSpPr>
        <p:spPr>
          <a:xfrm flipV="1">
            <a:off x="10398414" y="6201052"/>
            <a:ext cx="0" cy="836276"/>
          </a:xfrm>
          <a:prstGeom prst="line">
            <a:avLst/>
          </a:prstGeom>
          <a:ln w="13716">
            <a:solidFill>
              <a:srgbClr val="1319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edge:edge"/>
          <p:cNvCxnSpPr/>
          <p:nvPr/>
        </p:nvCxnSpPr>
        <p:spPr>
          <a:xfrm flipV="1">
            <a:off x="10398414" y="4244165"/>
            <a:ext cx="0" cy="1655827"/>
          </a:xfrm>
          <a:prstGeom prst="line">
            <a:avLst/>
          </a:prstGeom>
          <a:ln w="13716">
            <a:solidFill>
              <a:srgbClr val="1319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edge:edge"/>
          <p:cNvCxnSpPr/>
          <p:nvPr/>
        </p:nvCxnSpPr>
        <p:spPr>
          <a:xfrm>
            <a:off x="10398414" y="4244165"/>
            <a:ext cx="551942" cy="0"/>
          </a:xfrm>
          <a:prstGeom prst="line">
            <a:avLst/>
          </a:prstGeom>
          <a:ln w="13716">
            <a:solidFill>
              <a:srgbClr val="1319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edge:edge"/>
          <p:cNvCxnSpPr/>
          <p:nvPr/>
        </p:nvCxnSpPr>
        <p:spPr>
          <a:xfrm flipH="1">
            <a:off x="10498767" y="7104231"/>
            <a:ext cx="468314" cy="0"/>
          </a:xfrm>
          <a:prstGeom prst="line">
            <a:avLst/>
          </a:prstGeom>
          <a:ln w="13716">
            <a:solidFill>
              <a:srgbClr val="1319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edge:edge"/>
          <p:cNvCxnSpPr/>
          <p:nvPr/>
        </p:nvCxnSpPr>
        <p:spPr>
          <a:xfrm>
            <a:off x="10498767" y="7104231"/>
            <a:ext cx="0" cy="133804"/>
          </a:xfrm>
          <a:prstGeom prst="line">
            <a:avLst/>
          </a:prstGeom>
          <a:ln w="13716">
            <a:solidFill>
              <a:srgbClr val="1319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edge:edge"/>
          <p:cNvCxnSpPr/>
          <p:nvPr/>
        </p:nvCxnSpPr>
        <p:spPr>
          <a:xfrm>
            <a:off x="10498767" y="7539094"/>
            <a:ext cx="0" cy="719197"/>
          </a:xfrm>
          <a:prstGeom prst="line">
            <a:avLst/>
          </a:prstGeom>
          <a:ln w="13716">
            <a:solidFill>
              <a:srgbClr val="1319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edge:edge"/>
          <p:cNvCxnSpPr/>
          <p:nvPr/>
        </p:nvCxnSpPr>
        <p:spPr>
          <a:xfrm flipH="1">
            <a:off x="9846472" y="8258292"/>
            <a:ext cx="652295" cy="0"/>
          </a:xfrm>
          <a:prstGeom prst="line">
            <a:avLst/>
          </a:prstGeom>
          <a:ln w="13716">
            <a:solidFill>
              <a:srgbClr val="1319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box:chip"/>
          <p:cNvSpPr/>
          <p:nvPr/>
        </p:nvSpPr>
        <p:spPr>
          <a:xfrm>
            <a:off x="10038816" y="7238035"/>
            <a:ext cx="919904" cy="301059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144">
            <a:solidFill>
              <a:srgbClr val="131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:t-chip"/>
          <p:cNvSpPr txBox="1"/>
          <p:nvPr/>
        </p:nvSpPr>
        <p:spPr>
          <a:xfrm>
            <a:off x="10310605" y="7334541"/>
            <a:ext cx="376323" cy="1204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10" b="1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분석 결과</a:t>
            </a:r>
          </a:p>
        </p:txBody>
      </p:sp>
      <p:sp>
        <p:nvSpPr>
          <p:cNvPr id="196" name="arrowhead"/>
          <p:cNvSpPr/>
          <p:nvPr/>
        </p:nvSpPr>
        <p:spPr>
          <a:xfrm>
            <a:off x="9746119" y="8208116"/>
            <a:ext cx="100353" cy="100353"/>
          </a:xfrm>
          <a:custGeom>
            <a:avLst/>
            <a:gdLst/>
            <a:ahLst/>
            <a:cxnLst/>
            <a:rect l="l" t="t" r="r" b="b"/>
            <a:pathLst>
              <a:path w="102870" h="102870">
                <a:moveTo>
                  <a:pt x="0" y="51435"/>
                </a:moveTo>
                <a:lnTo>
                  <a:pt x="102870" y="0"/>
                </a:lnTo>
                <a:lnTo>
                  <a:pt x="102870" y="102870"/>
                </a:lnTo>
                <a:close/>
              </a:path>
            </a:pathLst>
          </a:custGeom>
          <a:solidFill>
            <a:srgbClr val="13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7" name="edge:edge-h"/>
          <p:cNvCxnSpPr/>
          <p:nvPr/>
        </p:nvCxnSpPr>
        <p:spPr>
          <a:xfrm>
            <a:off x="9746119" y="8442273"/>
            <a:ext cx="301059" cy="0"/>
          </a:xfrm>
          <a:prstGeom prst="line">
            <a:avLst/>
          </a:prstGeom>
          <a:ln w="18859">
            <a:solidFill>
              <a:srgbClr val="8A641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edge:edge-h"/>
          <p:cNvCxnSpPr/>
          <p:nvPr/>
        </p:nvCxnSpPr>
        <p:spPr>
          <a:xfrm flipV="1">
            <a:off x="10047178" y="2772318"/>
            <a:ext cx="0" cy="5669954"/>
          </a:xfrm>
          <a:prstGeom prst="line">
            <a:avLst/>
          </a:prstGeom>
          <a:ln w="18859">
            <a:solidFill>
              <a:srgbClr val="8A6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edge:edge-h"/>
          <p:cNvCxnSpPr/>
          <p:nvPr/>
        </p:nvCxnSpPr>
        <p:spPr>
          <a:xfrm flipH="1">
            <a:off x="9762844" y="2772318"/>
            <a:ext cx="284334" cy="0"/>
          </a:xfrm>
          <a:prstGeom prst="line">
            <a:avLst/>
          </a:prstGeom>
          <a:ln w="18859">
            <a:solidFill>
              <a:srgbClr val="8A64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:t-acc"/>
          <p:cNvSpPr txBox="1"/>
          <p:nvPr/>
        </p:nvSpPr>
        <p:spPr>
          <a:xfrm>
            <a:off x="9364460" y="5292054"/>
            <a:ext cx="627708" cy="1204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10" b="0" spc="0" dirty="0">
                <a:solidFill>
                  <a:srgbClr val="8A6410"/>
                </a:solidFill>
                <a:latin typeface="Pretendard"/>
                <a:ea typeface="Pretendard"/>
                <a:cs typeface="Pretendard"/>
              </a:rPr>
              <a:t>위험 검토 · 감독</a:t>
            </a:r>
          </a:p>
        </p:txBody>
      </p:sp>
      <p:sp>
        <p:nvSpPr>
          <p:cNvPr id="188" name="box:chip"/>
          <p:cNvSpPr/>
          <p:nvPr/>
        </p:nvSpPr>
        <p:spPr>
          <a:xfrm>
            <a:off x="9879923" y="5899992"/>
            <a:ext cx="1036982" cy="301059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144">
            <a:solidFill>
              <a:srgbClr val="131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:t-chip"/>
          <p:cNvSpPr txBox="1"/>
          <p:nvPr/>
        </p:nvSpPr>
        <p:spPr>
          <a:xfrm>
            <a:off x="10210252" y="5996499"/>
            <a:ext cx="376323" cy="1204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10" b="1" spc="0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분석 대상</a:t>
            </a:r>
          </a:p>
        </p:txBody>
      </p:sp>
      <p:cxnSp>
        <p:nvCxnSpPr>
          <p:cNvPr id="206" name="edge:edge">
            <a:extLst>
              <a:ext uri="{FF2B5EF4-FFF2-40B4-BE49-F238E27FC236}">
                <a16:creationId xmlns:a16="http://schemas.microsoft.com/office/drawing/2014/main" id="{CD971798-3012-D167-5367-CDF4769F2F58}"/>
              </a:ext>
            </a:extLst>
          </p:cNvPr>
          <p:cNvCxnSpPr/>
          <p:nvPr/>
        </p:nvCxnSpPr>
        <p:spPr>
          <a:xfrm>
            <a:off x="6203177" y="6251229"/>
            <a:ext cx="83627" cy="0"/>
          </a:xfrm>
          <a:prstGeom prst="line">
            <a:avLst/>
          </a:prstGeom>
          <a:ln w="13716">
            <a:solidFill>
              <a:srgbClr val="1319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box:chip"/>
          <p:cNvSpPr/>
          <p:nvPr/>
        </p:nvSpPr>
        <p:spPr>
          <a:xfrm>
            <a:off x="5351021" y="6100699"/>
            <a:ext cx="886453" cy="301059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144">
            <a:solidFill>
              <a:srgbClr val="131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:t-chip"/>
          <p:cNvSpPr txBox="1"/>
          <p:nvPr/>
        </p:nvSpPr>
        <p:spPr>
          <a:xfrm>
            <a:off x="5615716" y="6190428"/>
            <a:ext cx="376323" cy="121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10" b="1" spc="0" dirty="0" err="1">
                <a:solidFill>
                  <a:srgbClr val="131922"/>
                </a:solidFill>
                <a:latin typeface="Pretendard"/>
                <a:ea typeface="Pretendard"/>
                <a:cs typeface="Pretendard"/>
              </a:rPr>
              <a:t>파일 사본</a:t>
            </a:r>
            <a:endParaRPr sz="810" b="1" spc="0" dirty="0">
              <a:solidFill>
                <a:srgbClr val="1319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07" name="text:t-scr"/>
          <p:cNvSpPr txBox="1"/>
          <p:nvPr/>
        </p:nvSpPr>
        <p:spPr>
          <a:xfrm>
            <a:off x="3069820" y="4374042"/>
            <a:ext cx="340134" cy="110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0">
                <a:solidFill>
                  <a:srgbClr val="59647A"/>
                </a:solidFill>
                <a:latin typeface="Pretendard"/>
                <a:ea typeface="Pretendard"/>
              </a:rPr>
              <a:t>변경 감지</a:t>
            </a:r>
          </a:p>
        </p:txBody>
      </p:sp>
      <p:sp>
        <p:nvSpPr>
          <p:cNvPr id="208" name="text:t-scr"/>
          <p:cNvSpPr txBox="1"/>
          <p:nvPr/>
        </p:nvSpPr>
        <p:spPr>
          <a:xfrm>
            <a:off x="3914458" y="4374042"/>
            <a:ext cx="340134" cy="110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0">
                <a:solidFill>
                  <a:srgbClr val="59647A"/>
                </a:solidFill>
                <a:latin typeface="Pretendard"/>
                <a:ea typeface="Pretendard"/>
              </a:rPr>
              <a:t>변경 감지</a:t>
            </a:r>
          </a:p>
        </p:txBody>
      </p:sp>
      <p:sp>
        <p:nvSpPr>
          <p:cNvPr id="209" name="text:t-scr"/>
          <p:cNvSpPr txBox="1"/>
          <p:nvPr/>
        </p:nvSpPr>
        <p:spPr>
          <a:xfrm>
            <a:off x="4759098" y="4374042"/>
            <a:ext cx="340134" cy="110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0">
                <a:solidFill>
                  <a:srgbClr val="59647A"/>
                </a:solidFill>
                <a:latin typeface="Pretendard"/>
                <a:ea typeface="Pretendard"/>
              </a:rPr>
              <a:t>변경 감지</a:t>
            </a:r>
          </a:p>
        </p:txBody>
      </p:sp>
      <p:sp>
        <p:nvSpPr>
          <p:cNvPr id="211" name="Rounded Rectangle 5">
            <a:extLst>
              <a:ext uri="{FF2B5EF4-FFF2-40B4-BE49-F238E27FC236}">
                <a16:creationId xmlns:a16="http://schemas.microsoft.com/office/drawing/2014/main" id="{F3C57CC3-7DAF-1CC0-DB33-00B818EAC5DA}"/>
              </a:ext>
            </a:extLst>
          </p:cNvPr>
          <p:cNvSpPr/>
          <p:nvPr/>
        </p:nvSpPr>
        <p:spPr>
          <a:xfrm>
            <a:off x="14950440" y="9692640"/>
            <a:ext cx="2304288" cy="384048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Pretendard SemiBold"/>
              </a:rPr>
              <a:t>PAGE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1024128" y="1133856"/>
            <a:ext cx="50292" cy="274320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25296" y="111556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A59D1"/>
                </a:solidFill>
                <a:latin typeface="Pretendard SemiBold"/>
              </a:rPr>
              <a:t>01 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81328"/>
            <a:ext cx="16230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dirty="0">
                <a:solidFill>
                  <a:srgbClr val="222222"/>
                </a:solidFill>
                <a:latin typeface="Pretendard SemiBold"/>
              </a:rPr>
              <a:t>A.  연결과 추적 관리 — 지정 범위 한정 추적</a:t>
            </a:r>
          </a:p>
        </p:txBody>
      </p:sp>
      <p:sp>
        <p:nvSpPr>
          <p:cNvPr id="5" name="Rect 4"/>
          <p:cNvSpPr/>
          <p:nvPr/>
        </p:nvSpPr>
        <p:spPr>
          <a:xfrm>
            <a:off x="1024128" y="2331720"/>
            <a:ext cx="1623060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 5"/>
          <p:cNvSpPr/>
          <p:nvPr/>
        </p:nvSpPr>
        <p:spPr>
          <a:xfrm>
            <a:off x="14950440" y="9692640"/>
            <a:ext cx="2304288" cy="384048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05304" y="969264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 SemiBold"/>
              </a:rPr>
              <a:t>PAGE 06</a:t>
            </a:r>
          </a:p>
        </p:txBody>
      </p:sp>
      <p:sp>
        <p:nvSpPr>
          <p:cNvPr id="8" name="Rect 7"/>
          <p:cNvSpPr/>
          <p:nvPr/>
        </p:nvSpPr>
        <p:spPr>
          <a:xfrm>
            <a:off x="0" y="10186416"/>
            <a:ext cx="4818888" cy="100584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 8"/>
          <p:cNvSpPr/>
          <p:nvPr/>
        </p:nvSpPr>
        <p:spPr>
          <a:xfrm>
            <a:off x="1024128" y="2560320"/>
            <a:ext cx="16806672" cy="860000"/>
          </a:xfrm>
          <a:prstGeom prst="rect">
            <a:avLst/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 9"/>
          <p:cNvSpPr/>
          <p:nvPr/>
        </p:nvSpPr>
        <p:spPr>
          <a:xfrm>
            <a:off x="1024128" y="2560320"/>
            <a:ext cx="68580" cy="860000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44128" y="2560320"/>
            <a:ext cx="620000" cy="8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4000" b="1">
                <a:solidFill>
                  <a:srgbClr val="3A59D1"/>
                </a:solidFill>
                <a:latin typeface="Pretendard SemiBold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4128" y="2730320"/>
            <a:ext cx="800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Pretendard SemiBold"/>
              </a:rPr>
              <a:t>연결과 추적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4128" y="3180320"/>
            <a:ext cx="80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39393"/>
                </a:solidFill>
                <a:latin typeface="Pretendard"/>
              </a:rPr>
              <a:t>CONNECT &amp; TRACK   ·   소스를 고르고, 검증하고, 추적 대상으로 등록하는 구간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90800" y="2560320"/>
            <a:ext cx="3200000" cy="8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800" b="1">
                <a:solidFill>
                  <a:srgbClr val="3A59D1"/>
                </a:solidFill>
                <a:latin typeface="Pretendard SemiBold"/>
              </a:rPr>
              <a:t>A</a:t>
            </a:r>
            <a:r>
              <a:rPr sz="1400" b="0">
                <a:solidFill>
                  <a:srgbClr val="C6C6C6"/>
                </a:solidFill>
                <a:latin typeface="Pretendard"/>
              </a:rPr>
              <a:t>   ▸   </a:t>
            </a:r>
            <a:r>
              <a:rPr sz="1800" b="0">
                <a:solidFill>
                  <a:srgbClr val="C6C6C6"/>
                </a:solidFill>
                <a:latin typeface="Pretendard"/>
              </a:rPr>
              <a:t>B</a:t>
            </a:r>
            <a:r>
              <a:rPr sz="1400" b="0">
                <a:solidFill>
                  <a:srgbClr val="C6C6C6"/>
                </a:solidFill>
                <a:latin typeface="Pretendard"/>
              </a:rPr>
              <a:t>   ▸   </a:t>
            </a:r>
            <a:r>
              <a:rPr sz="1800" b="0">
                <a:solidFill>
                  <a:srgbClr val="C6C6C6"/>
                </a:solidFill>
                <a:latin typeface="Pretendard"/>
              </a:rPr>
              <a:t>C</a:t>
            </a:r>
          </a:p>
        </p:txBody>
      </p:sp>
      <p:sp>
        <p:nvSpPr>
          <p:cNvPr id="15" name="Rect 14"/>
          <p:cNvSpPr/>
          <p:nvPr/>
        </p:nvSpPr>
        <p:spPr>
          <a:xfrm>
            <a:off x="1024128" y="3700000"/>
            <a:ext cx="2451112" cy="31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 15"/>
          <p:cNvSpPr/>
          <p:nvPr/>
        </p:nvSpPr>
        <p:spPr>
          <a:xfrm>
            <a:off x="1969684" y="3960000"/>
            <a:ext cx="560000" cy="33000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69684" y="3960000"/>
            <a:ext cx="56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 SemiBold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460000"/>
            <a:ext cx="2451112" cy="4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222222"/>
                </a:solidFill>
                <a:latin typeface="Pretendard SemiBold"/>
              </a:rPr>
              <a:t>Google 로그인</a:t>
            </a:r>
          </a:p>
        </p:txBody>
      </p:sp>
      <p:sp>
        <p:nvSpPr>
          <p:cNvPr id="19" name="Rect 18"/>
          <p:cNvSpPr/>
          <p:nvPr/>
        </p:nvSpPr>
        <p:spPr>
          <a:xfrm>
            <a:off x="1949684" y="5000000"/>
            <a:ext cx="60000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64128" y="5150000"/>
            <a:ext cx="217111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dirty="0">
                <a:solidFill>
                  <a:srgbClr val="939393"/>
                </a:solidFill>
                <a:latin typeface="Pretendard"/>
              </a:rPr>
              <a:t>Google OIDC </a:t>
            </a:r>
            <a:r>
              <a:rPr sz="1300" b="0" dirty="0" err="1">
                <a:solidFill>
                  <a:srgbClr val="939393"/>
                </a:solidFill>
                <a:latin typeface="Pretendard"/>
              </a:rPr>
              <a:t>인증</a:t>
            </a:r>
            <a:endParaRPr sz="1300" b="0" dirty="0">
              <a:solidFill>
                <a:srgbClr val="939393"/>
              </a:solidFill>
              <a:latin typeface="Pretendar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64128" y="5500000"/>
            <a:ext cx="217111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939393"/>
                </a:solidFill>
                <a:latin typeface="Pretendard"/>
              </a:rPr>
              <a:t>신원 수립만 담당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4128" y="5850000"/>
            <a:ext cx="217111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939393"/>
                </a:solidFill>
                <a:latin typeface="Pretendard"/>
              </a:rPr>
              <a:t>로그인 ≠ 소스 접근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5240" y="3700000"/>
            <a:ext cx="420000" cy="31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24" name="Rect 23"/>
          <p:cNvSpPr/>
          <p:nvPr/>
        </p:nvSpPr>
        <p:spPr>
          <a:xfrm>
            <a:off x="3895240" y="3700000"/>
            <a:ext cx="2451112" cy="31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 24"/>
          <p:cNvSpPr/>
          <p:nvPr/>
        </p:nvSpPr>
        <p:spPr>
          <a:xfrm>
            <a:off x="4840796" y="3960000"/>
            <a:ext cx="560000" cy="33000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40796" y="3960000"/>
            <a:ext cx="56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 SemiBold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95240" y="4460000"/>
            <a:ext cx="2451112" cy="4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222222"/>
                </a:solidFill>
                <a:latin typeface="Pretendard SemiBold"/>
              </a:rPr>
              <a:t>Risk Workspace</a:t>
            </a:r>
          </a:p>
        </p:txBody>
      </p:sp>
      <p:sp>
        <p:nvSpPr>
          <p:cNvPr id="28" name="Rect 27"/>
          <p:cNvSpPr/>
          <p:nvPr/>
        </p:nvSpPr>
        <p:spPr>
          <a:xfrm>
            <a:off x="4820796" y="5000000"/>
            <a:ext cx="60000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035240" y="5150000"/>
            <a:ext cx="217111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939393"/>
                </a:solidFill>
                <a:latin typeface="Pretendard"/>
              </a:rPr>
              <a:t>생성 · 선택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35240" y="5500000"/>
            <a:ext cx="217111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939393"/>
                </a:solidFill>
                <a:latin typeface="Pretendard"/>
              </a:rPr>
              <a:t>리스크 · 이력 격리 단위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35240" y="5850000"/>
            <a:ext cx="217111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939393"/>
                </a:solidFill>
                <a:latin typeface="Pretendard"/>
              </a:rPr>
              <a:t>역할(RBAC) 4종 부여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6352" y="3700000"/>
            <a:ext cx="420000" cy="31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33" name="Rect 32"/>
          <p:cNvSpPr/>
          <p:nvPr/>
        </p:nvSpPr>
        <p:spPr>
          <a:xfrm>
            <a:off x="6766352" y="3700000"/>
            <a:ext cx="2451112" cy="3180000"/>
          </a:xfrm>
          <a:prstGeom prst="rect">
            <a:avLst/>
          </a:prstGeom>
          <a:solidFill>
            <a:srgbClr val="E4E7F2"/>
          </a:solidFill>
          <a:ln w="12700">
            <a:solidFill>
              <a:srgbClr val="3A5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 33"/>
          <p:cNvSpPr/>
          <p:nvPr/>
        </p:nvSpPr>
        <p:spPr>
          <a:xfrm>
            <a:off x="7711908" y="3960000"/>
            <a:ext cx="560000" cy="330000"/>
          </a:xfrm>
          <a:prstGeom prst="roundRect">
            <a:avLst>
              <a:gd name="adj" fmla="val 50000"/>
            </a:avLst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11908" y="3960000"/>
            <a:ext cx="56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 SemiBold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352" y="4460000"/>
            <a:ext cx="2451112" cy="4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3A59D1"/>
                </a:solidFill>
                <a:latin typeface="Pretendard SemiBold"/>
              </a:rPr>
              <a:t>Source 연결</a:t>
            </a:r>
          </a:p>
        </p:txBody>
      </p:sp>
      <p:sp>
        <p:nvSpPr>
          <p:cNvPr id="37" name="Rect 36"/>
          <p:cNvSpPr/>
          <p:nvPr/>
        </p:nvSpPr>
        <p:spPr>
          <a:xfrm>
            <a:off x="7691908" y="5000000"/>
            <a:ext cx="60000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06352" y="5150000"/>
            <a:ext cx="217111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939393"/>
                </a:solidFill>
                <a:latin typeface="Pretendard"/>
              </a:rPr>
              <a:t>Drive 폴더 공유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6352" y="5500000"/>
            <a:ext cx="217111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939393"/>
                </a:solidFill>
                <a:latin typeface="Pretendard"/>
              </a:rPr>
              <a:t>GitHub App 설치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6352" y="5850000"/>
            <a:ext cx="217111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939393"/>
                </a:solidFill>
                <a:latin typeface="Pretendard"/>
              </a:rPr>
              <a:t>내 PC 폴더 등록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6352" y="6200000"/>
            <a:ext cx="217111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939393"/>
                </a:solidFill>
                <a:latin typeface="Pretendard"/>
              </a:rPr>
              <a:t>Drive · 로컬 = 폴더, GitHub = 저장소 · 브랜치 · 경로 패턴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17464" y="3700000"/>
            <a:ext cx="420000" cy="31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43" name="Rect 42"/>
          <p:cNvSpPr/>
          <p:nvPr/>
        </p:nvSpPr>
        <p:spPr>
          <a:xfrm>
            <a:off x="9637464" y="3700000"/>
            <a:ext cx="2451112" cy="31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 43"/>
          <p:cNvSpPr/>
          <p:nvPr/>
        </p:nvSpPr>
        <p:spPr>
          <a:xfrm>
            <a:off x="10583020" y="3960000"/>
            <a:ext cx="560000" cy="33000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583020" y="3960000"/>
            <a:ext cx="56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 SemiBold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37464" y="4460000"/>
            <a:ext cx="2451112" cy="4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222222"/>
                </a:solidFill>
                <a:latin typeface="Pretendard SemiBold"/>
              </a:rPr>
              <a:t>서버 검증</a:t>
            </a:r>
          </a:p>
        </p:txBody>
      </p:sp>
      <p:sp>
        <p:nvSpPr>
          <p:cNvPr id="47" name="Rect 46"/>
          <p:cNvSpPr/>
          <p:nvPr/>
        </p:nvSpPr>
        <p:spPr>
          <a:xfrm>
            <a:off x="10563020" y="5000000"/>
            <a:ext cx="60000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777464" y="5150000"/>
            <a:ext cx="217111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939393"/>
                </a:solidFill>
                <a:latin typeface="Pretendard"/>
              </a:rPr>
              <a:t>폴더 여부 확인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77464" y="5500000"/>
            <a:ext cx="217111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939393"/>
                </a:solidFill>
                <a:latin typeface="Pretendard"/>
              </a:rPr>
              <a:t>읽기 가능 여부 확인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77464" y="5850000"/>
            <a:ext cx="217111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939393"/>
                </a:solidFill>
                <a:latin typeface="Pretendard"/>
              </a:rPr>
              <a:t>항목 수 응답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77464" y="6200000"/>
            <a:ext cx="217111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939393"/>
                </a:solidFill>
                <a:latin typeface="Pretendard"/>
              </a:rPr>
              <a:t>실패 시 연결 미생성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088576" y="3700000"/>
            <a:ext cx="420000" cy="31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53" name="Rect 52"/>
          <p:cNvSpPr/>
          <p:nvPr/>
        </p:nvSpPr>
        <p:spPr>
          <a:xfrm>
            <a:off x="12508576" y="3700000"/>
            <a:ext cx="2451112" cy="3180000"/>
          </a:xfrm>
          <a:prstGeom prst="rect">
            <a:avLst/>
          </a:prstGeom>
          <a:solidFill>
            <a:srgbClr val="E7F1EC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Rect 53"/>
          <p:cNvSpPr/>
          <p:nvPr/>
        </p:nvSpPr>
        <p:spPr>
          <a:xfrm>
            <a:off x="13454132" y="3960000"/>
            <a:ext cx="560000" cy="33000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3454132" y="3960000"/>
            <a:ext cx="56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 SemiBold"/>
              </a:rPr>
              <a:t>05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508576" y="4460000"/>
            <a:ext cx="2451112" cy="4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2E7D5B"/>
                </a:solidFill>
                <a:latin typeface="Pretendard SemiBold"/>
              </a:rPr>
              <a:t>Mount 활성</a:t>
            </a:r>
          </a:p>
        </p:txBody>
      </p:sp>
      <p:sp>
        <p:nvSpPr>
          <p:cNvPr id="57" name="Rect 56"/>
          <p:cNvSpPr/>
          <p:nvPr/>
        </p:nvSpPr>
        <p:spPr>
          <a:xfrm>
            <a:off x="13434132" y="5000000"/>
            <a:ext cx="60000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2648576" y="5150000"/>
            <a:ext cx="217111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939393"/>
                </a:solidFill>
                <a:latin typeface="Pretendard"/>
              </a:rPr>
              <a:t>추적 대상으로 등록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648576" y="5500000"/>
            <a:ext cx="217111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939393"/>
                </a:solidFill>
                <a:latin typeface="Pretendard"/>
              </a:rPr>
              <a:t>watch 채널 즉시 등록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648576" y="5850000"/>
            <a:ext cx="217111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939393"/>
                </a:solidFill>
                <a:latin typeface="Pretendard"/>
              </a:rPr>
              <a:t>이후 변경은 자동 감지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959688" y="3700000"/>
            <a:ext cx="420000" cy="31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62" name="Rect 61"/>
          <p:cNvSpPr/>
          <p:nvPr/>
        </p:nvSpPr>
        <p:spPr>
          <a:xfrm>
            <a:off x="15379688" y="3700000"/>
            <a:ext cx="2451112" cy="31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Rect 62"/>
          <p:cNvSpPr/>
          <p:nvPr/>
        </p:nvSpPr>
        <p:spPr>
          <a:xfrm>
            <a:off x="16325244" y="3960000"/>
            <a:ext cx="560000" cy="33000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6325244" y="3960000"/>
            <a:ext cx="56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 SemiBold"/>
              </a:rPr>
              <a:t>06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379688" y="4460000"/>
            <a:ext cx="2451112" cy="4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222222"/>
                </a:solidFill>
                <a:latin typeface="Pretendard SemiBold"/>
              </a:rPr>
              <a:t>초기 스캔</a:t>
            </a:r>
          </a:p>
        </p:txBody>
      </p:sp>
      <p:sp>
        <p:nvSpPr>
          <p:cNvPr id="66" name="Rect 65"/>
          <p:cNvSpPr/>
          <p:nvPr/>
        </p:nvSpPr>
        <p:spPr>
          <a:xfrm>
            <a:off x="16305244" y="5000000"/>
            <a:ext cx="60000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5519688" y="5150000"/>
            <a:ext cx="217111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939393"/>
                </a:solidFill>
                <a:latin typeface="Pretendard"/>
              </a:rPr>
              <a:t>재귀 탐색 · 상한 300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519688" y="5500000"/>
            <a:ext cx="217111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939393"/>
                </a:solidFill>
                <a:latin typeface="Pretendard"/>
              </a:rPr>
              <a:t>현재 상태를 기준선으로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519688" y="5850000"/>
            <a:ext cx="217111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939393"/>
                </a:solidFill>
                <a:latin typeface="Pretendard"/>
              </a:rPr>
              <a:t>잘리면 로그로 기록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4128" y="7180000"/>
            <a:ext cx="90000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22222"/>
                </a:solidFill>
                <a:latin typeface="Pretendard SemiBold"/>
              </a:rPr>
              <a:t>이 </a:t>
            </a:r>
            <a:r>
              <a:rPr lang="ko-KR" altLang="en-US" sz="1500" b="1" dirty="0">
                <a:solidFill>
                  <a:srgbClr val="222222"/>
                </a:solidFill>
                <a:latin typeface="Pretendard SemiBold"/>
              </a:rPr>
              <a:t>프로세스가</a:t>
            </a:r>
            <a:r>
              <a:rPr sz="1500" b="1" dirty="0">
                <a:solidFill>
                  <a:srgbClr val="222222"/>
                </a:solidFill>
                <a:latin typeface="Pretendard SemiBold"/>
              </a:rPr>
              <a:t> </a:t>
            </a:r>
            <a:r>
              <a:rPr sz="1500" b="1" dirty="0" err="1">
                <a:solidFill>
                  <a:srgbClr val="222222"/>
                </a:solidFill>
                <a:latin typeface="Pretendard SemiBold"/>
              </a:rPr>
              <a:t>보장하는</a:t>
            </a:r>
            <a:r>
              <a:rPr sz="1500" b="1" dirty="0">
                <a:solidFill>
                  <a:srgbClr val="222222"/>
                </a:solidFill>
                <a:latin typeface="Pretendard SemiBold"/>
              </a:rPr>
              <a:t> 것</a:t>
            </a:r>
            <a:r>
              <a:rPr sz="1300" b="0" dirty="0">
                <a:solidFill>
                  <a:srgbClr val="939393"/>
                </a:solidFill>
                <a:latin typeface="Pretendard"/>
              </a:rPr>
              <a:t>     GUARANTEES</a:t>
            </a:r>
          </a:p>
        </p:txBody>
      </p:sp>
      <p:sp>
        <p:nvSpPr>
          <p:cNvPr id="71" name="Rect 70"/>
          <p:cNvSpPr/>
          <p:nvPr/>
        </p:nvSpPr>
        <p:spPr>
          <a:xfrm>
            <a:off x="1024128" y="7580000"/>
            <a:ext cx="5335557" cy="1440000"/>
          </a:xfrm>
          <a:prstGeom prst="rect">
            <a:avLst/>
          </a:prstGeom>
          <a:solidFill>
            <a:srgbClr val="FCFCFC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364128" y="7820000"/>
            <a:ext cx="465555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600" b="1" dirty="0">
                <a:solidFill>
                  <a:srgbClr val="3A59D1"/>
                </a:solidFill>
                <a:latin typeface="Pretendard SemiBold"/>
              </a:rPr>
              <a:t>지정</a:t>
            </a:r>
            <a:r>
              <a:rPr sz="1600" b="1" dirty="0">
                <a:solidFill>
                  <a:srgbClr val="3A59D1"/>
                </a:solidFill>
                <a:latin typeface="Pretendard SemiBold"/>
              </a:rPr>
              <a:t> </a:t>
            </a:r>
            <a:r>
              <a:rPr sz="1600" b="1" dirty="0" err="1">
                <a:solidFill>
                  <a:srgbClr val="3A59D1"/>
                </a:solidFill>
                <a:latin typeface="Pretendard SemiBold"/>
              </a:rPr>
              <a:t>범위만</a:t>
            </a:r>
            <a:r>
              <a:rPr sz="1600" b="1" dirty="0">
                <a:solidFill>
                  <a:srgbClr val="3A59D1"/>
                </a:solidFill>
                <a:latin typeface="Pretendard SemiBold"/>
              </a:rPr>
              <a:t> </a:t>
            </a:r>
            <a:r>
              <a:rPr sz="1600" b="1" dirty="0" err="1">
                <a:solidFill>
                  <a:srgbClr val="3A59D1"/>
                </a:solidFill>
                <a:latin typeface="Pretendard SemiBold"/>
              </a:rPr>
              <a:t>수집</a:t>
            </a:r>
            <a:endParaRPr sz="1600" b="1" dirty="0">
              <a:solidFill>
                <a:srgbClr val="3A59D1"/>
              </a:solidFill>
              <a:latin typeface="Pretendard SemiBold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364128" y="8320000"/>
            <a:ext cx="4655557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 err="1">
                <a:solidFill>
                  <a:srgbClr val="939393"/>
                </a:solidFill>
                <a:latin typeface="Pretendard"/>
              </a:rPr>
              <a:t>폴더</a:t>
            </a:r>
            <a:r>
              <a:rPr sz="1300" b="0" dirty="0">
                <a:solidFill>
                  <a:srgbClr val="939393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939393"/>
                </a:solidFill>
                <a:latin typeface="Pretendard"/>
              </a:rPr>
              <a:t>단위로</a:t>
            </a:r>
            <a:r>
              <a:rPr sz="1300" b="0" dirty="0">
                <a:solidFill>
                  <a:srgbClr val="939393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939393"/>
                </a:solidFill>
                <a:latin typeface="Pretendard"/>
              </a:rPr>
              <a:t>사용자가</a:t>
            </a:r>
            <a:r>
              <a:rPr sz="1300" b="0" dirty="0">
                <a:solidFill>
                  <a:srgbClr val="939393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939393"/>
                </a:solidFill>
                <a:latin typeface="Pretendard"/>
              </a:rPr>
              <a:t>직접</a:t>
            </a:r>
            <a:r>
              <a:rPr sz="1300" b="0" dirty="0">
                <a:solidFill>
                  <a:srgbClr val="939393"/>
                </a:solidFill>
                <a:latin typeface="Pretendard"/>
              </a:rPr>
              <a:t> </a:t>
            </a:r>
            <a:r>
              <a:rPr lang="ko-KR" altLang="en-US" sz="1300" dirty="0">
                <a:solidFill>
                  <a:srgbClr val="939393"/>
                </a:solidFill>
                <a:latin typeface="Pretendard"/>
              </a:rPr>
              <a:t>지정하며</a:t>
            </a:r>
            <a:r>
              <a:rPr sz="1300" b="0" dirty="0">
                <a:solidFill>
                  <a:srgbClr val="939393"/>
                </a:solidFill>
                <a:latin typeface="Pretendard"/>
              </a:rPr>
              <a:t>,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64128" y="8620000"/>
            <a:ext cx="4655557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b="0" dirty="0">
                <a:solidFill>
                  <a:srgbClr val="939393"/>
                </a:solidFill>
                <a:latin typeface="Pretendard"/>
              </a:rPr>
              <a:t>그 외의 </a:t>
            </a:r>
            <a:r>
              <a:rPr sz="1300" b="0" dirty="0" err="1">
                <a:solidFill>
                  <a:srgbClr val="939393"/>
                </a:solidFill>
                <a:latin typeface="Pretendard"/>
              </a:rPr>
              <a:t>범위는</a:t>
            </a:r>
            <a:r>
              <a:rPr sz="1300" b="0" dirty="0">
                <a:solidFill>
                  <a:srgbClr val="939393"/>
                </a:solidFill>
                <a:latin typeface="Pretendard"/>
              </a:rPr>
              <a:t> </a:t>
            </a:r>
            <a:r>
              <a:rPr lang="ko-KR" altLang="en-US" sz="1300" b="0" dirty="0">
                <a:solidFill>
                  <a:srgbClr val="939393"/>
                </a:solidFill>
                <a:latin typeface="Pretendard"/>
              </a:rPr>
              <a:t>관여되지 않습니다</a:t>
            </a:r>
            <a:r>
              <a:rPr lang="en-US" altLang="ko-KR" sz="1300" b="0" dirty="0">
                <a:solidFill>
                  <a:srgbClr val="939393"/>
                </a:solidFill>
                <a:latin typeface="Pretendard"/>
              </a:rPr>
              <a:t>.</a:t>
            </a:r>
            <a:endParaRPr sz="1300" b="0" dirty="0">
              <a:solidFill>
                <a:srgbClr val="939393"/>
              </a:solidFill>
              <a:latin typeface="Pretendard"/>
            </a:endParaRPr>
          </a:p>
        </p:txBody>
      </p:sp>
      <p:sp>
        <p:nvSpPr>
          <p:cNvPr id="75" name="Rect 74"/>
          <p:cNvSpPr/>
          <p:nvPr/>
        </p:nvSpPr>
        <p:spPr>
          <a:xfrm>
            <a:off x="6759685" y="7580000"/>
            <a:ext cx="5335557" cy="1440000"/>
          </a:xfrm>
          <a:prstGeom prst="rect">
            <a:avLst/>
          </a:prstGeom>
          <a:solidFill>
            <a:srgbClr val="FCFCFC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099685" y="7820000"/>
            <a:ext cx="465555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 err="1">
                <a:solidFill>
                  <a:srgbClr val="222222"/>
                </a:solidFill>
                <a:latin typeface="Pretendard SemiBold"/>
              </a:rPr>
              <a:t>검증</a:t>
            </a:r>
            <a:r>
              <a:rPr lang="ko-KR" altLang="en-US" sz="1600" b="1" dirty="0">
                <a:solidFill>
                  <a:srgbClr val="222222"/>
                </a:solidFill>
                <a:latin typeface="Pretendard SemiBold"/>
              </a:rPr>
              <a:t>된 연결만 유지해 보안 확보</a:t>
            </a:r>
            <a:endParaRPr sz="1600" b="1" dirty="0">
              <a:solidFill>
                <a:srgbClr val="222222"/>
              </a:solidFill>
              <a:latin typeface="Pretendard SemiBold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099685" y="8320000"/>
            <a:ext cx="4655557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 err="1">
                <a:solidFill>
                  <a:srgbClr val="939393"/>
                </a:solidFill>
                <a:latin typeface="Pretendard"/>
              </a:rPr>
              <a:t>서버가</a:t>
            </a:r>
            <a:r>
              <a:rPr sz="1300" b="0" dirty="0">
                <a:solidFill>
                  <a:srgbClr val="939393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939393"/>
                </a:solidFill>
                <a:latin typeface="Pretendard"/>
              </a:rPr>
              <a:t>폴더</a:t>
            </a:r>
            <a:r>
              <a:rPr sz="1300" b="0" dirty="0">
                <a:solidFill>
                  <a:srgbClr val="939393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939393"/>
                </a:solidFill>
                <a:latin typeface="Pretendard"/>
              </a:rPr>
              <a:t>여부</a:t>
            </a:r>
            <a:r>
              <a:rPr sz="1300" b="0" dirty="0">
                <a:solidFill>
                  <a:srgbClr val="939393"/>
                </a:solidFill>
                <a:latin typeface="Pretendard"/>
              </a:rPr>
              <a:t> · </a:t>
            </a:r>
            <a:r>
              <a:rPr sz="1300" b="0" dirty="0" err="1">
                <a:solidFill>
                  <a:srgbClr val="939393"/>
                </a:solidFill>
                <a:latin typeface="Pretendard"/>
              </a:rPr>
              <a:t>읽기</a:t>
            </a:r>
            <a:r>
              <a:rPr sz="1300" b="0" dirty="0">
                <a:solidFill>
                  <a:srgbClr val="939393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939393"/>
                </a:solidFill>
                <a:latin typeface="Pretendard"/>
              </a:rPr>
              <a:t>권한</a:t>
            </a:r>
            <a:r>
              <a:rPr sz="1300" b="0" dirty="0">
                <a:solidFill>
                  <a:srgbClr val="939393"/>
                </a:solidFill>
                <a:latin typeface="Pretendard"/>
              </a:rPr>
              <a:t> · </a:t>
            </a:r>
            <a:r>
              <a:rPr sz="1300" b="0" dirty="0" err="1">
                <a:solidFill>
                  <a:srgbClr val="939393"/>
                </a:solidFill>
                <a:latin typeface="Pretendard"/>
              </a:rPr>
              <a:t>항목</a:t>
            </a:r>
            <a:r>
              <a:rPr sz="1300" b="0" dirty="0">
                <a:solidFill>
                  <a:srgbClr val="939393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939393"/>
                </a:solidFill>
                <a:latin typeface="Pretendard"/>
              </a:rPr>
              <a:t>수를</a:t>
            </a:r>
            <a:r>
              <a:rPr sz="1300" b="0" dirty="0">
                <a:solidFill>
                  <a:srgbClr val="939393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939393"/>
                </a:solidFill>
                <a:latin typeface="Pretendard"/>
              </a:rPr>
              <a:t>확인한</a:t>
            </a:r>
            <a:r>
              <a:rPr lang="en-US" sz="1300" b="0" dirty="0">
                <a:solidFill>
                  <a:srgbClr val="939393"/>
                </a:solidFill>
                <a:latin typeface="Pretendard"/>
              </a:rPr>
              <a:t> </a:t>
            </a:r>
            <a:r>
              <a:rPr lang="ko-KR" altLang="en-US" sz="1300" b="0" dirty="0">
                <a:solidFill>
                  <a:srgbClr val="939393"/>
                </a:solidFill>
                <a:latin typeface="Pretendard"/>
              </a:rPr>
              <a:t>뒤에만</a:t>
            </a:r>
            <a:endParaRPr sz="1300" b="0" dirty="0">
              <a:solidFill>
                <a:srgbClr val="939393"/>
              </a:solidFill>
              <a:latin typeface="Pretendard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099685" y="8620000"/>
            <a:ext cx="4655557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939393"/>
                </a:solidFill>
                <a:latin typeface="Pretendard"/>
              </a:rPr>
              <a:t>Mount 가 </a:t>
            </a:r>
            <a:r>
              <a:rPr sz="1300" b="0" dirty="0" err="1">
                <a:solidFill>
                  <a:srgbClr val="939393"/>
                </a:solidFill>
                <a:latin typeface="Pretendard"/>
              </a:rPr>
              <a:t>활성화</a:t>
            </a:r>
            <a:r>
              <a:rPr lang="ko-KR" altLang="en-US" sz="1300" b="0" dirty="0">
                <a:solidFill>
                  <a:srgbClr val="939393"/>
                </a:solidFill>
                <a:latin typeface="Pretendard"/>
              </a:rPr>
              <a:t>되어 보안이 유지됩니다</a:t>
            </a:r>
            <a:r>
              <a:rPr lang="en-US" altLang="ko-KR" sz="1300" b="0" dirty="0">
                <a:solidFill>
                  <a:srgbClr val="939393"/>
                </a:solidFill>
                <a:latin typeface="Pretendard"/>
              </a:rPr>
              <a:t>.</a:t>
            </a:r>
            <a:r>
              <a:rPr lang="ko-KR" altLang="en-US" sz="1300" b="0" dirty="0">
                <a:solidFill>
                  <a:srgbClr val="939393"/>
                </a:solidFill>
                <a:latin typeface="Pretendard"/>
              </a:rPr>
              <a:t> </a:t>
            </a:r>
            <a:endParaRPr sz="1300" b="0" dirty="0">
              <a:solidFill>
                <a:srgbClr val="939393"/>
              </a:solidFill>
              <a:latin typeface="Pretendard"/>
            </a:endParaRPr>
          </a:p>
        </p:txBody>
      </p:sp>
      <p:sp>
        <p:nvSpPr>
          <p:cNvPr id="79" name="Rect 78"/>
          <p:cNvSpPr/>
          <p:nvPr/>
        </p:nvSpPr>
        <p:spPr>
          <a:xfrm>
            <a:off x="12495242" y="7580000"/>
            <a:ext cx="5335557" cy="1440000"/>
          </a:xfrm>
          <a:prstGeom prst="rect">
            <a:avLst/>
          </a:prstGeom>
          <a:solidFill>
            <a:srgbClr val="FCFCFC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2835242" y="7820000"/>
            <a:ext cx="465555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 err="1">
                <a:solidFill>
                  <a:srgbClr val="2E7D5B"/>
                </a:solidFill>
                <a:latin typeface="Pretendard SemiBold"/>
              </a:rPr>
              <a:t>추적은</a:t>
            </a:r>
            <a:r>
              <a:rPr sz="1600" b="1" dirty="0">
                <a:solidFill>
                  <a:srgbClr val="2E7D5B"/>
                </a:solidFill>
                <a:latin typeface="Pretendard SemiBold"/>
              </a:rPr>
              <a:t> </a:t>
            </a:r>
            <a:r>
              <a:rPr sz="1600" b="1" dirty="0" err="1">
                <a:solidFill>
                  <a:srgbClr val="2E7D5B"/>
                </a:solidFill>
                <a:latin typeface="Pretendard SemiBold"/>
              </a:rPr>
              <a:t>등록</a:t>
            </a:r>
            <a:r>
              <a:rPr sz="1600" b="1" dirty="0">
                <a:solidFill>
                  <a:srgbClr val="2E7D5B"/>
                </a:solidFill>
                <a:latin typeface="Pretendard SemiBold"/>
              </a:rPr>
              <a:t> </a:t>
            </a:r>
            <a:r>
              <a:rPr sz="1600" b="1" dirty="0" err="1">
                <a:solidFill>
                  <a:srgbClr val="2E7D5B"/>
                </a:solidFill>
                <a:latin typeface="Pretendard SemiBold"/>
              </a:rPr>
              <a:t>즉시</a:t>
            </a:r>
            <a:r>
              <a:rPr sz="1600" b="1" dirty="0">
                <a:solidFill>
                  <a:srgbClr val="2E7D5B"/>
                </a:solidFill>
                <a:latin typeface="Pretendard SemiBold"/>
              </a:rPr>
              <a:t> </a:t>
            </a:r>
            <a:r>
              <a:rPr sz="1600" b="1" dirty="0" err="1">
                <a:solidFill>
                  <a:srgbClr val="2E7D5B"/>
                </a:solidFill>
                <a:latin typeface="Pretendard SemiBold"/>
              </a:rPr>
              <a:t>시작</a:t>
            </a:r>
            <a:endParaRPr sz="1600" b="1" dirty="0">
              <a:solidFill>
                <a:srgbClr val="2E7D5B"/>
              </a:solidFill>
              <a:latin typeface="Pretendard SemiBold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2835242" y="8320000"/>
            <a:ext cx="4655557" cy="2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939393"/>
                </a:solidFill>
                <a:latin typeface="Pretendard"/>
              </a:rPr>
              <a:t>Mount </a:t>
            </a:r>
            <a:r>
              <a:rPr sz="1300" b="0" dirty="0" err="1">
                <a:solidFill>
                  <a:srgbClr val="939393"/>
                </a:solidFill>
                <a:latin typeface="Pretendard"/>
              </a:rPr>
              <a:t>활성과</a:t>
            </a:r>
            <a:r>
              <a:rPr sz="1300" b="0" dirty="0">
                <a:solidFill>
                  <a:srgbClr val="939393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939393"/>
                </a:solidFill>
                <a:latin typeface="Pretendard"/>
              </a:rPr>
              <a:t>동시에</a:t>
            </a:r>
            <a:r>
              <a:rPr sz="1300" b="0" dirty="0">
                <a:solidFill>
                  <a:srgbClr val="939393"/>
                </a:solidFill>
                <a:latin typeface="Pretendard"/>
              </a:rPr>
              <a:t> watch </a:t>
            </a:r>
            <a:r>
              <a:rPr sz="1300" b="0" dirty="0" err="1">
                <a:solidFill>
                  <a:srgbClr val="939393"/>
                </a:solidFill>
                <a:latin typeface="Pretendard"/>
              </a:rPr>
              <a:t>채널을</a:t>
            </a:r>
            <a:r>
              <a:rPr sz="1300" b="0" dirty="0">
                <a:solidFill>
                  <a:srgbClr val="939393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939393"/>
                </a:solidFill>
                <a:latin typeface="Pretendard"/>
              </a:rPr>
              <a:t>등록하고</a:t>
            </a:r>
            <a:r>
              <a:rPr sz="1300" b="0" dirty="0">
                <a:solidFill>
                  <a:srgbClr val="939393"/>
                </a:solidFill>
                <a:latin typeface="Pretendard"/>
              </a:rPr>
              <a:t>,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835242" y="8620000"/>
            <a:ext cx="4655557" cy="2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39393"/>
                </a:solidFill>
                <a:latin typeface="Pretendard"/>
              </a:rPr>
              <a:t>초기 스캔으로 현재 상태의 기준선을 만듭니다</a:t>
            </a:r>
          </a:p>
        </p:txBody>
      </p:sp>
      <p:sp>
        <p:nvSpPr>
          <p:cNvPr id="83" name="TextBox X0"/>
          <p:cNvSpPr txBox="1"/>
          <p:nvPr/>
        </p:nvSpPr>
        <p:spPr>
          <a:xfrm>
            <a:off x="1164128" y="6200000"/>
            <a:ext cx="217111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939393"/>
                </a:solidFill>
                <a:latin typeface="Pretendard"/>
              </a:rPr>
              <a:t>provider 권한은 별도</a:t>
            </a:r>
          </a:p>
        </p:txBody>
      </p:sp>
      <p:sp>
        <p:nvSpPr>
          <p:cNvPr id="84" name="TextBox X1"/>
          <p:cNvSpPr txBox="1"/>
          <p:nvPr/>
        </p:nvSpPr>
        <p:spPr>
          <a:xfrm>
            <a:off x="4035240" y="6200000"/>
            <a:ext cx="217111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939393"/>
                </a:solidFill>
                <a:latin typeface="Pretendard"/>
              </a:rPr>
              <a:t>멤버 초대 · 역할 변경</a:t>
            </a:r>
          </a:p>
        </p:txBody>
      </p:sp>
      <p:sp>
        <p:nvSpPr>
          <p:cNvPr id="85" name="TextBox X4"/>
          <p:cNvSpPr txBox="1"/>
          <p:nvPr/>
        </p:nvSpPr>
        <p:spPr>
          <a:xfrm>
            <a:off x="12648576" y="6200000"/>
            <a:ext cx="217111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939393"/>
                </a:solidFill>
                <a:latin typeface="Pretendard"/>
              </a:rPr>
              <a:t>Mount = 추적의 단위</a:t>
            </a:r>
          </a:p>
        </p:txBody>
      </p:sp>
      <p:sp>
        <p:nvSpPr>
          <p:cNvPr id="86" name="TextBox X5"/>
          <p:cNvSpPr txBox="1"/>
          <p:nvPr/>
        </p:nvSpPr>
        <p:spPr>
          <a:xfrm>
            <a:off x="15519688" y="6200000"/>
            <a:ext cx="2171112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939393"/>
                </a:solidFill>
                <a:latin typeface="Pretendard"/>
              </a:rPr>
              <a:t>이후엔 변경분만 재분석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1024128" y="1133856"/>
            <a:ext cx="50292" cy="274320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25296" y="111556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A59D1"/>
                </a:solidFill>
                <a:latin typeface="Pretendard SemiBold"/>
              </a:rPr>
              <a:t>01 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81328"/>
            <a:ext cx="16230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dirty="0">
                <a:solidFill>
                  <a:srgbClr val="222222"/>
                </a:solidFill>
                <a:latin typeface="Pretendard SemiBold"/>
              </a:rPr>
              <a:t>B.  감지와 분석 — 변경 단위 근거 기반 판정</a:t>
            </a:r>
          </a:p>
        </p:txBody>
      </p:sp>
      <p:sp>
        <p:nvSpPr>
          <p:cNvPr id="5" name="Rect 4"/>
          <p:cNvSpPr/>
          <p:nvPr/>
        </p:nvSpPr>
        <p:spPr>
          <a:xfrm>
            <a:off x="1024128" y="2331720"/>
            <a:ext cx="1623060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 5"/>
          <p:cNvSpPr/>
          <p:nvPr/>
        </p:nvSpPr>
        <p:spPr>
          <a:xfrm>
            <a:off x="14950440" y="9692640"/>
            <a:ext cx="2304288" cy="384048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05304" y="969264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 SemiBold"/>
              </a:rPr>
              <a:t>PAGE 07</a:t>
            </a:r>
          </a:p>
        </p:txBody>
      </p:sp>
      <p:sp>
        <p:nvSpPr>
          <p:cNvPr id="8" name="Rect 7"/>
          <p:cNvSpPr/>
          <p:nvPr/>
        </p:nvSpPr>
        <p:spPr>
          <a:xfrm>
            <a:off x="0" y="10186416"/>
            <a:ext cx="4818888" cy="100584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 8"/>
          <p:cNvSpPr/>
          <p:nvPr/>
        </p:nvSpPr>
        <p:spPr>
          <a:xfrm>
            <a:off x="1024128" y="2560320"/>
            <a:ext cx="16806672" cy="860000"/>
          </a:xfrm>
          <a:prstGeom prst="rect">
            <a:avLst/>
          </a:prstGeom>
          <a:solidFill>
            <a:srgbClr val="FB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 9"/>
          <p:cNvSpPr/>
          <p:nvPr/>
        </p:nvSpPr>
        <p:spPr>
          <a:xfrm>
            <a:off x="1024128" y="2560320"/>
            <a:ext cx="68580" cy="860000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44128" y="2560320"/>
            <a:ext cx="620000" cy="8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4000" b="1">
                <a:solidFill>
                  <a:srgbClr val="B87333"/>
                </a:solidFill>
                <a:latin typeface="Pretendard SemiBold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4128" y="2730320"/>
            <a:ext cx="800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Pretendard SemiBold"/>
              </a:rPr>
              <a:t>감지와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4128" y="3180320"/>
            <a:ext cx="80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39393"/>
                </a:solidFill>
                <a:latin typeface="Pretendard"/>
              </a:rPr>
              <a:t>DETECT &amp; ANALYZE   ·   변경을 받아 검문하고, 분석하고, 근거를 검증하는 구간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90800" y="2560320"/>
            <a:ext cx="3200000" cy="8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800" b="0">
                <a:solidFill>
                  <a:srgbClr val="C6C6C6"/>
                </a:solidFill>
                <a:latin typeface="Pretendard"/>
              </a:rPr>
              <a:t>A</a:t>
            </a:r>
            <a:r>
              <a:rPr sz="1400" b="0">
                <a:solidFill>
                  <a:srgbClr val="C6C6C6"/>
                </a:solidFill>
                <a:latin typeface="Pretendard"/>
              </a:rPr>
              <a:t>   ▸   </a:t>
            </a:r>
            <a:r>
              <a:rPr sz="1800" b="1">
                <a:solidFill>
                  <a:srgbClr val="B87333"/>
                </a:solidFill>
                <a:latin typeface="Pretendard SemiBold"/>
              </a:rPr>
              <a:t>B</a:t>
            </a:r>
            <a:r>
              <a:rPr sz="1400" b="0">
                <a:solidFill>
                  <a:srgbClr val="C6C6C6"/>
                </a:solidFill>
                <a:latin typeface="Pretendard"/>
              </a:rPr>
              <a:t>   ▸   </a:t>
            </a:r>
            <a:r>
              <a:rPr sz="1800" b="0">
                <a:solidFill>
                  <a:srgbClr val="C6C6C6"/>
                </a:solidFill>
                <a:latin typeface="Pretendard"/>
              </a:rPr>
              <a:t>C</a:t>
            </a:r>
          </a:p>
        </p:txBody>
      </p:sp>
      <p:sp>
        <p:nvSpPr>
          <p:cNvPr id="15" name="Rect 14"/>
          <p:cNvSpPr/>
          <p:nvPr/>
        </p:nvSpPr>
        <p:spPr>
          <a:xfrm>
            <a:off x="1024128" y="3660000"/>
            <a:ext cx="3901668" cy="2500000"/>
          </a:xfrm>
          <a:prstGeom prst="rect">
            <a:avLst/>
          </a:prstGeom>
          <a:solidFill>
            <a:srgbClr val="E4E7F2"/>
          </a:solidFill>
          <a:ln w="12700">
            <a:solidFill>
              <a:srgbClr val="3A5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 15"/>
          <p:cNvSpPr/>
          <p:nvPr/>
        </p:nvSpPr>
        <p:spPr>
          <a:xfrm>
            <a:off x="2694962" y="3890000"/>
            <a:ext cx="560000" cy="330000"/>
          </a:xfrm>
          <a:prstGeom prst="roundRect">
            <a:avLst>
              <a:gd name="adj" fmla="val 50000"/>
            </a:avLst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94962" y="3890000"/>
            <a:ext cx="56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 SemiBold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360000"/>
            <a:ext cx="3901668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3A59D1"/>
                </a:solidFill>
                <a:latin typeface="Pretendard SemiBold"/>
              </a:rPr>
              <a:t>변경 이벤트</a:t>
            </a:r>
          </a:p>
        </p:txBody>
      </p:sp>
      <p:sp>
        <p:nvSpPr>
          <p:cNvPr id="19" name="Rect 18"/>
          <p:cNvSpPr/>
          <p:nvPr/>
        </p:nvSpPr>
        <p:spPr>
          <a:xfrm>
            <a:off x="2594962" y="4930000"/>
            <a:ext cx="76000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24128" y="5090000"/>
            <a:ext cx="3501668" cy="3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Drive 변경 알림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4128" y="5450000"/>
            <a:ext cx="3501668" cy="3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GitHub 커밋 webhook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4128" y="5810000"/>
            <a:ext cx="3501668" cy="3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내 PC 파일 감시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25796" y="3660000"/>
            <a:ext cx="400000" cy="2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24" name="Rect 23"/>
          <p:cNvSpPr/>
          <p:nvPr/>
        </p:nvSpPr>
        <p:spPr>
          <a:xfrm>
            <a:off x="5325796" y="3660000"/>
            <a:ext cx="3901668" cy="2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 24"/>
          <p:cNvSpPr/>
          <p:nvPr/>
        </p:nvSpPr>
        <p:spPr>
          <a:xfrm>
            <a:off x="6996630" y="3890000"/>
            <a:ext cx="560000" cy="33000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96630" y="3890000"/>
            <a:ext cx="56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 SemiBold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5796" y="4360000"/>
            <a:ext cx="3901668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222222"/>
                </a:solidFill>
                <a:latin typeface="Pretendard SemiBold"/>
              </a:rPr>
              <a:t>중복 지문 확인</a:t>
            </a:r>
          </a:p>
        </p:txBody>
      </p:sp>
      <p:sp>
        <p:nvSpPr>
          <p:cNvPr id="28" name="Rect 27"/>
          <p:cNvSpPr/>
          <p:nvPr/>
        </p:nvSpPr>
        <p:spPr>
          <a:xfrm>
            <a:off x="6896630" y="4930000"/>
            <a:ext cx="76000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25796" y="5090000"/>
            <a:ext cx="3501668" cy="3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같은 변경의 지문을 대조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25796" y="5450000"/>
            <a:ext cx="3501668" cy="3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이중 처리를 막는다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25796" y="5810000"/>
            <a:ext cx="3501668" cy="3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재시도도 한 번만 반영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7464" y="3660000"/>
            <a:ext cx="400000" cy="2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33" name="Rect 32"/>
          <p:cNvSpPr/>
          <p:nvPr/>
        </p:nvSpPr>
        <p:spPr>
          <a:xfrm>
            <a:off x="9627464" y="3660000"/>
            <a:ext cx="3901668" cy="2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 33"/>
          <p:cNvSpPr/>
          <p:nvPr/>
        </p:nvSpPr>
        <p:spPr>
          <a:xfrm>
            <a:off x="11298298" y="3890000"/>
            <a:ext cx="560000" cy="33000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298298" y="3890000"/>
            <a:ext cx="56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 SemiBold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7464" y="4360000"/>
            <a:ext cx="3901668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222222"/>
                </a:solidFill>
                <a:latin typeface="Pretendard SemiBold"/>
              </a:rPr>
              <a:t>Snapshot 수집</a:t>
            </a:r>
          </a:p>
        </p:txBody>
      </p:sp>
      <p:sp>
        <p:nvSpPr>
          <p:cNvPr id="37" name="Rect 36"/>
          <p:cNvSpPr/>
          <p:nvPr/>
        </p:nvSpPr>
        <p:spPr>
          <a:xfrm>
            <a:off x="11198298" y="4930000"/>
            <a:ext cx="76000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27464" y="5090000"/>
            <a:ext cx="3501668" cy="3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분석에 필요한 최소 범위만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7464" y="5450000"/>
            <a:ext cx="3501668" cy="3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transient · 저장하지 않음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7464" y="5810000"/>
            <a:ext cx="3501668" cy="3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소속 폴더 재확인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529132" y="3660000"/>
            <a:ext cx="400000" cy="2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42" name="Rect 41"/>
          <p:cNvSpPr/>
          <p:nvPr/>
        </p:nvSpPr>
        <p:spPr>
          <a:xfrm>
            <a:off x="13929132" y="3660000"/>
            <a:ext cx="3901668" cy="2500000"/>
          </a:xfrm>
          <a:prstGeom prst="rect">
            <a:avLst/>
          </a:prstGeom>
          <a:solidFill>
            <a:srgbClr val="F7EEE4"/>
          </a:solidFill>
          <a:ln w="12700">
            <a:solidFill>
              <a:srgbClr val="B8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ect 42"/>
          <p:cNvSpPr/>
          <p:nvPr/>
        </p:nvSpPr>
        <p:spPr>
          <a:xfrm>
            <a:off x="15599966" y="3890000"/>
            <a:ext cx="560000" cy="330000"/>
          </a:xfrm>
          <a:prstGeom prst="roundRect">
            <a:avLst>
              <a:gd name="adj" fmla="val 50000"/>
            </a:avLst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5599966" y="3890000"/>
            <a:ext cx="56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 SemiBold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929132" y="4360000"/>
            <a:ext cx="3901668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B87333"/>
                </a:solidFill>
                <a:latin typeface="Pretendard SemiBold"/>
              </a:rPr>
              <a:t>Security Gate</a:t>
            </a:r>
          </a:p>
        </p:txBody>
      </p:sp>
      <p:sp>
        <p:nvSpPr>
          <p:cNvPr id="46" name="Rect 45"/>
          <p:cNvSpPr/>
          <p:nvPr/>
        </p:nvSpPr>
        <p:spPr>
          <a:xfrm>
            <a:off x="15499966" y="4930000"/>
            <a:ext cx="76000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4129132" y="5090000"/>
            <a:ext cx="3501668" cy="3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제외 패턴 · 종류 · 크기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29132" y="5450000"/>
            <a:ext cx="3501668" cy="3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민감 정보 마스킹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29132" y="5810000"/>
            <a:ext cx="3501668" cy="3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막히면 Analyzer 미호출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" y="6230000"/>
            <a:ext cx="16806672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939393"/>
                </a:solidFill>
                <a:latin typeface="Pretendard"/>
              </a:rPr>
              <a:t>▼   Security Gate 를 통과한 변경만 다음 단계로 넘어갑니다</a:t>
            </a:r>
          </a:p>
        </p:txBody>
      </p:sp>
      <p:sp>
        <p:nvSpPr>
          <p:cNvPr id="51" name="Rect 50"/>
          <p:cNvSpPr/>
          <p:nvPr/>
        </p:nvSpPr>
        <p:spPr>
          <a:xfrm>
            <a:off x="1024128" y="6600000"/>
            <a:ext cx="3901668" cy="2500000"/>
          </a:xfrm>
          <a:prstGeom prst="rect">
            <a:avLst/>
          </a:prstGeom>
          <a:solidFill>
            <a:srgbClr val="E7F1EC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Rect 51"/>
          <p:cNvSpPr/>
          <p:nvPr/>
        </p:nvSpPr>
        <p:spPr>
          <a:xfrm>
            <a:off x="2694962" y="6830000"/>
            <a:ext cx="560000" cy="33000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694962" y="6830000"/>
            <a:ext cx="56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 SemiBold"/>
              </a:rPr>
              <a:t>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" y="7300000"/>
            <a:ext cx="3901668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2E7D5B"/>
                </a:solidFill>
                <a:latin typeface="Pretendard SemiBold"/>
              </a:rPr>
              <a:t>Analyzer</a:t>
            </a:r>
          </a:p>
        </p:txBody>
      </p:sp>
      <p:sp>
        <p:nvSpPr>
          <p:cNvPr id="55" name="Rect 54"/>
          <p:cNvSpPr/>
          <p:nvPr/>
        </p:nvSpPr>
        <p:spPr>
          <a:xfrm>
            <a:off x="2594962" y="7870000"/>
            <a:ext cx="76000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224128" y="8030000"/>
            <a:ext cx="3501668" cy="3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License  파싱 · 조회 · 평가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24128" y="8390000"/>
            <a:ext cx="3501668" cy="3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Patent  추출 · KIPRIS · 대조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24128" y="8750000"/>
            <a:ext cx="3501668" cy="3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판정은 규칙 엔진이 담당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25796" y="6600000"/>
            <a:ext cx="400000" cy="2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60" name="Rect 59"/>
          <p:cNvSpPr/>
          <p:nvPr/>
        </p:nvSpPr>
        <p:spPr>
          <a:xfrm>
            <a:off x="5325796" y="6600000"/>
            <a:ext cx="3901668" cy="2500000"/>
          </a:xfrm>
          <a:prstGeom prst="rect">
            <a:avLst/>
          </a:prstGeom>
          <a:solidFill>
            <a:srgbClr val="E7F1EC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ect 60"/>
          <p:cNvSpPr/>
          <p:nvPr/>
        </p:nvSpPr>
        <p:spPr>
          <a:xfrm>
            <a:off x="6996630" y="6830000"/>
            <a:ext cx="560000" cy="33000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996630" y="6830000"/>
            <a:ext cx="56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 SemiBold"/>
              </a:rPr>
              <a:t>06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25796" y="7300000"/>
            <a:ext cx="3901668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2E7D5B"/>
                </a:solidFill>
                <a:latin typeface="Pretendard SemiBold"/>
              </a:rPr>
              <a:t>근거 검증</a:t>
            </a:r>
          </a:p>
        </p:txBody>
      </p:sp>
      <p:sp>
        <p:nvSpPr>
          <p:cNvPr id="64" name="Rect 63"/>
          <p:cNvSpPr/>
          <p:nvPr/>
        </p:nvSpPr>
        <p:spPr>
          <a:xfrm>
            <a:off x="6896630" y="7870000"/>
            <a:ext cx="76000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525796" y="8030000"/>
            <a:ext cx="3501668" cy="3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판정을 이끈 식별자 확인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25796" y="8390000"/>
            <a:ext cx="3501668" cy="3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인용문의 실재 여부 확인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25796" y="8750000"/>
            <a:ext cx="3501668" cy="3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근거 없는 항목은 내보내지 않는다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27464" y="6600000"/>
            <a:ext cx="400000" cy="2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69" name="Rect 68"/>
          <p:cNvSpPr/>
          <p:nvPr/>
        </p:nvSpPr>
        <p:spPr>
          <a:xfrm>
            <a:off x="9627464" y="6600000"/>
            <a:ext cx="3901668" cy="2500000"/>
          </a:xfrm>
          <a:prstGeom prst="rect">
            <a:avLst/>
          </a:prstGeom>
          <a:solidFill>
            <a:srgbClr val="F7EEE4"/>
          </a:solidFill>
          <a:ln w="12700">
            <a:solidFill>
              <a:srgbClr val="B8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Rect 69"/>
          <p:cNvSpPr/>
          <p:nvPr/>
        </p:nvSpPr>
        <p:spPr>
          <a:xfrm>
            <a:off x="11298298" y="6830000"/>
            <a:ext cx="560000" cy="330000"/>
          </a:xfrm>
          <a:prstGeom prst="roundRect">
            <a:avLst>
              <a:gd name="adj" fmla="val 50000"/>
            </a:avLst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1298298" y="6830000"/>
            <a:ext cx="56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 SemiBold"/>
              </a:rPr>
              <a:t>07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27464" y="7300000"/>
            <a:ext cx="3901668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B87333"/>
                </a:solidFill>
                <a:latin typeface="Pretendard SemiBold"/>
              </a:rPr>
              <a:t>Risk 반영</a:t>
            </a:r>
          </a:p>
        </p:txBody>
      </p:sp>
      <p:sp>
        <p:nvSpPr>
          <p:cNvPr id="73" name="Rect 72"/>
          <p:cNvSpPr/>
          <p:nvPr/>
        </p:nvSpPr>
        <p:spPr>
          <a:xfrm>
            <a:off x="11198298" y="7870000"/>
            <a:ext cx="76000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827464" y="8030000"/>
            <a:ext cx="3501668" cy="3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NEW · EXISTING · RESOLVED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27464" y="8390000"/>
            <a:ext cx="3501668" cy="3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행위가 아니라 상태로 관리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27464" y="8750000"/>
            <a:ext cx="3501668" cy="3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Scan 반복이 아니다</a:t>
            </a:r>
          </a:p>
        </p:txBody>
      </p:sp>
      <p:sp>
        <p:nvSpPr>
          <p:cNvPr id="77" name="Rect 76"/>
          <p:cNvSpPr/>
          <p:nvPr/>
        </p:nvSpPr>
        <p:spPr>
          <a:xfrm>
            <a:off x="13929132" y="6600000"/>
            <a:ext cx="3901668" cy="250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B8B8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4169132" y="6900000"/>
            <a:ext cx="3421668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C03939"/>
                </a:solidFill>
                <a:latin typeface="Pretendard SemiBold"/>
              </a:rPr>
              <a:t>예외 경로</a:t>
            </a:r>
            <a:r>
              <a:rPr sz="1200" b="0">
                <a:solidFill>
                  <a:srgbClr val="939393"/>
                </a:solidFill>
                <a:latin typeface="Pretendard"/>
              </a:rPr>
              <a:t>     EXCEPTIONS</a:t>
            </a:r>
          </a:p>
        </p:txBody>
      </p:sp>
      <p:sp>
        <p:nvSpPr>
          <p:cNvPr id="79" name="Rect 78"/>
          <p:cNvSpPr/>
          <p:nvPr/>
        </p:nvSpPr>
        <p:spPr>
          <a:xfrm>
            <a:off x="14169132" y="7430000"/>
            <a:ext cx="70000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4169132" y="7590000"/>
            <a:ext cx="3421668" cy="2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Security Gate 차단 → 사유만 기록 (안전 종료)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169132" y="7940000"/>
            <a:ext cx="3421668" cy="2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인용이 원문에 없음 → 해당 분석 전량 폐기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4169132" y="8290000"/>
            <a:ext cx="3421668" cy="2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삭제 · 폴더 이탈 → 분석 없이 Risk 종료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169132" y="8640000"/>
            <a:ext cx="3421668" cy="2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재진입 시 판본이 같으면 처분까지 복원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1024128" y="1133856"/>
            <a:ext cx="50292" cy="274320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25296" y="111556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A59D1"/>
                </a:solidFill>
                <a:latin typeface="Pretendard SemiBold"/>
              </a:rPr>
              <a:t>01 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81328"/>
            <a:ext cx="16230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dirty="0">
                <a:solidFill>
                  <a:srgbClr val="222222"/>
                </a:solidFill>
                <a:latin typeface="Pretendard SemiBold"/>
              </a:rPr>
              <a:t>C.  검토와 판단 — 모델 제안에 대한 사람의 최종 결정</a:t>
            </a:r>
          </a:p>
        </p:txBody>
      </p:sp>
      <p:sp>
        <p:nvSpPr>
          <p:cNvPr id="5" name="Rect 4"/>
          <p:cNvSpPr/>
          <p:nvPr/>
        </p:nvSpPr>
        <p:spPr>
          <a:xfrm>
            <a:off x="1024128" y="2331720"/>
            <a:ext cx="1623060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 5"/>
          <p:cNvSpPr/>
          <p:nvPr/>
        </p:nvSpPr>
        <p:spPr>
          <a:xfrm>
            <a:off x="14950440" y="9692640"/>
            <a:ext cx="2304288" cy="384048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05304" y="969264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 SemiBold"/>
              </a:rPr>
              <a:t>PAGE 08</a:t>
            </a:r>
          </a:p>
        </p:txBody>
      </p:sp>
      <p:sp>
        <p:nvSpPr>
          <p:cNvPr id="8" name="Rect 7"/>
          <p:cNvSpPr/>
          <p:nvPr/>
        </p:nvSpPr>
        <p:spPr>
          <a:xfrm>
            <a:off x="0" y="10186416"/>
            <a:ext cx="4818888" cy="100584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 8"/>
          <p:cNvSpPr/>
          <p:nvPr/>
        </p:nvSpPr>
        <p:spPr>
          <a:xfrm>
            <a:off x="1024128" y="2560320"/>
            <a:ext cx="16806672" cy="860000"/>
          </a:xfrm>
          <a:prstGeom prst="rect">
            <a:avLst/>
          </a:prstGeom>
          <a:solidFill>
            <a:srgbClr val="ED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 9"/>
          <p:cNvSpPr/>
          <p:nvPr/>
        </p:nvSpPr>
        <p:spPr>
          <a:xfrm>
            <a:off x="1024128" y="2560320"/>
            <a:ext cx="68580" cy="8600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44128" y="2560320"/>
            <a:ext cx="620000" cy="8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4000" b="1">
                <a:solidFill>
                  <a:srgbClr val="2E7D5B"/>
                </a:solidFill>
                <a:latin typeface="Pretendard SemiBold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4128" y="2730320"/>
            <a:ext cx="80000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Pretendard SemiBold"/>
              </a:rPr>
              <a:t>검토와 판단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4128" y="3180320"/>
            <a:ext cx="80000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939393"/>
                </a:solidFill>
                <a:latin typeface="Pretendard"/>
              </a:rPr>
              <a:t>REVIEW &amp; DECIDE   ·   HITL — </a:t>
            </a:r>
            <a:r>
              <a:rPr sz="1300" b="0" dirty="0" err="1">
                <a:solidFill>
                  <a:srgbClr val="939393"/>
                </a:solidFill>
                <a:latin typeface="Pretendard"/>
              </a:rPr>
              <a:t>기계는</a:t>
            </a:r>
            <a:r>
              <a:rPr sz="1300" b="0" dirty="0">
                <a:solidFill>
                  <a:srgbClr val="939393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939393"/>
                </a:solidFill>
                <a:latin typeface="Pretendard"/>
              </a:rPr>
              <a:t>근거</a:t>
            </a:r>
            <a:r>
              <a:rPr lang="ko-KR" altLang="en-US" sz="1300" b="0" dirty="0">
                <a:solidFill>
                  <a:srgbClr val="939393"/>
                </a:solidFill>
                <a:latin typeface="Pretendard"/>
              </a:rPr>
              <a:t>를 </a:t>
            </a:r>
            <a:r>
              <a:rPr lang="ko-KR" altLang="en-US" sz="1300" b="0" dirty="0" err="1">
                <a:solidFill>
                  <a:srgbClr val="939393"/>
                </a:solidFill>
                <a:latin typeface="Pretendard"/>
              </a:rPr>
              <a:t>바탕으로한</a:t>
            </a:r>
            <a:r>
              <a:rPr lang="ko-KR" altLang="en-US" sz="1300" b="0" dirty="0">
                <a:solidFill>
                  <a:srgbClr val="939393"/>
                </a:solidFill>
                <a:latin typeface="Pretendard"/>
              </a:rPr>
              <a:t> 제안</a:t>
            </a:r>
            <a:r>
              <a:rPr sz="1300" b="0" dirty="0" err="1">
                <a:solidFill>
                  <a:srgbClr val="939393"/>
                </a:solidFill>
                <a:latin typeface="Pretendard"/>
              </a:rPr>
              <a:t>까지</a:t>
            </a:r>
            <a:r>
              <a:rPr sz="1300" b="0" dirty="0">
                <a:solidFill>
                  <a:srgbClr val="939393"/>
                </a:solidFill>
                <a:latin typeface="Pretendard"/>
              </a:rPr>
              <a:t>, </a:t>
            </a:r>
            <a:r>
              <a:rPr sz="1300" b="0" dirty="0" err="1">
                <a:solidFill>
                  <a:srgbClr val="939393"/>
                </a:solidFill>
                <a:latin typeface="Pretendard"/>
              </a:rPr>
              <a:t>최종</a:t>
            </a:r>
            <a:r>
              <a:rPr sz="1300" b="0" dirty="0">
                <a:solidFill>
                  <a:srgbClr val="939393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939393"/>
                </a:solidFill>
                <a:latin typeface="Pretendard"/>
              </a:rPr>
              <a:t>판단은</a:t>
            </a:r>
            <a:r>
              <a:rPr sz="1300" b="0" dirty="0">
                <a:solidFill>
                  <a:srgbClr val="939393"/>
                </a:solidFill>
                <a:latin typeface="Pretendard"/>
              </a:rPr>
              <a:t> </a:t>
            </a:r>
            <a:r>
              <a:rPr sz="1300" b="0" dirty="0" err="1">
                <a:solidFill>
                  <a:srgbClr val="939393"/>
                </a:solidFill>
                <a:latin typeface="Pretendard"/>
              </a:rPr>
              <a:t>사람이</a:t>
            </a:r>
            <a:endParaRPr sz="1300" b="0" dirty="0">
              <a:solidFill>
                <a:srgbClr val="939393"/>
              </a:solidFill>
              <a:latin typeface="Pretend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290800" y="2560320"/>
            <a:ext cx="3200000" cy="8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800" b="0">
                <a:solidFill>
                  <a:srgbClr val="C6C6C6"/>
                </a:solidFill>
                <a:latin typeface="Pretendard"/>
              </a:rPr>
              <a:t>A</a:t>
            </a:r>
            <a:r>
              <a:rPr sz="1400" b="0">
                <a:solidFill>
                  <a:srgbClr val="C6C6C6"/>
                </a:solidFill>
                <a:latin typeface="Pretendard"/>
              </a:rPr>
              <a:t>   ▸   </a:t>
            </a:r>
            <a:r>
              <a:rPr sz="1800" b="0">
                <a:solidFill>
                  <a:srgbClr val="C6C6C6"/>
                </a:solidFill>
                <a:latin typeface="Pretendard"/>
              </a:rPr>
              <a:t>B</a:t>
            </a:r>
            <a:r>
              <a:rPr sz="1400" b="0">
                <a:solidFill>
                  <a:srgbClr val="C6C6C6"/>
                </a:solidFill>
                <a:latin typeface="Pretendard"/>
              </a:rPr>
              <a:t>   ▸   </a:t>
            </a:r>
            <a:r>
              <a:rPr sz="1800" b="1">
                <a:solidFill>
                  <a:srgbClr val="2E7D5B"/>
                </a:solidFill>
                <a:latin typeface="Pretendard SemiBold"/>
              </a:rPr>
              <a:t>C</a:t>
            </a:r>
          </a:p>
        </p:txBody>
      </p:sp>
      <p:sp>
        <p:nvSpPr>
          <p:cNvPr id="15" name="Rect 14"/>
          <p:cNvSpPr/>
          <p:nvPr/>
        </p:nvSpPr>
        <p:spPr>
          <a:xfrm>
            <a:off x="1024128" y="3720000"/>
            <a:ext cx="3856668" cy="29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 15"/>
          <p:cNvSpPr/>
          <p:nvPr/>
        </p:nvSpPr>
        <p:spPr>
          <a:xfrm>
            <a:off x="2672462" y="4000000"/>
            <a:ext cx="560000" cy="33000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72462" y="4000000"/>
            <a:ext cx="56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 SemiBold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520000"/>
            <a:ext cx="3856668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222222"/>
                </a:solidFill>
                <a:latin typeface="Pretendard SemiBold"/>
              </a:rPr>
              <a:t>알림 · Dashboard</a:t>
            </a:r>
          </a:p>
        </p:txBody>
      </p:sp>
      <p:sp>
        <p:nvSpPr>
          <p:cNvPr id="19" name="Rect 18"/>
          <p:cNvSpPr/>
          <p:nvPr/>
        </p:nvSpPr>
        <p:spPr>
          <a:xfrm>
            <a:off x="2572462" y="5100000"/>
            <a:ext cx="76000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24128" y="5280000"/>
            <a:ext cx="3456668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HIGH · INDETERMINATE · REOPENED 등 6 종만 알림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4128" y="5660000"/>
            <a:ext cx="3456668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등급 하향도 눈에 띄게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4128" y="6040000"/>
            <a:ext cx="3456668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워크스페이스 밖 전역 인박스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0796" y="3720000"/>
            <a:ext cx="460000" cy="29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24" name="Rect 23"/>
          <p:cNvSpPr/>
          <p:nvPr/>
        </p:nvSpPr>
        <p:spPr>
          <a:xfrm>
            <a:off x="5340796" y="3720000"/>
            <a:ext cx="3856668" cy="2960000"/>
          </a:xfrm>
          <a:prstGeom prst="rect">
            <a:avLst/>
          </a:prstGeom>
          <a:solidFill>
            <a:srgbClr val="E7F1EC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 24"/>
          <p:cNvSpPr/>
          <p:nvPr/>
        </p:nvSpPr>
        <p:spPr>
          <a:xfrm>
            <a:off x="6989130" y="4000000"/>
            <a:ext cx="560000" cy="33000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89130" y="4000000"/>
            <a:ext cx="56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 SemiBold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0796" y="4520000"/>
            <a:ext cx="3856668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2E7D5B"/>
                </a:solidFill>
                <a:latin typeface="Pretendard SemiBold"/>
              </a:rPr>
              <a:t>Risk 상세</a:t>
            </a:r>
          </a:p>
        </p:txBody>
      </p:sp>
      <p:sp>
        <p:nvSpPr>
          <p:cNvPr id="28" name="Rect 27"/>
          <p:cNvSpPr/>
          <p:nvPr/>
        </p:nvSpPr>
        <p:spPr>
          <a:xfrm>
            <a:off x="6889130" y="5100000"/>
            <a:ext cx="76000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40796" y="5280000"/>
            <a:ext cx="3456668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원본 발췌와 근거를 대조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40796" y="5660000"/>
            <a:ext cx="3456668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특허 인용 · License 조항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40796" y="6040000"/>
            <a:ext cx="3456668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설명은 근거가 있을 때만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97464" y="3720000"/>
            <a:ext cx="460000" cy="29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33" name="Rect 32"/>
          <p:cNvSpPr/>
          <p:nvPr/>
        </p:nvSpPr>
        <p:spPr>
          <a:xfrm>
            <a:off x="9657464" y="3720000"/>
            <a:ext cx="3856668" cy="2960000"/>
          </a:xfrm>
          <a:prstGeom prst="rect">
            <a:avLst/>
          </a:prstGeom>
          <a:solidFill>
            <a:srgbClr val="E7F1EC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 33"/>
          <p:cNvSpPr/>
          <p:nvPr/>
        </p:nvSpPr>
        <p:spPr>
          <a:xfrm>
            <a:off x="11305798" y="4000000"/>
            <a:ext cx="560000" cy="33000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305798" y="4000000"/>
            <a:ext cx="56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 SemiBold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57464" y="4520000"/>
            <a:ext cx="3856668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2E7D5B"/>
                </a:solidFill>
                <a:latin typeface="Pretendard SemiBold"/>
              </a:rPr>
              <a:t>Disposition 입력</a:t>
            </a:r>
          </a:p>
        </p:txBody>
      </p:sp>
      <p:sp>
        <p:nvSpPr>
          <p:cNvPr id="37" name="Rect 36"/>
          <p:cNvSpPr/>
          <p:nvPr/>
        </p:nvSpPr>
        <p:spPr>
          <a:xfrm>
            <a:off x="11205798" y="5100000"/>
            <a:ext cx="76000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57464" y="5280000"/>
            <a:ext cx="3456668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사람이 처분과 사유를 남김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57464" y="5660000"/>
            <a:ext cx="3456668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UNREVIEWED · MONITORING · ACCEPTED_RISK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57464" y="6040000"/>
            <a:ext cx="3456668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기계 판정과는 다른 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514132" y="3720000"/>
            <a:ext cx="460000" cy="29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42" name="Rect 41"/>
          <p:cNvSpPr/>
          <p:nvPr/>
        </p:nvSpPr>
        <p:spPr>
          <a:xfrm>
            <a:off x="13974132" y="3720000"/>
            <a:ext cx="3856668" cy="29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ect 42"/>
          <p:cNvSpPr/>
          <p:nvPr/>
        </p:nvSpPr>
        <p:spPr>
          <a:xfrm>
            <a:off x="15622466" y="4000000"/>
            <a:ext cx="560000" cy="33000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5622466" y="4000000"/>
            <a:ext cx="560000" cy="33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 SemiBold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974132" y="4520000"/>
            <a:ext cx="3856668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222222"/>
                </a:solidFill>
                <a:latin typeface="Pretendard SemiBold"/>
              </a:rPr>
              <a:t>Timeline · Audit</a:t>
            </a:r>
          </a:p>
        </p:txBody>
      </p:sp>
      <p:sp>
        <p:nvSpPr>
          <p:cNvPr id="46" name="Rect 45"/>
          <p:cNvSpPr/>
          <p:nvPr/>
        </p:nvSpPr>
        <p:spPr>
          <a:xfrm>
            <a:off x="15522466" y="5100000"/>
            <a:ext cx="76000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4174132" y="5280000"/>
            <a:ext cx="3456668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append-only 이력 보존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4132" y="5660000"/>
            <a:ext cx="3456668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변경 원인을 이벤트에 귀속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4132" y="6040000"/>
            <a:ext cx="3456668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939393"/>
                </a:solidFill>
                <a:latin typeface="Pretendard"/>
              </a:rPr>
              <a:t>content-free · 원문 미저장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" y="6960000"/>
            <a:ext cx="9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Pretendard SemiBold"/>
              </a:rPr>
              <a:t>주요 정책</a:t>
            </a:r>
            <a:r>
              <a:rPr sz="1300" b="0">
                <a:solidFill>
                  <a:srgbClr val="939393"/>
                </a:solidFill>
                <a:latin typeface="Pretendard"/>
              </a:rPr>
              <a:t>     POLICY</a:t>
            </a:r>
          </a:p>
        </p:txBody>
      </p:sp>
      <p:sp>
        <p:nvSpPr>
          <p:cNvPr id="51" name="Rect 50"/>
          <p:cNvSpPr/>
          <p:nvPr/>
        </p:nvSpPr>
        <p:spPr>
          <a:xfrm>
            <a:off x="1024128" y="7360000"/>
            <a:ext cx="3916668" cy="156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B8B8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324128" y="7600000"/>
            <a:ext cx="3316668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 err="1">
                <a:solidFill>
                  <a:srgbClr val="222222"/>
                </a:solidFill>
                <a:latin typeface="Pretendard SemiBold"/>
              </a:rPr>
              <a:t>실패를</a:t>
            </a:r>
            <a:r>
              <a:rPr sz="1500" b="1" dirty="0">
                <a:solidFill>
                  <a:srgbClr val="222222"/>
                </a:solidFill>
                <a:latin typeface="Pretendard SemiBold"/>
              </a:rPr>
              <a:t> </a:t>
            </a:r>
            <a:r>
              <a:rPr sz="1500" b="1" dirty="0" err="1">
                <a:solidFill>
                  <a:srgbClr val="222222"/>
                </a:solidFill>
                <a:latin typeface="Pretendard SemiBold"/>
              </a:rPr>
              <a:t>성공으로</a:t>
            </a:r>
            <a:r>
              <a:rPr sz="1500" b="1" dirty="0">
                <a:solidFill>
                  <a:srgbClr val="222222"/>
                </a:solidFill>
                <a:latin typeface="Pretendard SemiBold"/>
              </a:rPr>
              <a:t> </a:t>
            </a:r>
            <a:r>
              <a:rPr sz="1500" b="1" dirty="0" err="1">
                <a:solidFill>
                  <a:srgbClr val="222222"/>
                </a:solidFill>
                <a:latin typeface="Pretendard SemiBold"/>
              </a:rPr>
              <a:t>위장하지</a:t>
            </a:r>
            <a:r>
              <a:rPr sz="1500" b="1" dirty="0">
                <a:solidFill>
                  <a:srgbClr val="222222"/>
                </a:solidFill>
                <a:latin typeface="Pretendard SemiBold"/>
              </a:rPr>
              <a:t> </a:t>
            </a:r>
            <a:r>
              <a:rPr sz="1500" b="1" dirty="0" err="1">
                <a:solidFill>
                  <a:srgbClr val="222222"/>
                </a:solidFill>
                <a:latin typeface="Pretendard SemiBold"/>
              </a:rPr>
              <a:t>않는다</a:t>
            </a:r>
            <a:endParaRPr sz="1500" b="1" dirty="0">
              <a:solidFill>
                <a:srgbClr val="222222"/>
              </a:solidFill>
              <a:latin typeface="Pretendard SemiBold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324128" y="8100000"/>
            <a:ext cx="3316668" cy="2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분석 실패는 INCONCLUSIVE 로 드러내고,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24128" y="8400000"/>
            <a:ext cx="3316668" cy="2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성공으로 뭉뚱그리지 않습니다</a:t>
            </a:r>
          </a:p>
        </p:txBody>
      </p:sp>
      <p:sp>
        <p:nvSpPr>
          <p:cNvPr id="55" name="Rect 54"/>
          <p:cNvSpPr/>
          <p:nvPr/>
        </p:nvSpPr>
        <p:spPr>
          <a:xfrm>
            <a:off x="5320796" y="7360000"/>
            <a:ext cx="3916668" cy="156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B8B8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620796" y="7600000"/>
            <a:ext cx="3316668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B87333"/>
                </a:solidFill>
                <a:latin typeface="Pretendard SemiBold"/>
              </a:rPr>
              <a:t>PARTIAL 은 </a:t>
            </a:r>
            <a:r>
              <a:rPr sz="1500" b="1" dirty="0" err="1">
                <a:solidFill>
                  <a:srgbClr val="B87333"/>
                </a:solidFill>
                <a:latin typeface="Pretendard SemiBold"/>
              </a:rPr>
              <a:t>해소가</a:t>
            </a:r>
            <a:r>
              <a:rPr sz="1500" b="1" dirty="0">
                <a:solidFill>
                  <a:srgbClr val="B87333"/>
                </a:solidFill>
                <a:latin typeface="Pretendard SemiBold"/>
              </a:rPr>
              <a:t> </a:t>
            </a:r>
            <a:r>
              <a:rPr sz="1500" b="1" dirty="0" err="1">
                <a:solidFill>
                  <a:srgbClr val="B87333"/>
                </a:solidFill>
                <a:latin typeface="Pretendard SemiBold"/>
              </a:rPr>
              <a:t>아니다</a:t>
            </a:r>
            <a:endParaRPr sz="1500" b="1" dirty="0">
              <a:solidFill>
                <a:srgbClr val="B87333"/>
              </a:solidFill>
              <a:latin typeface="Pretendard SemiBold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620796" y="8100000"/>
            <a:ext cx="3316668" cy="2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부분 성공은 기록하되,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20796" y="8400000"/>
            <a:ext cx="3316668" cy="2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Risk 종결의 근거가 되지 않습니다</a:t>
            </a:r>
          </a:p>
        </p:txBody>
      </p:sp>
      <p:sp>
        <p:nvSpPr>
          <p:cNvPr id="59" name="Rect 58"/>
          <p:cNvSpPr/>
          <p:nvPr/>
        </p:nvSpPr>
        <p:spPr>
          <a:xfrm>
            <a:off x="9617464" y="7360000"/>
            <a:ext cx="3916668" cy="156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B8B8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917464" y="7600000"/>
            <a:ext cx="3316668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B87333"/>
                </a:solidFill>
                <a:latin typeface="Pretendard SemiBold"/>
              </a:rPr>
              <a:t>온전히 읽은 0 건만 해소로 인정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17464" y="8100000"/>
            <a:ext cx="3316668" cy="2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후보가 사라진 것은 해소가 아니라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17464" y="8400000"/>
            <a:ext cx="3316668" cy="2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재확인이 필요한 상태입니다</a:t>
            </a:r>
          </a:p>
        </p:txBody>
      </p:sp>
      <p:sp>
        <p:nvSpPr>
          <p:cNvPr id="63" name="Rect 62"/>
          <p:cNvSpPr/>
          <p:nvPr/>
        </p:nvSpPr>
        <p:spPr>
          <a:xfrm>
            <a:off x="13914132" y="7360000"/>
            <a:ext cx="3916668" cy="156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B8B8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4214132" y="7600000"/>
            <a:ext cx="3316668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E7D5B"/>
                </a:solidFill>
                <a:latin typeface="Pretendard SemiBold"/>
              </a:rPr>
              <a:t>처분은 append-only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214132" y="8100000"/>
            <a:ext cx="3316668" cy="2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변경도 삭제가 아니라 새 이력이며,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214132" y="8400000"/>
            <a:ext cx="3316668" cy="2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이력은 content-free 로 남습니다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1024128" y="1133856"/>
            <a:ext cx="50292" cy="274320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25296" y="111556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A59D1"/>
                </a:solidFill>
                <a:latin typeface="Pretendard SemiBold"/>
              </a:rPr>
              <a:t>01 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81328"/>
            <a:ext cx="16230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222222"/>
                </a:solidFill>
                <a:latin typeface="Pretendard SemiBold"/>
              </a:rPr>
              <a:t>세 구간 연동 구조 — 4 개 접점</a:t>
            </a:r>
          </a:p>
        </p:txBody>
      </p:sp>
      <p:sp>
        <p:nvSpPr>
          <p:cNvPr id="5" name="Rect 4"/>
          <p:cNvSpPr/>
          <p:nvPr/>
        </p:nvSpPr>
        <p:spPr>
          <a:xfrm>
            <a:off x="1024128" y="2331720"/>
            <a:ext cx="1623060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 5"/>
          <p:cNvSpPr/>
          <p:nvPr/>
        </p:nvSpPr>
        <p:spPr>
          <a:xfrm>
            <a:off x="14950440" y="9692640"/>
            <a:ext cx="2304288" cy="384048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05304" y="969264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 SemiBold"/>
              </a:rPr>
              <a:t>PAGE 09</a:t>
            </a:r>
          </a:p>
        </p:txBody>
      </p:sp>
      <p:sp>
        <p:nvSpPr>
          <p:cNvPr id="8" name="Rect 7"/>
          <p:cNvSpPr/>
          <p:nvPr/>
        </p:nvSpPr>
        <p:spPr>
          <a:xfrm>
            <a:off x="0" y="10186416"/>
            <a:ext cx="4818888" cy="100584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 8"/>
          <p:cNvSpPr/>
          <p:nvPr/>
        </p:nvSpPr>
        <p:spPr>
          <a:xfrm>
            <a:off x="1024128" y="2540000"/>
            <a:ext cx="16806672" cy="1560000"/>
          </a:xfrm>
          <a:prstGeom prst="rect">
            <a:avLst/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 9"/>
          <p:cNvSpPr/>
          <p:nvPr/>
        </p:nvSpPr>
        <p:spPr>
          <a:xfrm>
            <a:off x="1024128" y="2540000"/>
            <a:ext cx="45720" cy="1560000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 10"/>
          <p:cNvSpPr/>
          <p:nvPr/>
        </p:nvSpPr>
        <p:spPr>
          <a:xfrm>
            <a:off x="1324128" y="3130000"/>
            <a:ext cx="380000" cy="380000"/>
          </a:xfrm>
          <a:prstGeom prst="roundRect">
            <a:avLst>
              <a:gd name="adj" fmla="val 50000"/>
            </a:avLst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4128" y="3130000"/>
            <a:ext cx="38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 SemiBold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4128" y="2540000"/>
            <a:ext cx="2000000" cy="1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800" b="1">
                <a:solidFill>
                  <a:srgbClr val="222222"/>
                </a:solidFill>
                <a:latin typeface="Pretendard SemiBold"/>
              </a:rPr>
              <a:t>연결과 추적 관리</a:t>
            </a:r>
          </a:p>
        </p:txBody>
      </p:sp>
      <p:sp>
        <p:nvSpPr>
          <p:cNvPr id="14" name="Rect 13"/>
          <p:cNvSpPr/>
          <p:nvPr/>
        </p:nvSpPr>
        <p:spPr>
          <a:xfrm>
            <a:off x="3924128" y="2880000"/>
            <a:ext cx="2951668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24128" y="2880000"/>
            <a:ext cx="2951668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900" b="1">
                <a:solidFill>
                  <a:srgbClr val="222222"/>
                </a:solidFill>
                <a:latin typeface="Pretendard SemiBold"/>
              </a:rPr>
              <a:t>Source 연결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5796" y="2880000"/>
            <a:ext cx="4000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17" name="Rect 16"/>
          <p:cNvSpPr/>
          <p:nvPr/>
        </p:nvSpPr>
        <p:spPr>
          <a:xfrm>
            <a:off x="7275796" y="2880000"/>
            <a:ext cx="2951668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75796" y="2880000"/>
            <a:ext cx="2951668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900" b="1">
                <a:solidFill>
                  <a:srgbClr val="222222"/>
                </a:solidFill>
                <a:latin typeface="Pretendard SemiBold"/>
              </a:rPr>
              <a:t>서버 검증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27464" y="2880000"/>
            <a:ext cx="4000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20" name="Rect 19"/>
          <p:cNvSpPr/>
          <p:nvPr/>
        </p:nvSpPr>
        <p:spPr>
          <a:xfrm>
            <a:off x="10627464" y="2880000"/>
            <a:ext cx="2951668" cy="900000"/>
          </a:xfrm>
          <a:prstGeom prst="roundRect">
            <a:avLst>
              <a:gd name="adj" fmla="val 22000"/>
            </a:avLst>
          </a:prstGeom>
          <a:solidFill>
            <a:srgbClr val="E7F1EC"/>
          </a:solidFill>
          <a:ln w="222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27464" y="2880000"/>
            <a:ext cx="2951668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900" b="1">
                <a:solidFill>
                  <a:srgbClr val="2E7D5B"/>
                </a:solidFill>
                <a:latin typeface="Pretendard SemiBold"/>
              </a:rPr>
              <a:t>Mount 활성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79132" y="2880000"/>
            <a:ext cx="4000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23" name="Rect 22"/>
          <p:cNvSpPr/>
          <p:nvPr/>
        </p:nvSpPr>
        <p:spPr>
          <a:xfrm>
            <a:off x="13979132" y="2880000"/>
            <a:ext cx="2951668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979132" y="2880000"/>
            <a:ext cx="2951668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900" b="1">
                <a:solidFill>
                  <a:srgbClr val="3A59D1"/>
                </a:solidFill>
                <a:latin typeface="Pretendard SemiBold"/>
              </a:rPr>
              <a:t>분석 제외 범위</a:t>
            </a:r>
          </a:p>
        </p:txBody>
      </p:sp>
      <p:sp>
        <p:nvSpPr>
          <p:cNvPr id="25" name="Rect 24"/>
          <p:cNvSpPr/>
          <p:nvPr/>
        </p:nvSpPr>
        <p:spPr>
          <a:xfrm>
            <a:off x="1024128" y="4900000"/>
            <a:ext cx="16806672" cy="1560000"/>
          </a:xfrm>
          <a:prstGeom prst="rect">
            <a:avLst/>
          </a:prstGeom>
          <a:solidFill>
            <a:srgbClr val="FD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 25"/>
          <p:cNvSpPr/>
          <p:nvPr/>
        </p:nvSpPr>
        <p:spPr>
          <a:xfrm>
            <a:off x="1024128" y="4900000"/>
            <a:ext cx="45720" cy="1560000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 26"/>
          <p:cNvSpPr/>
          <p:nvPr/>
        </p:nvSpPr>
        <p:spPr>
          <a:xfrm>
            <a:off x="1324128" y="5490000"/>
            <a:ext cx="380000" cy="380000"/>
          </a:xfrm>
          <a:prstGeom prst="roundRect">
            <a:avLst>
              <a:gd name="adj" fmla="val 50000"/>
            </a:avLst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24128" y="5490000"/>
            <a:ext cx="38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 SemiBold"/>
              </a:rPr>
              <a:t>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4128" y="4900000"/>
            <a:ext cx="2000000" cy="1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800" b="1">
                <a:solidFill>
                  <a:srgbClr val="222222"/>
                </a:solidFill>
                <a:latin typeface="Pretendard SemiBold"/>
              </a:rPr>
              <a:t>감지와 분석</a:t>
            </a:r>
          </a:p>
        </p:txBody>
      </p:sp>
      <p:sp>
        <p:nvSpPr>
          <p:cNvPr id="30" name="Rect 29"/>
          <p:cNvSpPr/>
          <p:nvPr/>
        </p:nvSpPr>
        <p:spPr>
          <a:xfrm>
            <a:off x="3924128" y="5240000"/>
            <a:ext cx="2951668" cy="900000"/>
          </a:xfrm>
          <a:prstGeom prst="roundRect">
            <a:avLst>
              <a:gd name="adj" fmla="val 22000"/>
            </a:avLst>
          </a:prstGeom>
          <a:solidFill>
            <a:srgbClr val="E4E7F2"/>
          </a:solidFill>
          <a:ln w="22225">
            <a:solidFill>
              <a:srgbClr val="3A5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924128" y="5240000"/>
            <a:ext cx="2951668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900" b="1">
                <a:solidFill>
                  <a:srgbClr val="3A59D1"/>
                </a:solidFill>
                <a:latin typeface="Pretendard SemiBold"/>
              </a:rPr>
              <a:t>변경 이벤트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5796" y="5240000"/>
            <a:ext cx="4000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33" name="Rect 32"/>
          <p:cNvSpPr/>
          <p:nvPr/>
        </p:nvSpPr>
        <p:spPr>
          <a:xfrm>
            <a:off x="7275796" y="5240000"/>
            <a:ext cx="2951668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75796" y="5240000"/>
            <a:ext cx="2951668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900" b="1">
                <a:solidFill>
                  <a:srgbClr val="B87333"/>
                </a:solidFill>
                <a:latin typeface="Pretendard SemiBold"/>
              </a:rPr>
              <a:t>Security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27464" y="5240000"/>
            <a:ext cx="4000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36" name="Rect 35"/>
          <p:cNvSpPr/>
          <p:nvPr/>
        </p:nvSpPr>
        <p:spPr>
          <a:xfrm>
            <a:off x="10627464" y="5240000"/>
            <a:ext cx="2951668" cy="90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54896" y="5230871"/>
            <a:ext cx="2951668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ko-KR" altLang="en-US" sz="1900" b="1" dirty="0">
                <a:solidFill>
                  <a:srgbClr val="C00000"/>
                </a:solidFill>
                <a:latin typeface="Pretendard SemiBold"/>
              </a:rPr>
              <a:t>외부 근거 기반 </a:t>
            </a:r>
            <a:endParaRPr lang="en-US" altLang="ko-KR" sz="1900" b="1" dirty="0">
              <a:solidFill>
                <a:srgbClr val="C00000"/>
              </a:solidFill>
              <a:latin typeface="Pretendard SemiBold"/>
            </a:endParaRPr>
          </a:p>
          <a:p>
            <a:pPr algn="ctr"/>
            <a:r>
              <a:rPr lang="en-US" altLang="ko-KR" sz="1900" b="1" dirty="0">
                <a:solidFill>
                  <a:srgbClr val="C00000"/>
                </a:solidFill>
                <a:latin typeface="Pretendard SemiBold"/>
              </a:rPr>
              <a:t>IP Risk </a:t>
            </a:r>
            <a:r>
              <a:rPr lang="ko-KR" altLang="en-US" sz="1900" b="1" dirty="0">
                <a:solidFill>
                  <a:srgbClr val="C00000"/>
                </a:solidFill>
                <a:latin typeface="Pretendard SemiBold"/>
              </a:rPr>
              <a:t>분석</a:t>
            </a:r>
            <a:endParaRPr sz="1900" b="1" dirty="0">
              <a:solidFill>
                <a:srgbClr val="C00000"/>
              </a:solidFill>
              <a:latin typeface="Pretendard SemiBold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3579132" y="5240000"/>
            <a:ext cx="4000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39" name="Rect 38"/>
          <p:cNvSpPr/>
          <p:nvPr/>
        </p:nvSpPr>
        <p:spPr>
          <a:xfrm>
            <a:off x="13979132" y="5240000"/>
            <a:ext cx="2951668" cy="900000"/>
          </a:xfrm>
          <a:prstGeom prst="roundRect">
            <a:avLst>
              <a:gd name="adj" fmla="val 22000"/>
            </a:avLst>
          </a:prstGeom>
          <a:solidFill>
            <a:srgbClr val="F7EEE4"/>
          </a:solidFill>
          <a:ln w="22225">
            <a:solidFill>
              <a:srgbClr val="B8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3979132" y="5240000"/>
            <a:ext cx="2951668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900" b="1">
                <a:solidFill>
                  <a:srgbClr val="B87333"/>
                </a:solidFill>
                <a:latin typeface="Pretendard SemiBold"/>
              </a:rPr>
              <a:t>Risk 생성 · 갱신</a:t>
            </a:r>
          </a:p>
        </p:txBody>
      </p:sp>
      <p:sp>
        <p:nvSpPr>
          <p:cNvPr id="41" name="Rect 40"/>
          <p:cNvSpPr/>
          <p:nvPr/>
        </p:nvSpPr>
        <p:spPr>
          <a:xfrm>
            <a:off x="1024128" y="6960000"/>
            <a:ext cx="16806672" cy="1560000"/>
          </a:xfrm>
          <a:prstGeom prst="rect">
            <a:avLst/>
          </a:prstGeom>
          <a:solidFill>
            <a:srgbClr val="F4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Rect 41"/>
          <p:cNvSpPr/>
          <p:nvPr/>
        </p:nvSpPr>
        <p:spPr>
          <a:xfrm>
            <a:off x="1024128" y="6960000"/>
            <a:ext cx="45720" cy="15600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ect 42"/>
          <p:cNvSpPr/>
          <p:nvPr/>
        </p:nvSpPr>
        <p:spPr>
          <a:xfrm>
            <a:off x="1324128" y="7550000"/>
            <a:ext cx="380000" cy="38000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324128" y="7550000"/>
            <a:ext cx="38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 SemiBold"/>
              </a:rPr>
              <a:t>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4128" y="6960000"/>
            <a:ext cx="2000000" cy="15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800" b="1">
                <a:solidFill>
                  <a:srgbClr val="222222"/>
                </a:solidFill>
                <a:latin typeface="Pretendard SemiBold"/>
              </a:rPr>
              <a:t>검토와 판단</a:t>
            </a:r>
          </a:p>
        </p:txBody>
      </p:sp>
      <p:sp>
        <p:nvSpPr>
          <p:cNvPr id="46" name="Rect 45"/>
          <p:cNvSpPr/>
          <p:nvPr/>
        </p:nvSpPr>
        <p:spPr>
          <a:xfrm>
            <a:off x="3924128" y="7300000"/>
            <a:ext cx="2951668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924128" y="7300000"/>
            <a:ext cx="2951668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900" b="1">
                <a:solidFill>
                  <a:srgbClr val="222222"/>
                </a:solidFill>
                <a:latin typeface="Pretendard SemiBold"/>
              </a:rPr>
              <a:t>알림 확인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75796" y="7300000"/>
            <a:ext cx="4000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49" name="Rect 48"/>
          <p:cNvSpPr/>
          <p:nvPr/>
        </p:nvSpPr>
        <p:spPr>
          <a:xfrm>
            <a:off x="7275796" y="7300000"/>
            <a:ext cx="2951668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275796" y="7300000"/>
            <a:ext cx="2951668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900" b="1">
                <a:solidFill>
                  <a:srgbClr val="222222"/>
                </a:solidFill>
                <a:latin typeface="Pretendard SemiBold"/>
              </a:rPr>
              <a:t>Risk 검토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27464" y="7300000"/>
            <a:ext cx="4000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52" name="Rect 51"/>
          <p:cNvSpPr/>
          <p:nvPr/>
        </p:nvSpPr>
        <p:spPr>
          <a:xfrm>
            <a:off x="10627464" y="7300000"/>
            <a:ext cx="2951668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627464" y="7300000"/>
            <a:ext cx="2951668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900" b="1">
                <a:solidFill>
                  <a:srgbClr val="2E7D5B"/>
                </a:solidFill>
                <a:latin typeface="Pretendard SemiBold"/>
              </a:rPr>
              <a:t>disposition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579132" y="7300000"/>
            <a:ext cx="4000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55" name="Rect 54"/>
          <p:cNvSpPr/>
          <p:nvPr/>
        </p:nvSpPr>
        <p:spPr>
          <a:xfrm>
            <a:off x="13979132" y="7300000"/>
            <a:ext cx="2951668" cy="900000"/>
          </a:xfrm>
          <a:prstGeom prst="roundRect">
            <a:avLst>
              <a:gd name="adj" fmla="val 22000"/>
            </a:avLst>
          </a:prstGeom>
          <a:solidFill>
            <a:srgbClr val="E7F1EC"/>
          </a:solidFill>
          <a:ln w="222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3979132" y="7300000"/>
            <a:ext cx="2951668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900" b="1">
                <a:solidFill>
                  <a:srgbClr val="2E7D5B"/>
                </a:solidFill>
                <a:latin typeface="Pretendard SemiBold"/>
              </a:rPr>
              <a:t>판단 이력 보존</a:t>
            </a:r>
          </a:p>
        </p:txBody>
      </p:sp>
      <p:sp>
        <p:nvSpPr>
          <p:cNvPr id="57" name="Rect 56"/>
          <p:cNvSpPr/>
          <p:nvPr/>
        </p:nvSpPr>
        <p:spPr>
          <a:xfrm>
            <a:off x="12089582" y="3780000"/>
            <a:ext cx="27432" cy="520000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Rect 57"/>
          <p:cNvSpPr/>
          <p:nvPr/>
        </p:nvSpPr>
        <p:spPr>
          <a:xfrm>
            <a:off x="5399962" y="4286284"/>
            <a:ext cx="6730768" cy="27432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Rect 58"/>
          <p:cNvSpPr/>
          <p:nvPr/>
        </p:nvSpPr>
        <p:spPr>
          <a:xfrm>
            <a:off x="5386246" y="4300000"/>
            <a:ext cx="27432" cy="790000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199962" y="4950000"/>
            <a:ext cx="4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700" b="1">
                <a:solidFill>
                  <a:srgbClr val="3A59D1"/>
                </a:solidFill>
                <a:latin typeface="Pretendard SemiBold"/>
              </a:rPr>
              <a:t>▼</a:t>
            </a:r>
          </a:p>
        </p:txBody>
      </p:sp>
      <p:sp>
        <p:nvSpPr>
          <p:cNvPr id="61" name="Rect 60"/>
          <p:cNvSpPr/>
          <p:nvPr/>
        </p:nvSpPr>
        <p:spPr>
          <a:xfrm>
            <a:off x="7871630" y="4100000"/>
            <a:ext cx="1760000" cy="40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3A5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Rect 61"/>
          <p:cNvSpPr/>
          <p:nvPr/>
        </p:nvSpPr>
        <p:spPr>
          <a:xfrm>
            <a:off x="8001630" y="4110000"/>
            <a:ext cx="380000" cy="380000"/>
          </a:xfrm>
          <a:prstGeom prst="roundRect">
            <a:avLst>
              <a:gd name="adj" fmla="val 50000"/>
            </a:avLst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001630" y="4110000"/>
            <a:ext cx="38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 SemiBold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01630" y="4100000"/>
            <a:ext cx="11200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3A59D1"/>
                </a:solidFill>
                <a:latin typeface="Pretendard SemiBold"/>
              </a:rPr>
              <a:t>변경 발생 시</a:t>
            </a:r>
          </a:p>
        </p:txBody>
      </p:sp>
      <p:sp>
        <p:nvSpPr>
          <p:cNvPr id="65" name="Rect 64"/>
          <p:cNvSpPr/>
          <p:nvPr/>
        </p:nvSpPr>
        <p:spPr>
          <a:xfrm>
            <a:off x="15441250" y="3780000"/>
            <a:ext cx="27432" cy="920000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Rect 65"/>
          <p:cNvSpPr/>
          <p:nvPr/>
        </p:nvSpPr>
        <p:spPr>
          <a:xfrm>
            <a:off x="8751630" y="4686284"/>
            <a:ext cx="6730768" cy="27432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Rect 66"/>
          <p:cNvSpPr/>
          <p:nvPr/>
        </p:nvSpPr>
        <p:spPr>
          <a:xfrm>
            <a:off x="8737914" y="4700000"/>
            <a:ext cx="27432" cy="390000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551630" y="4950000"/>
            <a:ext cx="4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700" b="1">
                <a:solidFill>
                  <a:srgbClr val="3A59D1"/>
                </a:solidFill>
                <a:latin typeface="Pretendard SemiBold"/>
              </a:rPr>
              <a:t>▼</a:t>
            </a:r>
          </a:p>
        </p:txBody>
      </p:sp>
      <p:sp>
        <p:nvSpPr>
          <p:cNvPr id="69" name="Rect 68"/>
          <p:cNvSpPr/>
          <p:nvPr/>
        </p:nvSpPr>
        <p:spPr>
          <a:xfrm>
            <a:off x="11363298" y="4500000"/>
            <a:ext cx="1480000" cy="40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3A5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Rect 69"/>
          <p:cNvSpPr/>
          <p:nvPr/>
        </p:nvSpPr>
        <p:spPr>
          <a:xfrm>
            <a:off x="11493298" y="4510000"/>
            <a:ext cx="380000" cy="380000"/>
          </a:xfrm>
          <a:prstGeom prst="roundRect">
            <a:avLst>
              <a:gd name="adj" fmla="val 50000"/>
            </a:avLst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1493298" y="4510000"/>
            <a:ext cx="38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 SemiBold"/>
              </a:rP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993298" y="4500000"/>
            <a:ext cx="8400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3A59D1"/>
                </a:solidFill>
                <a:latin typeface="Pretendard SemiBold"/>
              </a:rPr>
              <a:t>범위 제한</a:t>
            </a:r>
          </a:p>
        </p:txBody>
      </p:sp>
      <p:sp>
        <p:nvSpPr>
          <p:cNvPr id="73" name="Rect 72"/>
          <p:cNvSpPr/>
          <p:nvPr/>
        </p:nvSpPr>
        <p:spPr>
          <a:xfrm>
            <a:off x="15441250" y="6140000"/>
            <a:ext cx="27432" cy="560000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Rect 73"/>
          <p:cNvSpPr/>
          <p:nvPr/>
        </p:nvSpPr>
        <p:spPr>
          <a:xfrm>
            <a:off x="5399962" y="6686284"/>
            <a:ext cx="10082436" cy="27432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Rect 74"/>
          <p:cNvSpPr/>
          <p:nvPr/>
        </p:nvSpPr>
        <p:spPr>
          <a:xfrm>
            <a:off x="5386246" y="6700000"/>
            <a:ext cx="27432" cy="450000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199962" y="7010000"/>
            <a:ext cx="4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700" b="1">
                <a:solidFill>
                  <a:srgbClr val="B87333"/>
                </a:solidFill>
                <a:latin typeface="Pretendard SemiBold"/>
              </a:rPr>
              <a:t>▼</a:t>
            </a:r>
          </a:p>
        </p:txBody>
      </p:sp>
      <p:sp>
        <p:nvSpPr>
          <p:cNvPr id="77" name="Rect 76"/>
          <p:cNvSpPr/>
          <p:nvPr/>
        </p:nvSpPr>
        <p:spPr>
          <a:xfrm>
            <a:off x="9547464" y="6500000"/>
            <a:ext cx="1760000" cy="40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B8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Rect 77"/>
          <p:cNvSpPr/>
          <p:nvPr/>
        </p:nvSpPr>
        <p:spPr>
          <a:xfrm>
            <a:off x="9677464" y="6510000"/>
            <a:ext cx="380000" cy="380000"/>
          </a:xfrm>
          <a:prstGeom prst="roundRect">
            <a:avLst>
              <a:gd name="adj" fmla="val 50000"/>
            </a:avLst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677464" y="6510000"/>
            <a:ext cx="38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 SemiBold"/>
              </a:rP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77464" y="6500000"/>
            <a:ext cx="11200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87333"/>
                </a:solidFill>
                <a:latin typeface="Pretendard SemiBold"/>
              </a:rPr>
              <a:t>알림 확인 시</a:t>
            </a:r>
          </a:p>
        </p:txBody>
      </p:sp>
      <p:sp>
        <p:nvSpPr>
          <p:cNvPr id="81" name="Rect 80"/>
          <p:cNvSpPr/>
          <p:nvPr/>
        </p:nvSpPr>
        <p:spPr>
          <a:xfrm>
            <a:off x="16930800" y="7736284"/>
            <a:ext cx="450000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Rect 81"/>
          <p:cNvSpPr/>
          <p:nvPr/>
        </p:nvSpPr>
        <p:spPr>
          <a:xfrm>
            <a:off x="17367084" y="5690000"/>
            <a:ext cx="27432" cy="20600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Rect 82"/>
          <p:cNvSpPr/>
          <p:nvPr/>
        </p:nvSpPr>
        <p:spPr>
          <a:xfrm>
            <a:off x="17080800" y="5676284"/>
            <a:ext cx="300000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6870800" y="5530000"/>
            <a:ext cx="4000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700" b="1">
                <a:solidFill>
                  <a:srgbClr val="2E7D5B"/>
                </a:solidFill>
                <a:latin typeface="Pretendard SemiBold"/>
              </a:rPr>
              <a:t>◀</a:t>
            </a:r>
          </a:p>
        </p:txBody>
      </p:sp>
      <p:sp>
        <p:nvSpPr>
          <p:cNvPr id="85" name="Rect 84"/>
          <p:cNvSpPr/>
          <p:nvPr/>
        </p:nvSpPr>
        <p:spPr>
          <a:xfrm>
            <a:off x="15630800" y="6470000"/>
            <a:ext cx="1480000" cy="40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Rect 85"/>
          <p:cNvSpPr/>
          <p:nvPr/>
        </p:nvSpPr>
        <p:spPr>
          <a:xfrm>
            <a:off x="15760800" y="6480000"/>
            <a:ext cx="380000" cy="38000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5760800" y="6480000"/>
            <a:ext cx="38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 SemiBold"/>
              </a:rP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6260800" y="6470000"/>
            <a:ext cx="8400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E7D5B"/>
                </a:solidFill>
                <a:latin typeface="Pretendard SemiBold"/>
              </a:rPr>
              <a:t>판단 유지</a:t>
            </a:r>
          </a:p>
        </p:txBody>
      </p:sp>
      <p:sp>
        <p:nvSpPr>
          <p:cNvPr id="89" name="Rect 88"/>
          <p:cNvSpPr/>
          <p:nvPr/>
        </p:nvSpPr>
        <p:spPr>
          <a:xfrm>
            <a:off x="1024128" y="8620000"/>
            <a:ext cx="3976668" cy="740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Rect 89"/>
          <p:cNvSpPr/>
          <p:nvPr/>
        </p:nvSpPr>
        <p:spPr>
          <a:xfrm>
            <a:off x="1024128" y="8620000"/>
            <a:ext cx="45720" cy="740000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Rect 90"/>
          <p:cNvSpPr/>
          <p:nvPr/>
        </p:nvSpPr>
        <p:spPr>
          <a:xfrm>
            <a:off x="1244128" y="8750000"/>
            <a:ext cx="300000" cy="300000"/>
          </a:xfrm>
          <a:prstGeom prst="roundRect">
            <a:avLst>
              <a:gd name="adj" fmla="val 50000"/>
            </a:avLst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244128" y="875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 SemiBold"/>
              </a:rP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664128" y="8740000"/>
            <a:ext cx="3136668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222222"/>
                </a:solidFill>
                <a:latin typeface="Pretendard SemiBold"/>
              </a:rPr>
              <a:t>Mount 활성  ▸  변경 이벤트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664128" y="9040000"/>
            <a:ext cx="3136668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연결이 살아 있는 동안에만 감지된다</a:t>
            </a:r>
          </a:p>
        </p:txBody>
      </p:sp>
      <p:sp>
        <p:nvSpPr>
          <p:cNvPr id="95" name="Rect 94"/>
          <p:cNvSpPr/>
          <p:nvPr/>
        </p:nvSpPr>
        <p:spPr>
          <a:xfrm>
            <a:off x="5300796" y="8620000"/>
            <a:ext cx="3976668" cy="740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6" name="Rect 95"/>
          <p:cNvSpPr/>
          <p:nvPr/>
        </p:nvSpPr>
        <p:spPr>
          <a:xfrm>
            <a:off x="5300796" y="8620000"/>
            <a:ext cx="45720" cy="740000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Rect 96"/>
          <p:cNvSpPr/>
          <p:nvPr/>
        </p:nvSpPr>
        <p:spPr>
          <a:xfrm>
            <a:off x="5520796" y="8750000"/>
            <a:ext cx="300000" cy="300000"/>
          </a:xfrm>
          <a:prstGeom prst="roundRect">
            <a:avLst>
              <a:gd name="adj" fmla="val 50000"/>
            </a:avLst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520796" y="875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 SemiBold"/>
              </a:rPr>
              <a:t>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940796" y="8740000"/>
            <a:ext cx="3136668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222222"/>
                </a:solidFill>
                <a:latin typeface="Pretendard SemiBold"/>
              </a:rPr>
              <a:t>분석 제외 범위  ▸  Security Gate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940796" y="9040000"/>
            <a:ext cx="3136668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사용자가 정한 범위가 분석을 제한한다</a:t>
            </a:r>
          </a:p>
        </p:txBody>
      </p:sp>
      <p:sp>
        <p:nvSpPr>
          <p:cNvPr id="101" name="Rect 100"/>
          <p:cNvSpPr/>
          <p:nvPr/>
        </p:nvSpPr>
        <p:spPr>
          <a:xfrm>
            <a:off x="9577464" y="8620000"/>
            <a:ext cx="3976668" cy="740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2" name="Rect 101"/>
          <p:cNvSpPr/>
          <p:nvPr/>
        </p:nvSpPr>
        <p:spPr>
          <a:xfrm>
            <a:off x="9577464" y="8620000"/>
            <a:ext cx="45720" cy="740000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3" name="Rect 102"/>
          <p:cNvSpPr/>
          <p:nvPr/>
        </p:nvSpPr>
        <p:spPr>
          <a:xfrm>
            <a:off x="9797464" y="8750000"/>
            <a:ext cx="300000" cy="300000"/>
          </a:xfrm>
          <a:prstGeom prst="roundRect">
            <a:avLst>
              <a:gd name="adj" fmla="val 50000"/>
            </a:avLst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9797464" y="875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 SemiBold"/>
              </a:rPr>
              <a:t>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217464" y="8740000"/>
            <a:ext cx="3136668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222222"/>
                </a:solidFill>
                <a:latin typeface="Pretendard SemiBold"/>
              </a:rPr>
              <a:t>Risk 생성·갱신  ▸  알림 확인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17464" y="9040000"/>
            <a:ext cx="3136668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상태가 바뀔 때만 사람에게 간다</a:t>
            </a:r>
          </a:p>
        </p:txBody>
      </p:sp>
      <p:sp>
        <p:nvSpPr>
          <p:cNvPr id="107" name="Rect 106"/>
          <p:cNvSpPr/>
          <p:nvPr/>
        </p:nvSpPr>
        <p:spPr>
          <a:xfrm>
            <a:off x="13854132" y="8620000"/>
            <a:ext cx="3976668" cy="740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8" name="Rect 107"/>
          <p:cNvSpPr/>
          <p:nvPr/>
        </p:nvSpPr>
        <p:spPr>
          <a:xfrm>
            <a:off x="13854132" y="8620000"/>
            <a:ext cx="45720" cy="7400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9" name="Rect 108"/>
          <p:cNvSpPr/>
          <p:nvPr/>
        </p:nvSpPr>
        <p:spPr>
          <a:xfrm>
            <a:off x="14074132" y="8750000"/>
            <a:ext cx="300000" cy="30000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14074132" y="875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 SemiBold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4494132" y="8740000"/>
            <a:ext cx="3136668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222222"/>
                </a:solidFill>
                <a:latin typeface="Pretendard SemiBold"/>
              </a:rPr>
              <a:t>판단 이력 보존  ▸  Risk 생성·갱신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4494132" y="9040000"/>
            <a:ext cx="3136668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사람의 판단이 다음 판정에 유지된다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1024128" y="1133856"/>
            <a:ext cx="50292" cy="274320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25296" y="111556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A59D1"/>
                </a:solidFill>
                <a:latin typeface="Pretendard SemiBold"/>
              </a:rPr>
              <a:t>01 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81328"/>
            <a:ext cx="16230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222222"/>
                </a:solidFill>
                <a:latin typeface="Pretendard SemiBold"/>
              </a:rPr>
              <a:t>라이선스 위험 — 분석 입력과 판정 파이프라인</a:t>
            </a:r>
          </a:p>
        </p:txBody>
      </p:sp>
      <p:sp>
        <p:nvSpPr>
          <p:cNvPr id="5" name="Rect 4"/>
          <p:cNvSpPr/>
          <p:nvPr/>
        </p:nvSpPr>
        <p:spPr>
          <a:xfrm>
            <a:off x="1024128" y="2331720"/>
            <a:ext cx="1623060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 5"/>
          <p:cNvSpPr/>
          <p:nvPr/>
        </p:nvSpPr>
        <p:spPr>
          <a:xfrm>
            <a:off x="14950440" y="9692640"/>
            <a:ext cx="2304288" cy="384048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05304" y="969264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 SemiBold"/>
              </a:rPr>
              <a:t>PAGE 10</a:t>
            </a:r>
          </a:p>
        </p:txBody>
      </p:sp>
      <p:sp>
        <p:nvSpPr>
          <p:cNvPr id="8" name="Rect 7"/>
          <p:cNvSpPr/>
          <p:nvPr/>
        </p:nvSpPr>
        <p:spPr>
          <a:xfrm>
            <a:off x="0" y="10186416"/>
            <a:ext cx="4818888" cy="100584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 11"/>
          <p:cNvSpPr/>
          <p:nvPr/>
        </p:nvSpPr>
        <p:spPr>
          <a:xfrm>
            <a:off x="1024128" y="3312000"/>
            <a:ext cx="8203336" cy="2844000"/>
          </a:xfrm>
          <a:prstGeom prst="rect">
            <a:avLst/>
          </a:prstGeom>
          <a:solidFill>
            <a:srgbClr val="FFFFFF"/>
          </a:solidFill>
          <a:ln w="15875">
            <a:solidFill>
              <a:srgbClr val="3A5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 12"/>
          <p:cNvSpPr/>
          <p:nvPr/>
        </p:nvSpPr>
        <p:spPr>
          <a:xfrm>
            <a:off x="1024128" y="3312000"/>
            <a:ext cx="8203336" cy="1180000"/>
          </a:xfrm>
          <a:prstGeom prst="rect">
            <a:avLst/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3"/>
          <p:cNvSpPr txBox="1"/>
          <p:nvPr/>
        </p:nvSpPr>
        <p:spPr>
          <a:xfrm>
            <a:off x="1364128" y="3562000"/>
            <a:ext cx="7523336" cy="4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3A59D1"/>
                </a:solidFill>
                <a:latin typeface="Pretendard SemiBold"/>
              </a:rPr>
              <a:t>License Risk</a:t>
            </a:r>
            <a:r>
              <a:rPr sz="1500" b="0">
                <a:solidFill>
                  <a:srgbClr val="939393"/>
                </a:solidFill>
                <a:latin typeface="Pretendard"/>
              </a:rPr>
              <a:t>     라이선스 위험</a:t>
            </a:r>
          </a:p>
        </p:txBody>
      </p:sp>
      <p:sp>
        <p:nvSpPr>
          <p:cNvPr id="12" name="TextBox 14"/>
          <p:cNvSpPr txBox="1"/>
          <p:nvPr/>
        </p:nvSpPr>
        <p:spPr>
          <a:xfrm>
            <a:off x="1364128" y="4082000"/>
            <a:ext cx="7523336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Pretendard"/>
              </a:rPr>
              <a:t>외부 패키지의 라이선스 의무가 우리 배포 형태와 충돌하는가</a:t>
            </a:r>
          </a:p>
        </p:txBody>
      </p:sp>
      <p:sp>
        <p:nvSpPr>
          <p:cNvPr id="13" name="TextBox 15"/>
          <p:cNvSpPr txBox="1"/>
          <p:nvPr/>
        </p:nvSpPr>
        <p:spPr>
          <a:xfrm>
            <a:off x="1364128" y="4692000"/>
            <a:ext cx="7523336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222222"/>
                </a:solidFill>
                <a:latin typeface="Pretendard SemiBold"/>
              </a:rPr>
              <a:t>분석에 쓰는 정보</a:t>
            </a:r>
            <a:r>
              <a:rPr sz="1150" b="0">
                <a:solidFill>
                  <a:srgbClr val="939393"/>
                </a:solidFill>
                <a:latin typeface="Pretendard"/>
              </a:rPr>
              <a:t>     INPUT</a:t>
            </a:r>
          </a:p>
        </p:txBody>
      </p:sp>
      <p:sp>
        <p:nvSpPr>
          <p:cNvPr id="14" name="Rect 16"/>
          <p:cNvSpPr/>
          <p:nvPr/>
        </p:nvSpPr>
        <p:spPr>
          <a:xfrm>
            <a:off x="1364128" y="5012000"/>
            <a:ext cx="7523336" cy="74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 17"/>
          <p:cNvSpPr/>
          <p:nvPr/>
        </p:nvSpPr>
        <p:spPr>
          <a:xfrm>
            <a:off x="1524128" y="5092000"/>
            <a:ext cx="1660900" cy="29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8"/>
          <p:cNvSpPr txBox="1"/>
          <p:nvPr/>
        </p:nvSpPr>
        <p:spPr>
          <a:xfrm>
            <a:off x="1664128" y="5092000"/>
            <a:ext cx="1380900" cy="29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22222"/>
                </a:solidFill>
                <a:latin typeface="Pretendard SemiBold"/>
              </a:rPr>
              <a:t>패키지 이름 · 버전</a:t>
            </a:r>
          </a:p>
        </p:txBody>
      </p:sp>
      <p:sp>
        <p:nvSpPr>
          <p:cNvPr id="17" name="Rect 19"/>
          <p:cNvSpPr/>
          <p:nvPr/>
        </p:nvSpPr>
        <p:spPr>
          <a:xfrm>
            <a:off x="3305028" y="5092000"/>
            <a:ext cx="1752100" cy="29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20"/>
          <p:cNvSpPr txBox="1"/>
          <p:nvPr/>
        </p:nvSpPr>
        <p:spPr>
          <a:xfrm>
            <a:off x="3445028" y="5092000"/>
            <a:ext cx="1472100" cy="29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22222"/>
                </a:solidFill>
                <a:latin typeface="Pretendard SemiBold"/>
              </a:rPr>
              <a:t>생태계</a:t>
            </a:r>
            <a:r>
              <a:rPr sz="1200" b="0">
                <a:solidFill>
                  <a:srgbClr val="939393"/>
                </a:solidFill>
                <a:latin typeface="Pretendard"/>
              </a:rPr>
              <a:t>   PyPI · npm</a:t>
            </a:r>
          </a:p>
        </p:txBody>
      </p:sp>
      <p:sp>
        <p:nvSpPr>
          <p:cNvPr id="19" name="Rect 21"/>
          <p:cNvSpPr/>
          <p:nvPr/>
        </p:nvSpPr>
        <p:spPr>
          <a:xfrm>
            <a:off x="5177128" y="5092000"/>
            <a:ext cx="2739700" cy="29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22"/>
          <p:cNvSpPr txBox="1"/>
          <p:nvPr/>
        </p:nvSpPr>
        <p:spPr>
          <a:xfrm>
            <a:off x="5317128" y="5092000"/>
            <a:ext cx="2459700" cy="29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22222"/>
                </a:solidFill>
                <a:latin typeface="Pretendard SemiBold"/>
              </a:rPr>
              <a:t>버전 확정도</a:t>
            </a:r>
            <a:r>
              <a:rPr sz="1200" b="0">
                <a:solidFill>
                  <a:srgbClr val="939393"/>
                </a:solidFill>
                <a:latin typeface="Pretendard"/>
              </a:rPr>
              <a:t>   잠금 · 고정 · 범위</a:t>
            </a:r>
          </a:p>
        </p:txBody>
      </p:sp>
      <p:sp>
        <p:nvSpPr>
          <p:cNvPr id="21" name="Rect 23"/>
          <p:cNvSpPr/>
          <p:nvPr/>
        </p:nvSpPr>
        <p:spPr>
          <a:xfrm>
            <a:off x="1524128" y="5432000"/>
            <a:ext cx="2502400" cy="29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4"/>
          <p:cNvSpPr txBox="1"/>
          <p:nvPr/>
        </p:nvSpPr>
        <p:spPr>
          <a:xfrm>
            <a:off x="1664128" y="5432000"/>
            <a:ext cx="2222400" cy="29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22222"/>
                </a:solidFill>
                <a:latin typeface="Pretendard SemiBold"/>
              </a:rPr>
              <a:t>라이선스 표현식</a:t>
            </a:r>
            <a:r>
              <a:rPr sz="1200" b="0">
                <a:solidFill>
                  <a:srgbClr val="939393"/>
                </a:solidFill>
                <a:latin typeface="Pretendard"/>
              </a:rPr>
              <a:t>   원문 그대로</a:t>
            </a:r>
          </a:p>
        </p:txBody>
      </p:sp>
      <p:sp>
        <p:nvSpPr>
          <p:cNvPr id="23" name="Rect 25"/>
          <p:cNvSpPr/>
          <p:nvPr/>
        </p:nvSpPr>
        <p:spPr>
          <a:xfrm>
            <a:off x="4146528" y="5432000"/>
            <a:ext cx="2427700" cy="29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6"/>
          <p:cNvSpPr txBox="1"/>
          <p:nvPr/>
        </p:nvSpPr>
        <p:spPr>
          <a:xfrm>
            <a:off x="4286528" y="5432000"/>
            <a:ext cx="2147700" cy="29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22222"/>
                </a:solidFill>
                <a:latin typeface="Pretendard SemiBold"/>
              </a:rPr>
              <a:t>우리 배포 형태</a:t>
            </a:r>
            <a:r>
              <a:rPr sz="1200" b="0">
                <a:solidFill>
                  <a:srgbClr val="939393"/>
                </a:solidFill>
                <a:latin typeface="Pretendard"/>
              </a:rPr>
              <a:t>   비공개 상용</a:t>
            </a:r>
          </a:p>
        </p:txBody>
      </p:sp>
      <p:sp>
        <p:nvSpPr>
          <p:cNvPr id="25" name="Rect 11"/>
          <p:cNvSpPr/>
          <p:nvPr/>
        </p:nvSpPr>
        <p:spPr>
          <a:xfrm>
            <a:off x="9626400" y="3311999"/>
            <a:ext cx="8204400" cy="2844000"/>
          </a:xfrm>
          <a:prstGeom prst="rect">
            <a:avLst/>
          </a:prstGeom>
          <a:solidFill>
            <a:srgbClr val="FFFFFF"/>
          </a:solidFill>
          <a:ln w="15875">
            <a:solidFill>
              <a:srgbClr val="3A5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7"/>
          <p:cNvSpPr txBox="1"/>
          <p:nvPr/>
        </p:nvSpPr>
        <p:spPr>
          <a:xfrm>
            <a:off x="9968128" y="3618400"/>
            <a:ext cx="7523336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222222"/>
                </a:solidFill>
                <a:latin typeface="Pretendard SemiBold"/>
              </a:rPr>
              <a:t>근거 데이터 · API</a:t>
            </a:r>
            <a:r>
              <a:rPr sz="1150" b="0">
                <a:solidFill>
                  <a:srgbClr val="939393"/>
                </a:solidFill>
                <a:latin typeface="Pretendard"/>
              </a:rPr>
              <a:t>     SOURCES</a:t>
            </a:r>
          </a:p>
        </p:txBody>
      </p:sp>
      <p:sp>
        <p:nvSpPr>
          <p:cNvPr id="27" name="TextBox 28"/>
          <p:cNvSpPr txBox="1"/>
          <p:nvPr/>
        </p:nvSpPr>
        <p:spPr>
          <a:xfrm>
            <a:off x="9968128" y="3938400"/>
            <a:ext cx="31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3A59D1"/>
                </a:solidFill>
                <a:latin typeface="Pretendard SemiBold"/>
              </a:rPr>
              <a:t>deps.dev · npm · PyPI</a:t>
            </a:r>
          </a:p>
        </p:txBody>
      </p:sp>
      <p:sp>
        <p:nvSpPr>
          <p:cNvPr id="28" name="TextBox 29"/>
          <p:cNvSpPr txBox="1"/>
          <p:nvPr/>
        </p:nvSpPr>
        <p:spPr>
          <a:xfrm>
            <a:off x="13168128" y="3938400"/>
            <a:ext cx="292333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패키지의 라이선스를 알아낸다</a:t>
            </a:r>
          </a:p>
        </p:txBody>
      </p:sp>
      <p:sp>
        <p:nvSpPr>
          <p:cNvPr id="29" name="Rect 30"/>
          <p:cNvSpPr/>
          <p:nvPr/>
        </p:nvSpPr>
        <p:spPr>
          <a:xfrm>
            <a:off x="9968128" y="4258400"/>
            <a:ext cx="7523336" cy="10972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31"/>
          <p:cNvSpPr txBox="1"/>
          <p:nvPr/>
        </p:nvSpPr>
        <p:spPr>
          <a:xfrm>
            <a:off x="9968128" y="4298400"/>
            <a:ext cx="31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3A59D1"/>
                </a:solidFill>
                <a:latin typeface="Pretendard SemiBold"/>
              </a:rPr>
              <a:t>SPDX 라이선스 목록</a:t>
            </a:r>
          </a:p>
        </p:txBody>
      </p:sp>
      <p:sp>
        <p:nvSpPr>
          <p:cNvPr id="31" name="TextBox 32"/>
          <p:cNvSpPr txBox="1"/>
          <p:nvPr/>
        </p:nvSpPr>
        <p:spPr>
          <a:xfrm>
            <a:off x="13168128" y="4298400"/>
            <a:ext cx="292333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이름을 공식 표기로 통일한다</a:t>
            </a:r>
          </a:p>
        </p:txBody>
      </p:sp>
      <p:sp>
        <p:nvSpPr>
          <p:cNvPr id="32" name="TextBox 33"/>
          <p:cNvSpPr txBox="1"/>
          <p:nvPr/>
        </p:nvSpPr>
        <p:spPr>
          <a:xfrm>
            <a:off x="16191464" y="4278400"/>
            <a:ext cx="13000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50" b="1">
                <a:solidFill>
                  <a:srgbClr val="3A59D1"/>
                </a:solidFill>
                <a:latin typeface="Pretendard SemiBold"/>
              </a:rPr>
              <a:t>727</a:t>
            </a:r>
            <a:r>
              <a:rPr sz="1150" b="0">
                <a:solidFill>
                  <a:srgbClr val="939393"/>
                </a:solidFill>
                <a:latin typeface="Pretendard"/>
              </a:rPr>
              <a:t>종</a:t>
            </a:r>
          </a:p>
        </p:txBody>
      </p:sp>
      <p:sp>
        <p:nvSpPr>
          <p:cNvPr id="33" name="Rect 34"/>
          <p:cNvSpPr/>
          <p:nvPr/>
        </p:nvSpPr>
        <p:spPr>
          <a:xfrm>
            <a:off x="9968128" y="4618400"/>
            <a:ext cx="7523336" cy="10972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5"/>
          <p:cNvSpPr txBox="1"/>
          <p:nvPr/>
        </p:nvSpPr>
        <p:spPr>
          <a:xfrm>
            <a:off x="9968128" y="4658400"/>
            <a:ext cx="31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3A59D1"/>
                </a:solidFill>
                <a:latin typeface="Pretendard SemiBold"/>
              </a:rPr>
              <a:t>정책 표   자체 구축</a:t>
            </a:r>
          </a:p>
        </p:txBody>
      </p:sp>
      <p:sp>
        <p:nvSpPr>
          <p:cNvPr id="35" name="TextBox 36"/>
          <p:cNvSpPr txBox="1"/>
          <p:nvPr/>
        </p:nvSpPr>
        <p:spPr>
          <a:xfrm>
            <a:off x="13168128" y="4658400"/>
            <a:ext cx="292333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우리 배포에 괜찮은지 판정한다</a:t>
            </a:r>
          </a:p>
        </p:txBody>
      </p:sp>
      <p:sp>
        <p:nvSpPr>
          <p:cNvPr id="36" name="TextBox 37"/>
          <p:cNvSpPr txBox="1"/>
          <p:nvPr/>
        </p:nvSpPr>
        <p:spPr>
          <a:xfrm>
            <a:off x="16191464" y="4638400"/>
            <a:ext cx="13000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50" b="1">
                <a:solidFill>
                  <a:srgbClr val="3A59D1"/>
                </a:solidFill>
                <a:latin typeface="Pretendard SemiBold"/>
              </a:rPr>
              <a:t>226</a:t>
            </a:r>
            <a:r>
              <a:rPr sz="1150" b="0">
                <a:solidFill>
                  <a:srgbClr val="939393"/>
                </a:solidFill>
                <a:latin typeface="Pretendard"/>
              </a:rPr>
              <a:t>종</a:t>
            </a:r>
          </a:p>
        </p:txBody>
      </p:sp>
      <p:sp>
        <p:nvSpPr>
          <p:cNvPr id="37" name="Rect 38"/>
          <p:cNvSpPr/>
          <p:nvPr/>
        </p:nvSpPr>
        <p:spPr>
          <a:xfrm>
            <a:off x="9968128" y="4978400"/>
            <a:ext cx="7523336" cy="10972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9"/>
          <p:cNvSpPr txBox="1"/>
          <p:nvPr/>
        </p:nvSpPr>
        <p:spPr>
          <a:xfrm>
            <a:off x="9968128" y="5018400"/>
            <a:ext cx="31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3A59D1"/>
                </a:solidFill>
                <a:latin typeface="Pretendard SemiBold"/>
              </a:rPr>
              <a:t>라이선스 전문 문서   RAG</a:t>
            </a:r>
          </a:p>
        </p:txBody>
      </p:sp>
      <p:sp>
        <p:nvSpPr>
          <p:cNvPr id="39" name="TextBox 40"/>
          <p:cNvSpPr txBox="1"/>
          <p:nvPr/>
        </p:nvSpPr>
        <p:spPr>
          <a:xfrm>
            <a:off x="13168128" y="5018400"/>
            <a:ext cx="292333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판정의 근거 조항을 찾아 붙인다</a:t>
            </a:r>
          </a:p>
        </p:txBody>
      </p:sp>
      <p:sp>
        <p:nvSpPr>
          <p:cNvPr id="40" name="TextBox 41"/>
          <p:cNvSpPr txBox="1"/>
          <p:nvPr/>
        </p:nvSpPr>
        <p:spPr>
          <a:xfrm>
            <a:off x="16191464" y="4998400"/>
            <a:ext cx="13000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50" b="1">
                <a:solidFill>
                  <a:srgbClr val="3A59D1"/>
                </a:solidFill>
                <a:latin typeface="Pretendard SemiBold"/>
              </a:rPr>
              <a:t>675</a:t>
            </a:r>
            <a:r>
              <a:rPr sz="1150" b="0">
                <a:solidFill>
                  <a:srgbClr val="939393"/>
                </a:solidFill>
                <a:latin typeface="Pretendard"/>
              </a:rPr>
              <a:t>편</a:t>
            </a:r>
          </a:p>
        </p:txBody>
      </p:sp>
      <p:sp>
        <p:nvSpPr>
          <p:cNvPr id="41" name="Rect 42"/>
          <p:cNvSpPr/>
          <p:nvPr/>
        </p:nvSpPr>
        <p:spPr>
          <a:xfrm>
            <a:off x="9968128" y="5438400"/>
            <a:ext cx="7523336" cy="400000"/>
          </a:xfrm>
          <a:prstGeom prst="rect">
            <a:avLst/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3"/>
          <p:cNvSpPr txBox="1"/>
          <p:nvPr/>
        </p:nvSpPr>
        <p:spPr>
          <a:xfrm>
            <a:off x="10168128" y="5438400"/>
            <a:ext cx="7123336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3A59D1"/>
                </a:solidFill>
                <a:latin typeface="Pretendard SemiBold"/>
              </a:rPr>
              <a:t>판정      </a:t>
            </a:r>
            <a:r>
              <a:rPr sz="1200" b="0">
                <a:solidFill>
                  <a:srgbClr val="222222"/>
                </a:solidFill>
                <a:latin typeface="Pretendard"/>
              </a:rPr>
              <a:t>관리 대상 아님  ·  고지만 하면 됨  ·  조건부 검토  ·  배포와 충돌  ·  </a:t>
            </a:r>
            <a:r>
              <a:rPr sz="1200" b="1">
                <a:solidFill>
                  <a:srgbClr val="222222"/>
                </a:solidFill>
                <a:latin typeface="Pretendard SemiBold"/>
              </a:rPr>
              <a:t>판정 불가</a:t>
            </a:r>
          </a:p>
        </p:txBody>
      </p:sp>
      <p:sp>
        <p:nvSpPr>
          <p:cNvPr id="43" name="Rounded Rectangle 11"/>
          <p:cNvSpPr/>
          <p:nvPr/>
        </p:nvSpPr>
        <p:spPr>
          <a:xfrm>
            <a:off x="1024128" y="6589728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12"/>
          <p:cNvSpPr txBox="1"/>
          <p:nvPr/>
        </p:nvSpPr>
        <p:spPr>
          <a:xfrm>
            <a:off x="1024128" y="658972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 SemiBold"/>
              </a:rPr>
              <a:t>코드</a:t>
            </a:r>
          </a:p>
        </p:txBody>
      </p:sp>
      <p:sp>
        <p:nvSpPr>
          <p:cNvPr id="45" name="TextBox 13"/>
          <p:cNvSpPr txBox="1"/>
          <p:nvPr/>
        </p:nvSpPr>
        <p:spPr>
          <a:xfrm>
            <a:off x="1810512" y="658972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결정론 파서 · 게이트</a:t>
            </a:r>
          </a:p>
        </p:txBody>
      </p:sp>
      <p:sp>
        <p:nvSpPr>
          <p:cNvPr id="46" name="Rounded Rectangle 14"/>
          <p:cNvSpPr/>
          <p:nvPr/>
        </p:nvSpPr>
        <p:spPr>
          <a:xfrm>
            <a:off x="4572000" y="6589728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15"/>
          <p:cNvSpPr txBox="1"/>
          <p:nvPr/>
        </p:nvSpPr>
        <p:spPr>
          <a:xfrm>
            <a:off x="4572000" y="658972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 SemiBold"/>
              </a:rPr>
              <a:t>검색</a:t>
            </a:r>
          </a:p>
        </p:txBody>
      </p:sp>
      <p:sp>
        <p:nvSpPr>
          <p:cNvPr id="48" name="TextBox 16"/>
          <p:cNvSpPr txBox="1"/>
          <p:nvPr/>
        </p:nvSpPr>
        <p:spPr>
          <a:xfrm>
            <a:off x="5358384" y="658972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RAG · 외부 조회</a:t>
            </a:r>
          </a:p>
        </p:txBody>
      </p:sp>
      <p:sp>
        <p:nvSpPr>
          <p:cNvPr id="49" name="Rounded Rectangle 17"/>
          <p:cNvSpPr/>
          <p:nvPr/>
        </p:nvSpPr>
        <p:spPr>
          <a:xfrm>
            <a:off x="8138160" y="6589728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18"/>
          <p:cNvSpPr txBox="1"/>
          <p:nvPr/>
        </p:nvSpPr>
        <p:spPr>
          <a:xfrm>
            <a:off x="8138160" y="658972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 SemiBold"/>
              </a:rPr>
              <a:t>판정</a:t>
            </a:r>
          </a:p>
        </p:txBody>
      </p:sp>
      <p:sp>
        <p:nvSpPr>
          <p:cNvPr id="51" name="TextBox 19"/>
          <p:cNvSpPr txBox="1"/>
          <p:nvPr/>
        </p:nvSpPr>
        <p:spPr>
          <a:xfrm>
            <a:off x="8924544" y="6625411"/>
            <a:ext cx="31089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dirty="0" err="1">
                <a:solidFill>
                  <a:srgbClr val="939393"/>
                </a:solidFill>
                <a:latin typeface="Pretendard"/>
              </a:rPr>
              <a:t>등급</a:t>
            </a:r>
            <a:r>
              <a:rPr lang="en-US" sz="1200" b="0" dirty="0">
                <a:solidFill>
                  <a:srgbClr val="939393"/>
                </a:solidFill>
                <a:latin typeface="Pretendard"/>
              </a:rPr>
              <a:t> </a:t>
            </a:r>
            <a:r>
              <a:rPr lang="ko-KR" altLang="en-US" sz="1200" b="0" dirty="0">
                <a:solidFill>
                  <a:srgbClr val="939393"/>
                </a:solidFill>
                <a:latin typeface="Pretendard"/>
              </a:rPr>
              <a:t>선정 </a:t>
            </a:r>
            <a:r>
              <a:rPr sz="1200" b="0" dirty="0" err="1">
                <a:solidFill>
                  <a:srgbClr val="939393"/>
                </a:solidFill>
                <a:latin typeface="Pretendard"/>
              </a:rPr>
              <a:t>단계</a:t>
            </a:r>
            <a:endParaRPr sz="1200" b="0" dirty="0">
              <a:solidFill>
                <a:srgbClr val="939393"/>
              </a:solidFill>
              <a:latin typeface="Pretendard"/>
            </a:endParaRPr>
          </a:p>
        </p:txBody>
      </p:sp>
      <p:sp>
        <p:nvSpPr>
          <p:cNvPr id="52" name="Rounded Rectangle 20"/>
          <p:cNvSpPr/>
          <p:nvPr/>
        </p:nvSpPr>
        <p:spPr>
          <a:xfrm>
            <a:off x="12435840" y="6589728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21"/>
          <p:cNvSpPr txBox="1"/>
          <p:nvPr/>
        </p:nvSpPr>
        <p:spPr>
          <a:xfrm>
            <a:off x="12435840" y="658972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 SemiBold"/>
              </a:rPr>
              <a:t>생성</a:t>
            </a:r>
          </a:p>
        </p:txBody>
      </p:sp>
      <p:sp>
        <p:nvSpPr>
          <p:cNvPr id="54" name="TextBox 22"/>
          <p:cNvSpPr txBox="1"/>
          <p:nvPr/>
        </p:nvSpPr>
        <p:spPr>
          <a:xfrm>
            <a:off x="13222224" y="6625411"/>
            <a:ext cx="31089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dirty="0">
                <a:solidFill>
                  <a:srgbClr val="939393"/>
                </a:solidFill>
                <a:latin typeface="Pretendard"/>
              </a:rPr>
              <a:t>Gemini</a:t>
            </a:r>
          </a:p>
        </p:txBody>
      </p:sp>
      <p:sp>
        <p:nvSpPr>
          <p:cNvPr id="55" name="Rectangle 23"/>
          <p:cNvSpPr/>
          <p:nvPr/>
        </p:nvSpPr>
        <p:spPr>
          <a:xfrm>
            <a:off x="1024128" y="7128432"/>
            <a:ext cx="45720" cy="1645920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24"/>
          <p:cNvSpPr txBox="1"/>
          <p:nvPr/>
        </p:nvSpPr>
        <p:spPr>
          <a:xfrm>
            <a:off x="1225296" y="7512480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3A59D1"/>
                </a:solidFill>
                <a:latin typeface="Pretendard SemiBold"/>
              </a:rPr>
              <a:t>License</a:t>
            </a:r>
          </a:p>
        </p:txBody>
      </p:sp>
      <p:sp>
        <p:nvSpPr>
          <p:cNvPr id="57" name="TextBox 25"/>
          <p:cNvSpPr txBox="1"/>
          <p:nvPr/>
        </p:nvSpPr>
        <p:spPr>
          <a:xfrm>
            <a:off x="1225296" y="789652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939393"/>
                </a:solidFill>
                <a:latin typeface="Pretendard"/>
              </a:rPr>
              <a:t>라이선스 위험 분석</a:t>
            </a:r>
          </a:p>
        </p:txBody>
      </p:sp>
      <p:sp>
        <p:nvSpPr>
          <p:cNvPr id="58" name="Rounded Rectangle 26"/>
          <p:cNvSpPr/>
          <p:nvPr/>
        </p:nvSpPr>
        <p:spPr>
          <a:xfrm>
            <a:off x="2788920" y="7128432"/>
            <a:ext cx="2231136" cy="1645920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27"/>
          <p:cNvSpPr txBox="1"/>
          <p:nvPr/>
        </p:nvSpPr>
        <p:spPr>
          <a:xfrm>
            <a:off x="2953512" y="726559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939393"/>
                </a:solidFill>
                <a:latin typeface="Pretendard SemiBold"/>
              </a:rPr>
              <a:t>01</a:t>
            </a:r>
          </a:p>
        </p:txBody>
      </p:sp>
      <p:sp>
        <p:nvSpPr>
          <p:cNvPr id="60" name="Rounded Rectangle 28"/>
          <p:cNvSpPr/>
          <p:nvPr/>
        </p:nvSpPr>
        <p:spPr>
          <a:xfrm>
            <a:off x="4325112" y="7247304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29"/>
          <p:cNvSpPr txBox="1"/>
          <p:nvPr/>
        </p:nvSpPr>
        <p:spPr>
          <a:xfrm>
            <a:off x="4325112" y="7247304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 SemiBold"/>
              </a:rPr>
              <a:t>코드</a:t>
            </a:r>
          </a:p>
        </p:txBody>
      </p:sp>
      <p:sp>
        <p:nvSpPr>
          <p:cNvPr id="62" name="TextBox 30"/>
          <p:cNvSpPr txBox="1"/>
          <p:nvPr/>
        </p:nvSpPr>
        <p:spPr>
          <a:xfrm>
            <a:off x="2788920" y="7603920"/>
            <a:ext cx="22311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>
                <a:solidFill>
                  <a:srgbClr val="222222"/>
                </a:solidFill>
                <a:latin typeface="Pretendard SemiBold"/>
              </a:rPr>
              <a:t>의존성 읽기</a:t>
            </a:r>
          </a:p>
        </p:txBody>
      </p:sp>
      <p:sp>
        <p:nvSpPr>
          <p:cNvPr id="63" name="Rectangle 31"/>
          <p:cNvSpPr/>
          <p:nvPr/>
        </p:nvSpPr>
        <p:spPr>
          <a:xfrm>
            <a:off x="3602735" y="8024544"/>
            <a:ext cx="603504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32"/>
          <p:cNvSpPr txBox="1"/>
          <p:nvPr/>
        </p:nvSpPr>
        <p:spPr>
          <a:xfrm>
            <a:off x="2898648" y="817084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매니페스트 · 락파일 파싱</a:t>
            </a:r>
          </a:p>
        </p:txBody>
      </p:sp>
      <p:sp>
        <p:nvSpPr>
          <p:cNvPr id="65" name="TextBox 33"/>
          <p:cNvSpPr txBox="1"/>
          <p:nvPr/>
        </p:nvSpPr>
        <p:spPr>
          <a:xfrm>
            <a:off x="2898648" y="842688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못 읽으면 실패로 남긴다</a:t>
            </a:r>
          </a:p>
        </p:txBody>
      </p:sp>
      <p:sp>
        <p:nvSpPr>
          <p:cNvPr id="66" name="TextBox 34"/>
          <p:cNvSpPr txBox="1"/>
          <p:nvPr/>
        </p:nvSpPr>
        <p:spPr>
          <a:xfrm>
            <a:off x="5020056" y="7128432"/>
            <a:ext cx="329184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67" name="Rounded Rectangle 35"/>
          <p:cNvSpPr/>
          <p:nvPr/>
        </p:nvSpPr>
        <p:spPr>
          <a:xfrm>
            <a:off x="5349240" y="7128432"/>
            <a:ext cx="2231136" cy="1645920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TextBox 36"/>
          <p:cNvSpPr txBox="1"/>
          <p:nvPr/>
        </p:nvSpPr>
        <p:spPr>
          <a:xfrm>
            <a:off x="5513831" y="726559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939393"/>
                </a:solidFill>
                <a:latin typeface="Pretendard SemiBold"/>
              </a:rPr>
              <a:t>02</a:t>
            </a:r>
          </a:p>
        </p:txBody>
      </p:sp>
      <p:sp>
        <p:nvSpPr>
          <p:cNvPr id="69" name="Rounded Rectangle 37"/>
          <p:cNvSpPr/>
          <p:nvPr/>
        </p:nvSpPr>
        <p:spPr>
          <a:xfrm>
            <a:off x="6885431" y="7247304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38"/>
          <p:cNvSpPr txBox="1"/>
          <p:nvPr/>
        </p:nvSpPr>
        <p:spPr>
          <a:xfrm>
            <a:off x="6885431" y="7247304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 SemiBold"/>
              </a:rPr>
              <a:t>코드</a:t>
            </a:r>
          </a:p>
        </p:txBody>
      </p:sp>
      <p:sp>
        <p:nvSpPr>
          <p:cNvPr id="71" name="TextBox 39"/>
          <p:cNvSpPr txBox="1"/>
          <p:nvPr/>
        </p:nvSpPr>
        <p:spPr>
          <a:xfrm>
            <a:off x="5349240" y="7603920"/>
            <a:ext cx="22311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>
                <a:solidFill>
                  <a:srgbClr val="222222"/>
                </a:solidFill>
                <a:latin typeface="Pretendard SemiBold"/>
              </a:rPr>
              <a:t>식별자 조회</a:t>
            </a:r>
          </a:p>
        </p:txBody>
      </p:sp>
      <p:sp>
        <p:nvSpPr>
          <p:cNvPr id="72" name="Rectangle 40"/>
          <p:cNvSpPr/>
          <p:nvPr/>
        </p:nvSpPr>
        <p:spPr>
          <a:xfrm>
            <a:off x="6163055" y="8024544"/>
            <a:ext cx="603504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TextBox 41"/>
          <p:cNvSpPr txBox="1"/>
          <p:nvPr/>
        </p:nvSpPr>
        <p:spPr>
          <a:xfrm>
            <a:off x="5458968" y="817084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deps.dev · npm · PyPI</a:t>
            </a:r>
          </a:p>
        </p:txBody>
      </p:sp>
      <p:sp>
        <p:nvSpPr>
          <p:cNvPr id="74" name="TextBox 42"/>
          <p:cNvSpPr txBox="1"/>
          <p:nvPr/>
        </p:nvSpPr>
        <p:spPr>
          <a:xfrm>
            <a:off x="5458968" y="842688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표현식 원문 그대로 보존</a:t>
            </a:r>
          </a:p>
        </p:txBody>
      </p:sp>
      <p:sp>
        <p:nvSpPr>
          <p:cNvPr id="75" name="TextBox 43"/>
          <p:cNvSpPr txBox="1"/>
          <p:nvPr/>
        </p:nvSpPr>
        <p:spPr>
          <a:xfrm>
            <a:off x="7580375" y="7128432"/>
            <a:ext cx="329184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76" name="Rounded Rectangle 44"/>
          <p:cNvSpPr/>
          <p:nvPr/>
        </p:nvSpPr>
        <p:spPr>
          <a:xfrm>
            <a:off x="7909559" y="7128432"/>
            <a:ext cx="2231136" cy="1645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TextBox 45"/>
          <p:cNvSpPr txBox="1"/>
          <p:nvPr/>
        </p:nvSpPr>
        <p:spPr>
          <a:xfrm>
            <a:off x="8074151" y="726559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939393"/>
                </a:solidFill>
                <a:latin typeface="Pretendard SemiBold"/>
              </a:rPr>
              <a:t>03</a:t>
            </a:r>
          </a:p>
        </p:txBody>
      </p:sp>
      <p:sp>
        <p:nvSpPr>
          <p:cNvPr id="78" name="Rounded Rectangle 46"/>
          <p:cNvSpPr/>
          <p:nvPr/>
        </p:nvSpPr>
        <p:spPr>
          <a:xfrm>
            <a:off x="9445751" y="7247304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TextBox 47"/>
          <p:cNvSpPr txBox="1"/>
          <p:nvPr/>
        </p:nvSpPr>
        <p:spPr>
          <a:xfrm>
            <a:off x="9445751" y="7247304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 SemiBold"/>
              </a:rPr>
              <a:t>판정</a:t>
            </a:r>
          </a:p>
        </p:txBody>
      </p:sp>
      <p:sp>
        <p:nvSpPr>
          <p:cNvPr id="80" name="TextBox 48"/>
          <p:cNvSpPr txBox="1"/>
          <p:nvPr/>
        </p:nvSpPr>
        <p:spPr>
          <a:xfrm>
            <a:off x="7909559" y="7603920"/>
            <a:ext cx="22311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>
                <a:solidFill>
                  <a:srgbClr val="222222"/>
                </a:solidFill>
                <a:latin typeface="Pretendard SemiBold"/>
              </a:rPr>
              <a:t>표현식 평가 · 판정</a:t>
            </a:r>
          </a:p>
        </p:txBody>
      </p:sp>
      <p:sp>
        <p:nvSpPr>
          <p:cNvPr id="81" name="Rectangle 49"/>
          <p:cNvSpPr/>
          <p:nvPr/>
        </p:nvSpPr>
        <p:spPr>
          <a:xfrm>
            <a:off x="8723376" y="8024544"/>
            <a:ext cx="603504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TextBox 50"/>
          <p:cNvSpPr txBox="1"/>
          <p:nvPr/>
        </p:nvSpPr>
        <p:spPr>
          <a:xfrm>
            <a:off x="8019287" y="817084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AND · OR · WITH 를 푼다</a:t>
            </a:r>
          </a:p>
        </p:txBody>
      </p:sp>
      <p:sp>
        <p:nvSpPr>
          <p:cNvPr id="83" name="TextBox 51"/>
          <p:cNvSpPr txBox="1"/>
          <p:nvPr/>
        </p:nvSpPr>
        <p:spPr>
          <a:xfrm>
            <a:off x="8019287" y="842688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정책표가 등급을 정한다</a:t>
            </a:r>
          </a:p>
        </p:txBody>
      </p:sp>
      <p:sp>
        <p:nvSpPr>
          <p:cNvPr id="84" name="TextBox 52"/>
          <p:cNvSpPr txBox="1"/>
          <p:nvPr/>
        </p:nvSpPr>
        <p:spPr>
          <a:xfrm>
            <a:off x="10140695" y="7128432"/>
            <a:ext cx="329184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85" name="Rounded Rectangle 53"/>
          <p:cNvSpPr/>
          <p:nvPr/>
        </p:nvSpPr>
        <p:spPr>
          <a:xfrm>
            <a:off x="10469880" y="7128432"/>
            <a:ext cx="2231136" cy="1645920"/>
          </a:xfrm>
          <a:prstGeom prst="roundRect">
            <a:avLst>
              <a:gd name="adj" fmla="val 25000"/>
            </a:avLst>
          </a:prstGeom>
          <a:solidFill>
            <a:srgbClr val="E7F1EC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TextBox 54"/>
          <p:cNvSpPr txBox="1"/>
          <p:nvPr/>
        </p:nvSpPr>
        <p:spPr>
          <a:xfrm>
            <a:off x="10634472" y="726559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939393"/>
                </a:solidFill>
                <a:latin typeface="Pretendard SemiBold"/>
              </a:rPr>
              <a:t>04</a:t>
            </a:r>
          </a:p>
        </p:txBody>
      </p:sp>
      <p:sp>
        <p:nvSpPr>
          <p:cNvPr id="87" name="Rounded Rectangle 55"/>
          <p:cNvSpPr/>
          <p:nvPr/>
        </p:nvSpPr>
        <p:spPr>
          <a:xfrm>
            <a:off x="12006072" y="7247304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8" name="TextBox 56"/>
          <p:cNvSpPr txBox="1"/>
          <p:nvPr/>
        </p:nvSpPr>
        <p:spPr>
          <a:xfrm>
            <a:off x="12006072" y="7247304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 SemiBold"/>
              </a:rPr>
              <a:t>검색</a:t>
            </a:r>
          </a:p>
        </p:txBody>
      </p:sp>
      <p:sp>
        <p:nvSpPr>
          <p:cNvPr id="89" name="TextBox 57"/>
          <p:cNvSpPr txBox="1"/>
          <p:nvPr/>
        </p:nvSpPr>
        <p:spPr>
          <a:xfrm>
            <a:off x="10469880" y="7603920"/>
            <a:ext cx="22311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>
                <a:solidFill>
                  <a:srgbClr val="2E7D5B"/>
                </a:solidFill>
                <a:latin typeface="Pretendard SemiBold"/>
              </a:rPr>
              <a:t>근거 조항 검색</a:t>
            </a:r>
          </a:p>
        </p:txBody>
      </p:sp>
      <p:sp>
        <p:nvSpPr>
          <p:cNvPr id="90" name="Rectangle 58"/>
          <p:cNvSpPr/>
          <p:nvPr/>
        </p:nvSpPr>
        <p:spPr>
          <a:xfrm>
            <a:off x="11283696" y="8024544"/>
            <a:ext cx="603504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59"/>
          <p:cNvSpPr txBox="1"/>
          <p:nvPr/>
        </p:nvSpPr>
        <p:spPr>
          <a:xfrm>
            <a:off x="10579607" y="817084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SPDX 전문 672 + 해설 3</a:t>
            </a:r>
          </a:p>
        </p:txBody>
      </p:sp>
      <p:sp>
        <p:nvSpPr>
          <p:cNvPr id="92" name="TextBox 60"/>
          <p:cNvSpPr txBox="1"/>
          <p:nvPr/>
        </p:nvSpPr>
        <p:spPr>
          <a:xfrm>
            <a:off x="10579607" y="842688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표현식 · 패키지 · 배포축으로 질의</a:t>
            </a:r>
          </a:p>
        </p:txBody>
      </p:sp>
      <p:sp>
        <p:nvSpPr>
          <p:cNvPr id="93" name="TextBox 61"/>
          <p:cNvSpPr txBox="1"/>
          <p:nvPr/>
        </p:nvSpPr>
        <p:spPr>
          <a:xfrm>
            <a:off x="12701015" y="7128432"/>
            <a:ext cx="329184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94" name="Rounded Rectangle 62"/>
          <p:cNvSpPr/>
          <p:nvPr/>
        </p:nvSpPr>
        <p:spPr>
          <a:xfrm>
            <a:off x="13030200" y="7128432"/>
            <a:ext cx="2231136" cy="1645920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TextBox 63"/>
          <p:cNvSpPr txBox="1"/>
          <p:nvPr/>
        </p:nvSpPr>
        <p:spPr>
          <a:xfrm>
            <a:off x="13194792" y="726559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939393"/>
                </a:solidFill>
                <a:latin typeface="Pretendard SemiBold"/>
              </a:rPr>
              <a:t>05</a:t>
            </a:r>
          </a:p>
        </p:txBody>
      </p:sp>
      <p:sp>
        <p:nvSpPr>
          <p:cNvPr id="96" name="Rounded Rectangle 64"/>
          <p:cNvSpPr/>
          <p:nvPr/>
        </p:nvSpPr>
        <p:spPr>
          <a:xfrm>
            <a:off x="14566392" y="7247304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TextBox 65"/>
          <p:cNvSpPr txBox="1"/>
          <p:nvPr/>
        </p:nvSpPr>
        <p:spPr>
          <a:xfrm>
            <a:off x="14566392" y="7247304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 SemiBold"/>
              </a:rPr>
              <a:t>코드</a:t>
            </a:r>
          </a:p>
        </p:txBody>
      </p:sp>
      <p:sp>
        <p:nvSpPr>
          <p:cNvPr id="98" name="TextBox 66"/>
          <p:cNvSpPr txBox="1"/>
          <p:nvPr/>
        </p:nvSpPr>
        <p:spPr>
          <a:xfrm>
            <a:off x="13030200" y="7603920"/>
            <a:ext cx="22311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>
                <a:solidFill>
                  <a:srgbClr val="222222"/>
                </a:solidFill>
                <a:latin typeface="Pretendard SemiBold"/>
              </a:rPr>
              <a:t>관련성 게이트</a:t>
            </a:r>
          </a:p>
        </p:txBody>
      </p:sp>
      <p:sp>
        <p:nvSpPr>
          <p:cNvPr id="99" name="Rectangle 67"/>
          <p:cNvSpPr/>
          <p:nvPr/>
        </p:nvSpPr>
        <p:spPr>
          <a:xfrm>
            <a:off x="13844016" y="8024544"/>
            <a:ext cx="603504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" name="TextBox 68"/>
          <p:cNvSpPr txBox="1"/>
          <p:nvPr/>
        </p:nvSpPr>
        <p:spPr>
          <a:xfrm>
            <a:off x="13139928" y="817084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판정 식별자를 덮는 문서만</a:t>
            </a:r>
          </a:p>
        </p:txBody>
      </p:sp>
      <p:sp>
        <p:nvSpPr>
          <p:cNvPr id="101" name="TextBox 69"/>
          <p:cNvSpPr txBox="1"/>
          <p:nvPr/>
        </p:nvSpPr>
        <p:spPr>
          <a:xfrm>
            <a:off x="13139928" y="842688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아니면 근거에서 뺀다</a:t>
            </a:r>
          </a:p>
        </p:txBody>
      </p:sp>
      <p:sp>
        <p:nvSpPr>
          <p:cNvPr id="102" name="TextBox 70"/>
          <p:cNvSpPr txBox="1"/>
          <p:nvPr/>
        </p:nvSpPr>
        <p:spPr>
          <a:xfrm>
            <a:off x="15261336" y="7128432"/>
            <a:ext cx="329184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103" name="Rounded Rectangle 71"/>
          <p:cNvSpPr/>
          <p:nvPr/>
        </p:nvSpPr>
        <p:spPr>
          <a:xfrm>
            <a:off x="15590520" y="7128432"/>
            <a:ext cx="2231136" cy="1645920"/>
          </a:xfrm>
          <a:prstGeom prst="roundRect">
            <a:avLst>
              <a:gd name="adj" fmla="val 25000"/>
            </a:avLst>
          </a:prstGeom>
          <a:solidFill>
            <a:srgbClr val="E4E7F2"/>
          </a:solidFill>
          <a:ln w="12700">
            <a:solidFill>
              <a:srgbClr val="3A5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TextBox 72"/>
          <p:cNvSpPr txBox="1"/>
          <p:nvPr/>
        </p:nvSpPr>
        <p:spPr>
          <a:xfrm>
            <a:off x="15755112" y="726559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939393"/>
                </a:solidFill>
                <a:latin typeface="Pretendard SemiBold"/>
              </a:rPr>
              <a:t>06</a:t>
            </a:r>
          </a:p>
        </p:txBody>
      </p:sp>
      <p:sp>
        <p:nvSpPr>
          <p:cNvPr id="105" name="Rounded Rectangle 73"/>
          <p:cNvSpPr/>
          <p:nvPr/>
        </p:nvSpPr>
        <p:spPr>
          <a:xfrm>
            <a:off x="17126712" y="7247304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TextBox 74"/>
          <p:cNvSpPr txBox="1"/>
          <p:nvPr/>
        </p:nvSpPr>
        <p:spPr>
          <a:xfrm>
            <a:off x="17126712" y="7247304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 SemiBold"/>
              </a:rPr>
              <a:t>생성</a:t>
            </a:r>
          </a:p>
        </p:txBody>
      </p:sp>
      <p:sp>
        <p:nvSpPr>
          <p:cNvPr id="107" name="TextBox 75"/>
          <p:cNvSpPr txBox="1"/>
          <p:nvPr/>
        </p:nvSpPr>
        <p:spPr>
          <a:xfrm>
            <a:off x="15590520" y="7603920"/>
            <a:ext cx="22311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>
                <a:solidFill>
                  <a:srgbClr val="3A59D1"/>
                </a:solidFill>
                <a:latin typeface="Pretendard SemiBold"/>
              </a:rPr>
              <a:t>설명 생성</a:t>
            </a:r>
          </a:p>
        </p:txBody>
      </p:sp>
      <p:sp>
        <p:nvSpPr>
          <p:cNvPr id="108" name="Rectangle 76"/>
          <p:cNvSpPr/>
          <p:nvPr/>
        </p:nvSpPr>
        <p:spPr>
          <a:xfrm>
            <a:off x="16404336" y="8024544"/>
            <a:ext cx="603504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9" name="TextBox 77"/>
          <p:cNvSpPr txBox="1"/>
          <p:nvPr/>
        </p:nvSpPr>
        <p:spPr>
          <a:xfrm>
            <a:off x="15700248" y="817084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검증된 근거로만 서술</a:t>
            </a:r>
          </a:p>
        </p:txBody>
      </p:sp>
      <p:sp>
        <p:nvSpPr>
          <p:cNvPr id="110" name="TextBox 78"/>
          <p:cNvSpPr txBox="1"/>
          <p:nvPr/>
        </p:nvSpPr>
        <p:spPr>
          <a:xfrm>
            <a:off x="15700248" y="842688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등급은 건드리지 않는다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24128" y="1133856"/>
            <a:ext cx="54864" cy="274320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25296" y="111556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A59D1"/>
                </a:solidFill>
                <a:latin typeface="Pretendard SemiBold"/>
              </a:rPr>
              <a:t>01 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81328"/>
            <a:ext cx="16230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222222"/>
                </a:solidFill>
                <a:latin typeface="Pretendard SemiBold"/>
              </a:rPr>
              <a:t>특허 위험 — 분석 입력과 판정 파이프라인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2331720"/>
            <a:ext cx="16230600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4950440" y="9692640"/>
            <a:ext cx="2304288" cy="384048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05304" y="969264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 SemiBold"/>
              </a:rPr>
              <a:t>PAGE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186416"/>
            <a:ext cx="4818888" cy="100584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 44"/>
          <p:cNvSpPr/>
          <p:nvPr/>
        </p:nvSpPr>
        <p:spPr>
          <a:xfrm>
            <a:off x="1023464" y="3312000"/>
            <a:ext cx="8203336" cy="2844000"/>
          </a:xfrm>
          <a:prstGeom prst="rect">
            <a:avLst/>
          </a:prstGeom>
          <a:solidFill>
            <a:srgbClr val="FFFFFF"/>
          </a:solidFill>
          <a:ln w="15875">
            <a:solidFill>
              <a:srgbClr val="B8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 45"/>
          <p:cNvSpPr/>
          <p:nvPr/>
        </p:nvSpPr>
        <p:spPr>
          <a:xfrm>
            <a:off x="1023464" y="3312000"/>
            <a:ext cx="8203336" cy="1180000"/>
          </a:xfrm>
          <a:prstGeom prst="rect">
            <a:avLst/>
          </a:prstGeom>
          <a:solidFill>
            <a:srgbClr val="FB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46"/>
          <p:cNvSpPr txBox="1"/>
          <p:nvPr/>
        </p:nvSpPr>
        <p:spPr>
          <a:xfrm>
            <a:off x="1363464" y="3562000"/>
            <a:ext cx="7523336" cy="4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B87333"/>
                </a:solidFill>
                <a:latin typeface="Pretendard SemiBold"/>
              </a:rPr>
              <a:t>Patent Risk</a:t>
            </a:r>
            <a:r>
              <a:rPr sz="1500" b="0">
                <a:solidFill>
                  <a:srgbClr val="939393"/>
                </a:solidFill>
                <a:latin typeface="Pretendard"/>
              </a:rPr>
              <a:t>     특허 위험</a:t>
            </a:r>
          </a:p>
        </p:txBody>
      </p:sp>
      <p:sp>
        <p:nvSpPr>
          <p:cNvPr id="12" name="TextBox 47"/>
          <p:cNvSpPr txBox="1"/>
          <p:nvPr/>
        </p:nvSpPr>
        <p:spPr>
          <a:xfrm>
            <a:off x="1363464" y="4082000"/>
            <a:ext cx="7523336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Pretendard"/>
              </a:rPr>
              <a:t>설계 문서에 적힌 기술 구성이 등록 특허의 청구항과 겹치는가</a:t>
            </a:r>
          </a:p>
        </p:txBody>
      </p:sp>
      <p:sp>
        <p:nvSpPr>
          <p:cNvPr id="13" name="TextBox 48"/>
          <p:cNvSpPr txBox="1"/>
          <p:nvPr/>
        </p:nvSpPr>
        <p:spPr>
          <a:xfrm>
            <a:off x="1363464" y="4692000"/>
            <a:ext cx="7523336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222222"/>
                </a:solidFill>
                <a:latin typeface="Pretendard SemiBold"/>
              </a:rPr>
              <a:t>분석에 쓰는 정보</a:t>
            </a:r>
            <a:r>
              <a:rPr sz="1150" b="0">
                <a:solidFill>
                  <a:srgbClr val="939393"/>
                </a:solidFill>
                <a:latin typeface="Pretendard"/>
              </a:rPr>
              <a:t>     INPUT</a:t>
            </a:r>
          </a:p>
        </p:txBody>
      </p:sp>
      <p:sp>
        <p:nvSpPr>
          <p:cNvPr id="14" name="Rect 49"/>
          <p:cNvSpPr/>
          <p:nvPr/>
        </p:nvSpPr>
        <p:spPr>
          <a:xfrm>
            <a:off x="1363464" y="5012000"/>
            <a:ext cx="7523336" cy="74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 50"/>
          <p:cNvSpPr/>
          <p:nvPr/>
        </p:nvSpPr>
        <p:spPr>
          <a:xfrm>
            <a:off x="1523464" y="5092000"/>
            <a:ext cx="2502400" cy="29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51"/>
          <p:cNvSpPr txBox="1"/>
          <p:nvPr/>
        </p:nvSpPr>
        <p:spPr>
          <a:xfrm>
            <a:off x="1663464" y="5092000"/>
            <a:ext cx="2222400" cy="29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22222"/>
                </a:solidFill>
                <a:latin typeface="Pretendard SemiBold"/>
              </a:rPr>
              <a:t>기술 구성요소</a:t>
            </a:r>
            <a:r>
              <a:rPr sz="1200" b="0">
                <a:solidFill>
                  <a:srgbClr val="939393"/>
                </a:solidFill>
                <a:latin typeface="Pretendard"/>
              </a:rPr>
              <a:t>   문서에서 추출</a:t>
            </a:r>
          </a:p>
        </p:txBody>
      </p:sp>
      <p:sp>
        <p:nvSpPr>
          <p:cNvPr id="17" name="Rect 52"/>
          <p:cNvSpPr/>
          <p:nvPr/>
        </p:nvSpPr>
        <p:spPr>
          <a:xfrm>
            <a:off x="4145864" y="5092000"/>
            <a:ext cx="1121500" cy="29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53"/>
          <p:cNvSpPr txBox="1"/>
          <p:nvPr/>
        </p:nvSpPr>
        <p:spPr>
          <a:xfrm>
            <a:off x="4285864" y="5092000"/>
            <a:ext cx="841500" cy="29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22222"/>
                </a:solidFill>
                <a:latin typeface="Pretendard SemiBold"/>
              </a:rPr>
              <a:t>검색 키워드</a:t>
            </a:r>
          </a:p>
        </p:txBody>
      </p:sp>
      <p:sp>
        <p:nvSpPr>
          <p:cNvPr id="19" name="Rect 54"/>
          <p:cNvSpPr/>
          <p:nvPr/>
        </p:nvSpPr>
        <p:spPr>
          <a:xfrm>
            <a:off x="5387364" y="5092000"/>
            <a:ext cx="2275000" cy="29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55"/>
          <p:cNvSpPr txBox="1"/>
          <p:nvPr/>
        </p:nvSpPr>
        <p:spPr>
          <a:xfrm>
            <a:off x="5527364" y="5092000"/>
            <a:ext cx="1995000" cy="29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22222"/>
                </a:solidFill>
                <a:latin typeface="Pretendard SemiBold"/>
              </a:rPr>
              <a:t>출원번호 · 출원일 · 공개일</a:t>
            </a:r>
          </a:p>
        </p:txBody>
      </p:sp>
      <p:sp>
        <p:nvSpPr>
          <p:cNvPr id="21" name="Rect 56"/>
          <p:cNvSpPr/>
          <p:nvPr/>
        </p:nvSpPr>
        <p:spPr>
          <a:xfrm>
            <a:off x="1523464" y="5432000"/>
            <a:ext cx="968800" cy="29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57"/>
          <p:cNvSpPr txBox="1"/>
          <p:nvPr/>
        </p:nvSpPr>
        <p:spPr>
          <a:xfrm>
            <a:off x="1663464" y="5432000"/>
            <a:ext cx="688800" cy="29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22222"/>
                </a:solidFill>
                <a:latin typeface="Pretendard SemiBold"/>
              </a:rPr>
              <a:t>발명 명칭</a:t>
            </a:r>
          </a:p>
        </p:txBody>
      </p:sp>
      <p:sp>
        <p:nvSpPr>
          <p:cNvPr id="23" name="Rect 58"/>
          <p:cNvSpPr/>
          <p:nvPr/>
        </p:nvSpPr>
        <p:spPr>
          <a:xfrm>
            <a:off x="2612264" y="5432000"/>
            <a:ext cx="1816900" cy="29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59"/>
          <p:cNvSpPr txBox="1"/>
          <p:nvPr/>
        </p:nvSpPr>
        <p:spPr>
          <a:xfrm>
            <a:off x="2752264" y="5432000"/>
            <a:ext cx="1536900" cy="29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22222"/>
                </a:solidFill>
                <a:latin typeface="Pretendard SemiBold"/>
              </a:rPr>
              <a:t>초록 · 청구항</a:t>
            </a:r>
            <a:r>
              <a:rPr sz="1200" b="0">
                <a:solidFill>
                  <a:srgbClr val="939393"/>
                </a:solidFill>
                <a:latin typeface="Pretendard"/>
              </a:rPr>
              <a:t>   원문</a:t>
            </a:r>
          </a:p>
        </p:txBody>
      </p:sp>
      <p:sp>
        <p:nvSpPr>
          <p:cNvPr id="25" name="Rect 44"/>
          <p:cNvSpPr/>
          <p:nvPr/>
        </p:nvSpPr>
        <p:spPr>
          <a:xfrm>
            <a:off x="9626400" y="3311999"/>
            <a:ext cx="8204400" cy="2844000"/>
          </a:xfrm>
          <a:prstGeom prst="rect">
            <a:avLst/>
          </a:prstGeom>
          <a:solidFill>
            <a:srgbClr val="FFFFFF"/>
          </a:solidFill>
          <a:ln w="15875">
            <a:solidFill>
              <a:srgbClr val="B8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60"/>
          <p:cNvSpPr txBox="1"/>
          <p:nvPr/>
        </p:nvSpPr>
        <p:spPr>
          <a:xfrm>
            <a:off x="9967464" y="3618400"/>
            <a:ext cx="7523336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222222"/>
                </a:solidFill>
                <a:latin typeface="Pretendard SemiBold"/>
              </a:rPr>
              <a:t>근거 데이터 · API</a:t>
            </a:r>
            <a:r>
              <a:rPr sz="1150" b="0">
                <a:solidFill>
                  <a:srgbClr val="939393"/>
                </a:solidFill>
                <a:latin typeface="Pretendard"/>
              </a:rPr>
              <a:t>     SOURCES</a:t>
            </a:r>
          </a:p>
        </p:txBody>
      </p:sp>
      <p:sp>
        <p:nvSpPr>
          <p:cNvPr id="27" name="TextBox 61"/>
          <p:cNvSpPr txBox="1"/>
          <p:nvPr/>
        </p:nvSpPr>
        <p:spPr>
          <a:xfrm>
            <a:off x="9967464" y="3938400"/>
            <a:ext cx="31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B87333"/>
                </a:solidFill>
                <a:latin typeface="Pretendard SemiBold"/>
              </a:rPr>
              <a:t>KIPRIS Plus   특허정보원</a:t>
            </a:r>
          </a:p>
        </p:txBody>
      </p:sp>
      <p:sp>
        <p:nvSpPr>
          <p:cNvPr id="28" name="TextBox 62"/>
          <p:cNvSpPr txBox="1"/>
          <p:nvPr/>
        </p:nvSpPr>
        <p:spPr>
          <a:xfrm>
            <a:off x="13167464" y="3938400"/>
            <a:ext cx="292333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국내 등록 특허가 검색 대상</a:t>
            </a:r>
          </a:p>
        </p:txBody>
      </p:sp>
      <p:sp>
        <p:nvSpPr>
          <p:cNvPr id="29" name="TextBox 63"/>
          <p:cNvSpPr txBox="1"/>
          <p:nvPr/>
        </p:nvSpPr>
        <p:spPr>
          <a:xfrm>
            <a:off x="16190800" y="3918400"/>
            <a:ext cx="13000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50" b="1">
                <a:solidFill>
                  <a:srgbClr val="B87333"/>
                </a:solidFill>
                <a:latin typeface="Pretendard SemiBold"/>
              </a:rPr>
              <a:t>270</a:t>
            </a:r>
            <a:r>
              <a:rPr sz="1150" b="0">
                <a:solidFill>
                  <a:srgbClr val="939393"/>
                </a:solidFill>
                <a:latin typeface="Pretendard"/>
              </a:rPr>
              <a:t>만 건</a:t>
            </a:r>
          </a:p>
        </p:txBody>
      </p:sp>
      <p:sp>
        <p:nvSpPr>
          <p:cNvPr id="30" name="Rect 64"/>
          <p:cNvSpPr/>
          <p:nvPr/>
        </p:nvSpPr>
        <p:spPr>
          <a:xfrm>
            <a:off x="9967464" y="4258400"/>
            <a:ext cx="7523336" cy="10972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65"/>
          <p:cNvSpPr txBox="1"/>
          <p:nvPr/>
        </p:nvSpPr>
        <p:spPr>
          <a:xfrm>
            <a:off x="9967464" y="4298400"/>
            <a:ext cx="31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B87333"/>
                </a:solidFill>
                <a:latin typeface="Pretendard SemiBold"/>
              </a:rPr>
              <a:t>KIPRIS 필드 검색</a:t>
            </a:r>
          </a:p>
        </p:txBody>
      </p:sp>
      <p:sp>
        <p:nvSpPr>
          <p:cNvPr id="32" name="TextBox 66"/>
          <p:cNvSpPr txBox="1"/>
          <p:nvPr/>
        </p:nvSpPr>
        <p:spPr>
          <a:xfrm>
            <a:off x="13167464" y="4298400"/>
            <a:ext cx="292333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질의 10~14 개 · 제목 · 초록 필드</a:t>
            </a:r>
          </a:p>
        </p:txBody>
      </p:sp>
      <p:sp>
        <p:nvSpPr>
          <p:cNvPr id="33" name="TextBox 67"/>
          <p:cNvSpPr txBox="1"/>
          <p:nvPr/>
        </p:nvSpPr>
        <p:spPr>
          <a:xfrm>
            <a:off x="16190800" y="4278400"/>
            <a:ext cx="13000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50" b="1">
                <a:solidFill>
                  <a:srgbClr val="B87333"/>
                </a:solidFill>
                <a:latin typeface="Pretendard SemiBold"/>
              </a:rPr>
              <a:t>150</a:t>
            </a:r>
            <a:r>
              <a:rPr sz="1150" b="0">
                <a:solidFill>
                  <a:srgbClr val="939393"/>
                </a:solidFill>
                <a:latin typeface="Pretendard"/>
              </a:rPr>
              <a:t>건</a:t>
            </a:r>
          </a:p>
        </p:txBody>
      </p:sp>
      <p:sp>
        <p:nvSpPr>
          <p:cNvPr id="34" name="Rect 68"/>
          <p:cNvSpPr/>
          <p:nvPr/>
        </p:nvSpPr>
        <p:spPr>
          <a:xfrm>
            <a:off x="9967464" y="4618400"/>
            <a:ext cx="7523336" cy="10972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69"/>
          <p:cNvSpPr txBox="1"/>
          <p:nvPr/>
        </p:nvSpPr>
        <p:spPr>
          <a:xfrm>
            <a:off x="9967464" y="4658400"/>
            <a:ext cx="31000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dirty="0">
                <a:solidFill>
                  <a:srgbClr val="B87333"/>
                </a:solidFill>
                <a:latin typeface="Pretendard SemiBold"/>
              </a:rPr>
              <a:t>순위 · 스크리닝</a:t>
            </a:r>
          </a:p>
        </p:txBody>
      </p:sp>
      <p:sp>
        <p:nvSpPr>
          <p:cNvPr id="36" name="TextBox 70"/>
          <p:cNvSpPr txBox="1"/>
          <p:nvPr/>
        </p:nvSpPr>
        <p:spPr>
          <a:xfrm>
            <a:off x="13167464" y="4658400"/>
            <a:ext cx="292333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BM25 재순위 · 정밀꼬리 · 스크리닝</a:t>
            </a:r>
          </a:p>
        </p:txBody>
      </p:sp>
      <p:sp>
        <p:nvSpPr>
          <p:cNvPr id="37" name="TextBox 71"/>
          <p:cNvSpPr txBox="1"/>
          <p:nvPr/>
        </p:nvSpPr>
        <p:spPr>
          <a:xfrm>
            <a:off x="16190800" y="4638400"/>
            <a:ext cx="13000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50" b="1">
                <a:solidFill>
                  <a:srgbClr val="B87333"/>
                </a:solidFill>
                <a:latin typeface="Pretendard SemiBold"/>
              </a:rPr>
              <a:t>42</a:t>
            </a:r>
            <a:r>
              <a:rPr sz="1150" b="0">
                <a:solidFill>
                  <a:srgbClr val="939393"/>
                </a:solidFill>
                <a:latin typeface="Pretendard"/>
              </a:rPr>
              <a:t>건</a:t>
            </a:r>
          </a:p>
        </p:txBody>
      </p:sp>
      <p:sp>
        <p:nvSpPr>
          <p:cNvPr id="38" name="Rect 72"/>
          <p:cNvSpPr/>
          <p:nvPr/>
        </p:nvSpPr>
        <p:spPr>
          <a:xfrm>
            <a:off x="9967464" y="4978400"/>
            <a:ext cx="7523336" cy="10972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73"/>
          <p:cNvSpPr txBox="1"/>
          <p:nvPr/>
        </p:nvSpPr>
        <p:spPr>
          <a:xfrm>
            <a:off x="9967464" y="5018400"/>
            <a:ext cx="31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B87333"/>
                </a:solidFill>
                <a:latin typeface="Pretendard SemiBold"/>
              </a:rPr>
              <a:t>Gemini 3.6 Flash</a:t>
            </a:r>
          </a:p>
        </p:txBody>
      </p:sp>
      <p:sp>
        <p:nvSpPr>
          <p:cNvPr id="40" name="TextBox 74"/>
          <p:cNvSpPr txBox="1"/>
          <p:nvPr/>
        </p:nvSpPr>
        <p:spPr>
          <a:xfrm>
            <a:off x="13167464" y="5018400"/>
            <a:ext cx="2923336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구성 대조 — 인용 실재는 코드가 검증</a:t>
            </a:r>
          </a:p>
        </p:txBody>
      </p:sp>
      <p:sp>
        <p:nvSpPr>
          <p:cNvPr id="41" name="Rect 75"/>
          <p:cNvSpPr/>
          <p:nvPr/>
        </p:nvSpPr>
        <p:spPr>
          <a:xfrm>
            <a:off x="9967464" y="5438400"/>
            <a:ext cx="7523336" cy="400000"/>
          </a:xfrm>
          <a:prstGeom prst="rect">
            <a:avLst/>
          </a:prstGeom>
          <a:solidFill>
            <a:srgbClr val="F7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76"/>
          <p:cNvSpPr txBox="1"/>
          <p:nvPr/>
        </p:nvSpPr>
        <p:spPr>
          <a:xfrm>
            <a:off x="10167464" y="5438400"/>
            <a:ext cx="7123336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B87333"/>
                </a:solidFill>
                <a:latin typeface="Pretendard SemiBold"/>
              </a:rPr>
              <a:t>판정      </a:t>
            </a:r>
            <a:r>
              <a:rPr sz="1200" b="1">
                <a:solidFill>
                  <a:srgbClr val="222222"/>
                </a:solidFill>
                <a:latin typeface="Pretendard SemiBold"/>
              </a:rPr>
              <a:t>HIGH · MEDIUM · LOW</a:t>
            </a:r>
            <a:r>
              <a:rPr sz="1200" b="0">
                <a:solidFill>
                  <a:srgbClr val="939393"/>
                </a:solidFill>
                <a:latin typeface="Pretendard"/>
              </a:rPr>
              <a:t>      일치 구성요소 수와 청구항 근거로 정하는 규칙표</a:t>
            </a:r>
          </a:p>
        </p:txBody>
      </p:sp>
      <p:sp>
        <p:nvSpPr>
          <p:cNvPr id="43" name="Rounded Rectangle 11"/>
          <p:cNvSpPr/>
          <p:nvPr/>
        </p:nvSpPr>
        <p:spPr>
          <a:xfrm>
            <a:off x="1024128" y="6589728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12"/>
          <p:cNvSpPr txBox="1"/>
          <p:nvPr/>
        </p:nvSpPr>
        <p:spPr>
          <a:xfrm>
            <a:off x="1024128" y="658972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 SemiBold"/>
              </a:rPr>
              <a:t>코드</a:t>
            </a:r>
          </a:p>
        </p:txBody>
      </p:sp>
      <p:sp>
        <p:nvSpPr>
          <p:cNvPr id="45" name="TextBox 13"/>
          <p:cNvSpPr txBox="1"/>
          <p:nvPr/>
        </p:nvSpPr>
        <p:spPr>
          <a:xfrm>
            <a:off x="1810512" y="658972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결정론 파서 · 게이트</a:t>
            </a:r>
          </a:p>
        </p:txBody>
      </p:sp>
      <p:sp>
        <p:nvSpPr>
          <p:cNvPr id="46" name="Rounded Rectangle 14"/>
          <p:cNvSpPr/>
          <p:nvPr/>
        </p:nvSpPr>
        <p:spPr>
          <a:xfrm>
            <a:off x="4572000" y="6589728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15"/>
          <p:cNvSpPr txBox="1"/>
          <p:nvPr/>
        </p:nvSpPr>
        <p:spPr>
          <a:xfrm>
            <a:off x="4572000" y="658972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 SemiBold"/>
              </a:rPr>
              <a:t>검색</a:t>
            </a:r>
          </a:p>
        </p:txBody>
      </p:sp>
      <p:sp>
        <p:nvSpPr>
          <p:cNvPr id="48" name="TextBox 16"/>
          <p:cNvSpPr txBox="1"/>
          <p:nvPr/>
        </p:nvSpPr>
        <p:spPr>
          <a:xfrm>
            <a:off x="5358384" y="658972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RAG · 외부 조회</a:t>
            </a:r>
          </a:p>
        </p:txBody>
      </p:sp>
      <p:sp>
        <p:nvSpPr>
          <p:cNvPr id="49" name="Rounded Rectangle 17"/>
          <p:cNvSpPr/>
          <p:nvPr/>
        </p:nvSpPr>
        <p:spPr>
          <a:xfrm>
            <a:off x="8138160" y="6589728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18"/>
          <p:cNvSpPr txBox="1"/>
          <p:nvPr/>
        </p:nvSpPr>
        <p:spPr>
          <a:xfrm>
            <a:off x="8138160" y="658972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 SemiBold"/>
              </a:rPr>
              <a:t>판정</a:t>
            </a:r>
          </a:p>
        </p:txBody>
      </p:sp>
      <p:sp>
        <p:nvSpPr>
          <p:cNvPr id="51" name="TextBox 19"/>
          <p:cNvSpPr txBox="1"/>
          <p:nvPr/>
        </p:nvSpPr>
        <p:spPr>
          <a:xfrm>
            <a:off x="8924544" y="6625411"/>
            <a:ext cx="31089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dirty="0" err="1">
                <a:solidFill>
                  <a:srgbClr val="939393"/>
                </a:solidFill>
                <a:latin typeface="Pretendard"/>
              </a:rPr>
              <a:t>등급</a:t>
            </a:r>
            <a:r>
              <a:rPr lang="en-US" sz="1200" b="0" dirty="0">
                <a:solidFill>
                  <a:srgbClr val="939393"/>
                </a:solidFill>
                <a:latin typeface="Pretendard"/>
              </a:rPr>
              <a:t> </a:t>
            </a:r>
            <a:r>
              <a:rPr lang="ko-KR" altLang="en-US" sz="1200" b="0" dirty="0">
                <a:solidFill>
                  <a:srgbClr val="939393"/>
                </a:solidFill>
                <a:latin typeface="Pretendard"/>
              </a:rPr>
              <a:t>선정 </a:t>
            </a:r>
            <a:r>
              <a:rPr sz="1200" b="0" dirty="0" err="1">
                <a:solidFill>
                  <a:srgbClr val="939393"/>
                </a:solidFill>
                <a:latin typeface="Pretendard"/>
              </a:rPr>
              <a:t>단계</a:t>
            </a:r>
            <a:endParaRPr sz="1200" b="0" dirty="0">
              <a:solidFill>
                <a:srgbClr val="939393"/>
              </a:solidFill>
              <a:latin typeface="Pretendard"/>
            </a:endParaRPr>
          </a:p>
        </p:txBody>
      </p:sp>
      <p:sp>
        <p:nvSpPr>
          <p:cNvPr id="52" name="Rounded Rectangle 20"/>
          <p:cNvSpPr/>
          <p:nvPr/>
        </p:nvSpPr>
        <p:spPr>
          <a:xfrm>
            <a:off x="12435840" y="6589728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21"/>
          <p:cNvSpPr txBox="1"/>
          <p:nvPr/>
        </p:nvSpPr>
        <p:spPr>
          <a:xfrm>
            <a:off x="12435840" y="658972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 SemiBold"/>
              </a:rPr>
              <a:t>생성</a:t>
            </a:r>
          </a:p>
        </p:txBody>
      </p:sp>
      <p:sp>
        <p:nvSpPr>
          <p:cNvPr id="54" name="TextBox 22"/>
          <p:cNvSpPr txBox="1"/>
          <p:nvPr/>
        </p:nvSpPr>
        <p:spPr>
          <a:xfrm>
            <a:off x="13222224" y="6625411"/>
            <a:ext cx="31089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dirty="0">
                <a:solidFill>
                  <a:srgbClr val="939393"/>
                </a:solidFill>
                <a:latin typeface="Pretendard"/>
              </a:rPr>
              <a:t>Gemini</a:t>
            </a:r>
          </a:p>
        </p:txBody>
      </p:sp>
      <p:sp>
        <p:nvSpPr>
          <p:cNvPr id="55" name="Rectangle 79"/>
          <p:cNvSpPr/>
          <p:nvPr/>
        </p:nvSpPr>
        <p:spPr>
          <a:xfrm>
            <a:off x="1024128" y="7127712"/>
            <a:ext cx="45720" cy="1645920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80"/>
          <p:cNvSpPr txBox="1"/>
          <p:nvPr/>
        </p:nvSpPr>
        <p:spPr>
          <a:xfrm>
            <a:off x="1225296" y="7511760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B87333"/>
                </a:solidFill>
                <a:latin typeface="Pretendard SemiBold"/>
              </a:rPr>
              <a:t>Patent</a:t>
            </a:r>
          </a:p>
        </p:txBody>
      </p:sp>
      <p:sp>
        <p:nvSpPr>
          <p:cNvPr id="57" name="TextBox 81"/>
          <p:cNvSpPr txBox="1"/>
          <p:nvPr/>
        </p:nvSpPr>
        <p:spPr>
          <a:xfrm>
            <a:off x="1225296" y="789580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939393"/>
                </a:solidFill>
                <a:latin typeface="Pretendard"/>
              </a:rPr>
              <a:t>특허 위험 분석</a:t>
            </a:r>
          </a:p>
        </p:txBody>
      </p:sp>
      <p:sp>
        <p:nvSpPr>
          <p:cNvPr id="58" name="Rounded Rectangle 82"/>
          <p:cNvSpPr/>
          <p:nvPr/>
        </p:nvSpPr>
        <p:spPr>
          <a:xfrm>
            <a:off x="2788920" y="7127712"/>
            <a:ext cx="2231136" cy="1645920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83"/>
          <p:cNvSpPr txBox="1"/>
          <p:nvPr/>
        </p:nvSpPr>
        <p:spPr>
          <a:xfrm>
            <a:off x="2953512" y="726487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939393"/>
                </a:solidFill>
                <a:latin typeface="Pretendard SemiBold"/>
              </a:rPr>
              <a:t>01</a:t>
            </a:r>
          </a:p>
        </p:txBody>
      </p:sp>
      <p:sp>
        <p:nvSpPr>
          <p:cNvPr id="60" name="Rounded Rectangle 84"/>
          <p:cNvSpPr/>
          <p:nvPr/>
        </p:nvSpPr>
        <p:spPr>
          <a:xfrm>
            <a:off x="4325112" y="7246584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85"/>
          <p:cNvSpPr txBox="1"/>
          <p:nvPr/>
        </p:nvSpPr>
        <p:spPr>
          <a:xfrm>
            <a:off x="4325112" y="7246584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 SemiBold"/>
              </a:rPr>
              <a:t>코드</a:t>
            </a:r>
          </a:p>
        </p:txBody>
      </p:sp>
      <p:sp>
        <p:nvSpPr>
          <p:cNvPr id="62" name="TextBox 86"/>
          <p:cNvSpPr txBox="1"/>
          <p:nvPr/>
        </p:nvSpPr>
        <p:spPr>
          <a:xfrm>
            <a:off x="2788920" y="7603200"/>
            <a:ext cx="22311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>
                <a:solidFill>
                  <a:srgbClr val="222222"/>
                </a:solidFill>
                <a:latin typeface="Pretendard SemiBold"/>
              </a:rPr>
              <a:t>문서 선별</a:t>
            </a:r>
          </a:p>
        </p:txBody>
      </p:sp>
      <p:sp>
        <p:nvSpPr>
          <p:cNvPr id="63" name="Rectangle 87"/>
          <p:cNvSpPr/>
          <p:nvPr/>
        </p:nvSpPr>
        <p:spPr>
          <a:xfrm>
            <a:off x="3602735" y="8023824"/>
            <a:ext cx="603504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88"/>
          <p:cNvSpPr txBox="1"/>
          <p:nvPr/>
        </p:nvSpPr>
        <p:spPr>
          <a:xfrm>
            <a:off x="2898648" y="817012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특허 검토 대상인지부터</a:t>
            </a:r>
          </a:p>
        </p:txBody>
      </p:sp>
      <p:sp>
        <p:nvSpPr>
          <p:cNvPr id="65" name="TextBox 89"/>
          <p:cNvSpPr txBox="1"/>
          <p:nvPr/>
        </p:nvSpPr>
        <p:spPr>
          <a:xfrm>
            <a:off x="2898648" y="842616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아니면 검색을 안 한다</a:t>
            </a:r>
          </a:p>
        </p:txBody>
      </p:sp>
      <p:sp>
        <p:nvSpPr>
          <p:cNvPr id="66" name="TextBox 90"/>
          <p:cNvSpPr txBox="1"/>
          <p:nvPr/>
        </p:nvSpPr>
        <p:spPr>
          <a:xfrm>
            <a:off x="5020056" y="7127712"/>
            <a:ext cx="329184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67" name="Rounded Rectangle 91"/>
          <p:cNvSpPr/>
          <p:nvPr/>
        </p:nvSpPr>
        <p:spPr>
          <a:xfrm>
            <a:off x="5349240" y="7127712"/>
            <a:ext cx="2231136" cy="1645920"/>
          </a:xfrm>
          <a:prstGeom prst="roundRect">
            <a:avLst>
              <a:gd name="adj" fmla="val 25000"/>
            </a:avLst>
          </a:prstGeom>
          <a:solidFill>
            <a:srgbClr val="E4E7F2"/>
          </a:solidFill>
          <a:ln w="12700">
            <a:solidFill>
              <a:srgbClr val="3A5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TextBox 92"/>
          <p:cNvSpPr txBox="1"/>
          <p:nvPr/>
        </p:nvSpPr>
        <p:spPr>
          <a:xfrm>
            <a:off x="5513831" y="726487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939393"/>
                </a:solidFill>
                <a:latin typeface="Pretendard SemiBold"/>
              </a:rPr>
              <a:t>02</a:t>
            </a:r>
          </a:p>
        </p:txBody>
      </p:sp>
      <p:sp>
        <p:nvSpPr>
          <p:cNvPr id="69" name="Rounded Rectangle 93"/>
          <p:cNvSpPr/>
          <p:nvPr/>
        </p:nvSpPr>
        <p:spPr>
          <a:xfrm>
            <a:off x="6885431" y="7246584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94"/>
          <p:cNvSpPr txBox="1"/>
          <p:nvPr/>
        </p:nvSpPr>
        <p:spPr>
          <a:xfrm>
            <a:off x="6885431" y="7246584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 SemiBold"/>
              </a:rPr>
              <a:t>생성</a:t>
            </a:r>
          </a:p>
        </p:txBody>
      </p:sp>
      <p:sp>
        <p:nvSpPr>
          <p:cNvPr id="71" name="TextBox 95"/>
          <p:cNvSpPr txBox="1"/>
          <p:nvPr/>
        </p:nvSpPr>
        <p:spPr>
          <a:xfrm>
            <a:off x="5349240" y="7603200"/>
            <a:ext cx="22311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>
                <a:solidFill>
                  <a:srgbClr val="3A59D1"/>
                </a:solidFill>
                <a:latin typeface="Pretendard SemiBold"/>
              </a:rPr>
              <a:t>기술요소 · 검색어</a:t>
            </a:r>
          </a:p>
        </p:txBody>
      </p:sp>
      <p:sp>
        <p:nvSpPr>
          <p:cNvPr id="72" name="Rectangle 96"/>
          <p:cNvSpPr/>
          <p:nvPr/>
        </p:nvSpPr>
        <p:spPr>
          <a:xfrm>
            <a:off x="6163055" y="8023824"/>
            <a:ext cx="603504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TextBox 97"/>
          <p:cNvSpPr txBox="1"/>
          <p:nvPr/>
        </p:nvSpPr>
        <p:spPr>
          <a:xfrm>
            <a:off x="5458968" y="817012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Gemini 가 구성요소 추출</a:t>
            </a:r>
          </a:p>
        </p:txBody>
      </p:sp>
      <p:sp>
        <p:nvSpPr>
          <p:cNvPr id="74" name="TextBox 98"/>
          <p:cNvSpPr txBox="1"/>
          <p:nvPr/>
        </p:nvSpPr>
        <p:spPr>
          <a:xfrm>
            <a:off x="5458968" y="842616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문서에 서술된 것만</a:t>
            </a:r>
          </a:p>
        </p:txBody>
      </p:sp>
      <p:sp>
        <p:nvSpPr>
          <p:cNvPr id="75" name="TextBox 99"/>
          <p:cNvSpPr txBox="1"/>
          <p:nvPr/>
        </p:nvSpPr>
        <p:spPr>
          <a:xfrm>
            <a:off x="7580375" y="7127712"/>
            <a:ext cx="329184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76" name="Rounded Rectangle 100"/>
          <p:cNvSpPr/>
          <p:nvPr/>
        </p:nvSpPr>
        <p:spPr>
          <a:xfrm>
            <a:off x="7909559" y="7127712"/>
            <a:ext cx="2231136" cy="1645920"/>
          </a:xfrm>
          <a:prstGeom prst="roundRect">
            <a:avLst>
              <a:gd name="adj" fmla="val 25000"/>
            </a:avLst>
          </a:prstGeom>
          <a:solidFill>
            <a:srgbClr val="E7F1EC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TextBox 101"/>
          <p:cNvSpPr txBox="1"/>
          <p:nvPr/>
        </p:nvSpPr>
        <p:spPr>
          <a:xfrm>
            <a:off x="8074151" y="726487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939393"/>
                </a:solidFill>
                <a:latin typeface="Pretendard SemiBold"/>
              </a:rPr>
              <a:t>03</a:t>
            </a:r>
          </a:p>
        </p:txBody>
      </p:sp>
      <p:sp>
        <p:nvSpPr>
          <p:cNvPr id="78" name="Rounded Rectangle 102"/>
          <p:cNvSpPr/>
          <p:nvPr/>
        </p:nvSpPr>
        <p:spPr>
          <a:xfrm>
            <a:off x="9445751" y="7246584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TextBox 103"/>
          <p:cNvSpPr txBox="1"/>
          <p:nvPr/>
        </p:nvSpPr>
        <p:spPr>
          <a:xfrm>
            <a:off x="9445751" y="7246584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 SemiBold"/>
              </a:rPr>
              <a:t>검색</a:t>
            </a:r>
          </a:p>
        </p:txBody>
      </p:sp>
      <p:sp>
        <p:nvSpPr>
          <p:cNvPr id="80" name="TextBox 104"/>
          <p:cNvSpPr txBox="1"/>
          <p:nvPr/>
        </p:nvSpPr>
        <p:spPr>
          <a:xfrm>
            <a:off x="7909559" y="7603200"/>
            <a:ext cx="22311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>
                <a:solidFill>
                  <a:srgbClr val="2E7D5B"/>
                </a:solidFill>
                <a:latin typeface="Pretendard SemiBold"/>
              </a:rPr>
              <a:t>KIPRIS 검색</a:t>
            </a:r>
          </a:p>
        </p:txBody>
      </p:sp>
      <p:sp>
        <p:nvSpPr>
          <p:cNvPr id="81" name="Rectangle 105"/>
          <p:cNvSpPr/>
          <p:nvPr/>
        </p:nvSpPr>
        <p:spPr>
          <a:xfrm>
            <a:off x="8723376" y="8023824"/>
            <a:ext cx="603504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TextBox 106"/>
          <p:cNvSpPr txBox="1"/>
          <p:nvPr/>
        </p:nvSpPr>
        <p:spPr>
          <a:xfrm>
            <a:off x="8019287" y="817012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검색어마다 후보 조회</a:t>
            </a:r>
          </a:p>
        </p:txBody>
      </p:sp>
      <p:sp>
        <p:nvSpPr>
          <p:cNvPr id="83" name="TextBox 107"/>
          <p:cNvSpPr txBox="1"/>
          <p:nvPr/>
        </p:nvSpPr>
        <p:spPr>
          <a:xfrm>
            <a:off x="8019287" y="842616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BM25 재순위 · 정밀꼬리</a:t>
            </a:r>
          </a:p>
        </p:txBody>
      </p:sp>
      <p:sp>
        <p:nvSpPr>
          <p:cNvPr id="84" name="TextBox 108"/>
          <p:cNvSpPr txBox="1"/>
          <p:nvPr/>
        </p:nvSpPr>
        <p:spPr>
          <a:xfrm>
            <a:off x="10140695" y="7127712"/>
            <a:ext cx="329184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85" name="Rounded Rectangle 109"/>
          <p:cNvSpPr/>
          <p:nvPr/>
        </p:nvSpPr>
        <p:spPr>
          <a:xfrm>
            <a:off x="10469880" y="7127712"/>
            <a:ext cx="2231136" cy="1645920"/>
          </a:xfrm>
          <a:prstGeom prst="roundRect">
            <a:avLst>
              <a:gd name="adj" fmla="val 25000"/>
            </a:avLst>
          </a:prstGeom>
          <a:solidFill>
            <a:srgbClr val="E7F1EC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TextBox 110"/>
          <p:cNvSpPr txBox="1"/>
          <p:nvPr/>
        </p:nvSpPr>
        <p:spPr>
          <a:xfrm>
            <a:off x="10634472" y="726487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939393"/>
                </a:solidFill>
                <a:latin typeface="Pretendard SemiBold"/>
              </a:rPr>
              <a:t>04</a:t>
            </a:r>
          </a:p>
        </p:txBody>
      </p:sp>
      <p:sp>
        <p:nvSpPr>
          <p:cNvPr id="87" name="Rounded Rectangle 111"/>
          <p:cNvSpPr/>
          <p:nvPr/>
        </p:nvSpPr>
        <p:spPr>
          <a:xfrm>
            <a:off x="12006072" y="7246584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8" name="TextBox 112"/>
          <p:cNvSpPr txBox="1"/>
          <p:nvPr/>
        </p:nvSpPr>
        <p:spPr>
          <a:xfrm>
            <a:off x="12006072" y="7246584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 SemiBold"/>
              </a:rPr>
              <a:t>검색</a:t>
            </a:r>
          </a:p>
        </p:txBody>
      </p:sp>
      <p:sp>
        <p:nvSpPr>
          <p:cNvPr id="89" name="TextBox 113"/>
          <p:cNvSpPr txBox="1"/>
          <p:nvPr/>
        </p:nvSpPr>
        <p:spPr>
          <a:xfrm>
            <a:off x="10469880" y="7603200"/>
            <a:ext cx="22311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>
                <a:solidFill>
                  <a:srgbClr val="2E7D5B"/>
                </a:solidFill>
                <a:latin typeface="Pretendard SemiBold"/>
              </a:rPr>
              <a:t>청구항 색인 · 대조</a:t>
            </a:r>
          </a:p>
        </p:txBody>
      </p:sp>
      <p:sp>
        <p:nvSpPr>
          <p:cNvPr id="90" name="Rectangle 114"/>
          <p:cNvSpPr/>
          <p:nvPr/>
        </p:nvSpPr>
        <p:spPr>
          <a:xfrm>
            <a:off x="11283696" y="8023824"/>
            <a:ext cx="603504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115"/>
          <p:cNvSpPr txBox="1"/>
          <p:nvPr/>
        </p:nvSpPr>
        <p:spPr>
          <a:xfrm>
            <a:off x="10579607" y="817012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후보 청구항 BM25 색인</a:t>
            </a:r>
          </a:p>
        </p:txBody>
      </p:sp>
      <p:sp>
        <p:nvSpPr>
          <p:cNvPr id="92" name="TextBox 116"/>
          <p:cNvSpPr txBox="1"/>
          <p:nvPr/>
        </p:nvSpPr>
        <p:spPr>
          <a:xfrm>
            <a:off x="10579607" y="842616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분석이 끝나면 소멸</a:t>
            </a:r>
          </a:p>
        </p:txBody>
      </p:sp>
      <p:sp>
        <p:nvSpPr>
          <p:cNvPr id="93" name="TextBox 117"/>
          <p:cNvSpPr txBox="1"/>
          <p:nvPr/>
        </p:nvSpPr>
        <p:spPr>
          <a:xfrm>
            <a:off x="12701015" y="7127712"/>
            <a:ext cx="329184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94" name="Rounded Rectangle 118"/>
          <p:cNvSpPr/>
          <p:nvPr/>
        </p:nvSpPr>
        <p:spPr>
          <a:xfrm>
            <a:off x="13030200" y="7127712"/>
            <a:ext cx="2231136" cy="16459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TextBox 119"/>
          <p:cNvSpPr txBox="1"/>
          <p:nvPr/>
        </p:nvSpPr>
        <p:spPr>
          <a:xfrm>
            <a:off x="13194792" y="726487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939393"/>
                </a:solidFill>
                <a:latin typeface="Pretendard SemiBold"/>
              </a:rPr>
              <a:t>05</a:t>
            </a:r>
          </a:p>
        </p:txBody>
      </p:sp>
      <p:sp>
        <p:nvSpPr>
          <p:cNvPr id="96" name="Rounded Rectangle 120"/>
          <p:cNvSpPr/>
          <p:nvPr/>
        </p:nvSpPr>
        <p:spPr>
          <a:xfrm>
            <a:off x="14566392" y="7246584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TextBox 121"/>
          <p:cNvSpPr txBox="1"/>
          <p:nvPr/>
        </p:nvSpPr>
        <p:spPr>
          <a:xfrm>
            <a:off x="14566392" y="7246584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 SemiBold"/>
              </a:rPr>
              <a:t>판정</a:t>
            </a:r>
          </a:p>
        </p:txBody>
      </p:sp>
      <p:sp>
        <p:nvSpPr>
          <p:cNvPr id="98" name="TextBox 122"/>
          <p:cNvSpPr txBox="1"/>
          <p:nvPr/>
        </p:nvSpPr>
        <p:spPr>
          <a:xfrm>
            <a:off x="13030200" y="7603200"/>
            <a:ext cx="22311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>
                <a:solidFill>
                  <a:srgbClr val="222222"/>
                </a:solidFill>
                <a:latin typeface="Pretendard SemiBold"/>
              </a:rPr>
              <a:t>규칙표 판정</a:t>
            </a:r>
          </a:p>
        </p:txBody>
      </p:sp>
      <p:sp>
        <p:nvSpPr>
          <p:cNvPr id="99" name="Rectangle 123"/>
          <p:cNvSpPr/>
          <p:nvPr/>
        </p:nvSpPr>
        <p:spPr>
          <a:xfrm>
            <a:off x="13844016" y="8023824"/>
            <a:ext cx="603504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" name="TextBox 124"/>
          <p:cNvSpPr txBox="1"/>
          <p:nvPr/>
        </p:nvSpPr>
        <p:spPr>
          <a:xfrm>
            <a:off x="13139928" y="817012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이산 규칙표가 등급을 정한다</a:t>
            </a:r>
          </a:p>
        </p:txBody>
      </p:sp>
      <p:sp>
        <p:nvSpPr>
          <p:cNvPr id="101" name="TextBox 125"/>
          <p:cNvSpPr txBox="1"/>
          <p:nvPr/>
        </p:nvSpPr>
        <p:spPr>
          <a:xfrm>
            <a:off x="13139928" y="842616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점수는 관측만</a:t>
            </a:r>
          </a:p>
        </p:txBody>
      </p:sp>
      <p:sp>
        <p:nvSpPr>
          <p:cNvPr id="102" name="TextBox 126"/>
          <p:cNvSpPr txBox="1"/>
          <p:nvPr/>
        </p:nvSpPr>
        <p:spPr>
          <a:xfrm>
            <a:off x="15261336" y="7127712"/>
            <a:ext cx="329184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103" name="Rounded Rectangle 127"/>
          <p:cNvSpPr/>
          <p:nvPr/>
        </p:nvSpPr>
        <p:spPr>
          <a:xfrm>
            <a:off x="15590520" y="7127712"/>
            <a:ext cx="2231136" cy="1645920"/>
          </a:xfrm>
          <a:prstGeom prst="roundRect">
            <a:avLst>
              <a:gd name="adj" fmla="val 25000"/>
            </a:avLst>
          </a:prstGeom>
          <a:solidFill>
            <a:srgbClr val="E4E7F2"/>
          </a:solidFill>
          <a:ln w="12700">
            <a:solidFill>
              <a:srgbClr val="3A5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TextBox 128"/>
          <p:cNvSpPr txBox="1"/>
          <p:nvPr/>
        </p:nvSpPr>
        <p:spPr>
          <a:xfrm>
            <a:off x="15755112" y="726487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939393"/>
                </a:solidFill>
                <a:latin typeface="Pretendard SemiBold"/>
              </a:rPr>
              <a:t>06</a:t>
            </a:r>
          </a:p>
        </p:txBody>
      </p:sp>
      <p:sp>
        <p:nvSpPr>
          <p:cNvPr id="105" name="Rounded Rectangle 129"/>
          <p:cNvSpPr/>
          <p:nvPr/>
        </p:nvSpPr>
        <p:spPr>
          <a:xfrm>
            <a:off x="17126712" y="7246584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TextBox 130"/>
          <p:cNvSpPr txBox="1"/>
          <p:nvPr/>
        </p:nvSpPr>
        <p:spPr>
          <a:xfrm>
            <a:off x="17126712" y="7246584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retendard SemiBold"/>
              </a:rPr>
              <a:t>생성</a:t>
            </a:r>
          </a:p>
        </p:txBody>
      </p:sp>
      <p:sp>
        <p:nvSpPr>
          <p:cNvPr id="107" name="TextBox 131"/>
          <p:cNvSpPr txBox="1"/>
          <p:nvPr/>
        </p:nvSpPr>
        <p:spPr>
          <a:xfrm>
            <a:off x="15590520" y="7603200"/>
            <a:ext cx="22311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>
                <a:solidFill>
                  <a:srgbClr val="3A59D1"/>
                </a:solidFill>
                <a:latin typeface="Pretendard SemiBold"/>
              </a:rPr>
              <a:t>근거 검증 · 설명</a:t>
            </a:r>
          </a:p>
        </p:txBody>
      </p:sp>
      <p:sp>
        <p:nvSpPr>
          <p:cNvPr id="108" name="Rectangle 132"/>
          <p:cNvSpPr/>
          <p:nvPr/>
        </p:nvSpPr>
        <p:spPr>
          <a:xfrm>
            <a:off x="16404336" y="8023824"/>
            <a:ext cx="603504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9" name="TextBox 133"/>
          <p:cNvSpPr txBox="1"/>
          <p:nvPr/>
        </p:nvSpPr>
        <p:spPr>
          <a:xfrm>
            <a:off x="15700248" y="817012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인용 ID 실재를 코드가 확인</a:t>
            </a:r>
          </a:p>
        </p:txBody>
      </p:sp>
      <p:sp>
        <p:nvSpPr>
          <p:cNvPr id="110" name="TextBox 134"/>
          <p:cNvSpPr txBox="1"/>
          <p:nvPr/>
        </p:nvSpPr>
        <p:spPr>
          <a:xfrm>
            <a:off x="15700248" y="842616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없으면 대조째 폐기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 32">
            <a:extLst>
              <a:ext uri="{FF2B5EF4-FFF2-40B4-BE49-F238E27FC236}">
                <a16:creationId xmlns:a16="http://schemas.microsoft.com/office/drawing/2014/main" id="{5327F81C-A504-0709-F299-983B90263D38}"/>
              </a:ext>
            </a:extLst>
          </p:cNvPr>
          <p:cNvSpPr/>
          <p:nvPr/>
        </p:nvSpPr>
        <p:spPr>
          <a:xfrm>
            <a:off x="12664440" y="2452272"/>
            <a:ext cx="5166360" cy="157276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2" name="Rect 1"/>
          <p:cNvSpPr/>
          <p:nvPr/>
        </p:nvSpPr>
        <p:spPr>
          <a:xfrm>
            <a:off x="1024128" y="1133856"/>
            <a:ext cx="54864" cy="274320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3" name="TextBox 2"/>
          <p:cNvSpPr txBox="1"/>
          <p:nvPr/>
        </p:nvSpPr>
        <p:spPr>
          <a:xfrm>
            <a:off x="1225296" y="111556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B87333"/>
                </a:solidFill>
                <a:latin typeface="Pretendard SemiBold"/>
              </a:rPr>
              <a:t>01 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81328"/>
            <a:ext cx="16230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dirty="0" err="1">
                <a:solidFill>
                  <a:srgbClr val="222222"/>
                </a:solidFill>
                <a:latin typeface="Pretendard SemiBold"/>
              </a:rPr>
              <a:t>특허</a:t>
            </a:r>
            <a:r>
              <a:rPr sz="3600" b="1" dirty="0">
                <a:solidFill>
                  <a:srgbClr val="222222"/>
                </a:solidFill>
                <a:latin typeface="Pretendard SemiBold"/>
              </a:rPr>
              <a:t> </a:t>
            </a:r>
            <a:r>
              <a:rPr sz="3600" b="1" dirty="0" err="1">
                <a:solidFill>
                  <a:srgbClr val="222222"/>
                </a:solidFill>
                <a:latin typeface="Pretendard SemiBold"/>
              </a:rPr>
              <a:t>파이프라인</a:t>
            </a:r>
            <a:r>
              <a:rPr sz="3600" b="1" dirty="0">
                <a:solidFill>
                  <a:srgbClr val="222222"/>
                </a:solidFill>
                <a:latin typeface="Pretendard SemiBold"/>
              </a:rPr>
              <a:t> </a:t>
            </a:r>
            <a:r>
              <a:rPr sz="3600" b="1" dirty="0" err="1">
                <a:solidFill>
                  <a:srgbClr val="222222"/>
                </a:solidFill>
                <a:latin typeface="Pretendard SemiBold"/>
              </a:rPr>
              <a:t>고도화</a:t>
            </a:r>
            <a:r>
              <a:rPr sz="3600" b="1" dirty="0">
                <a:solidFill>
                  <a:srgbClr val="222222"/>
                </a:solidFill>
                <a:latin typeface="Pretendard SemiBold"/>
              </a:rPr>
              <a:t> — </a:t>
            </a:r>
            <a:r>
              <a:rPr lang="ko-KR" altLang="en-US" sz="3600" b="1" dirty="0" err="1">
                <a:solidFill>
                  <a:srgbClr val="222222"/>
                </a:solidFill>
                <a:latin typeface="Pretendard SemiBold"/>
              </a:rPr>
              <a:t>골든셋</a:t>
            </a:r>
            <a:r>
              <a:rPr lang="ko-KR" altLang="en-US" sz="3600" b="1" dirty="0">
                <a:solidFill>
                  <a:srgbClr val="222222"/>
                </a:solidFill>
                <a:latin typeface="Pretendard SemiBold"/>
              </a:rPr>
              <a:t> </a:t>
            </a:r>
            <a:r>
              <a:rPr lang="en-US" altLang="ko-KR" sz="3600" b="1" dirty="0">
                <a:solidFill>
                  <a:srgbClr val="222222"/>
                </a:solidFill>
                <a:latin typeface="Pretendard SemiBold"/>
              </a:rPr>
              <a:t>&amp; </a:t>
            </a:r>
            <a:r>
              <a:rPr lang="ko-KR" altLang="en-US" sz="3600" b="1" dirty="0">
                <a:solidFill>
                  <a:srgbClr val="222222"/>
                </a:solidFill>
                <a:latin typeface="Pretendard SemiBold"/>
              </a:rPr>
              <a:t>실측 기반 개선</a:t>
            </a:r>
            <a:endParaRPr sz="3600" b="1" dirty="0">
              <a:solidFill>
                <a:srgbClr val="222222"/>
              </a:solidFill>
              <a:latin typeface="Pretendard SemiBold"/>
            </a:endParaRPr>
          </a:p>
        </p:txBody>
      </p:sp>
      <p:sp>
        <p:nvSpPr>
          <p:cNvPr id="5" name="Rect 4"/>
          <p:cNvSpPr/>
          <p:nvPr/>
        </p:nvSpPr>
        <p:spPr>
          <a:xfrm>
            <a:off x="1024128" y="2331720"/>
            <a:ext cx="16230600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6" name="Rect 5"/>
          <p:cNvSpPr/>
          <p:nvPr/>
        </p:nvSpPr>
        <p:spPr>
          <a:xfrm>
            <a:off x="14950440" y="9692640"/>
            <a:ext cx="2304288" cy="384048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5005304" y="969264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Pretendard SemiBold"/>
              </a:rPr>
              <a:t>PAGE 12</a:t>
            </a:r>
          </a:p>
        </p:txBody>
      </p:sp>
      <p:sp>
        <p:nvSpPr>
          <p:cNvPr id="8" name="Rect 7"/>
          <p:cNvSpPr/>
          <p:nvPr/>
        </p:nvSpPr>
        <p:spPr>
          <a:xfrm>
            <a:off x="0" y="10186416"/>
            <a:ext cx="4818888" cy="100584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9" name="Rect 8"/>
          <p:cNvSpPr/>
          <p:nvPr/>
        </p:nvSpPr>
        <p:spPr>
          <a:xfrm>
            <a:off x="1024128" y="4188792"/>
            <a:ext cx="1737360" cy="1572768"/>
          </a:xfrm>
          <a:prstGeom prst="rect">
            <a:avLst/>
          </a:prstGeom>
          <a:solidFill>
            <a:srgbClr val="F7F8FA"/>
          </a:solidFill>
          <a:ln w="12700">
            <a:solidFill>
              <a:srgbClr val="3A5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10" name="Rect 9"/>
          <p:cNvSpPr/>
          <p:nvPr/>
        </p:nvSpPr>
        <p:spPr>
          <a:xfrm>
            <a:off x="1024128" y="4188792"/>
            <a:ext cx="45720" cy="1572768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1261872" y="4463112"/>
            <a:ext cx="13373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3A59D1"/>
                </a:solidFill>
                <a:latin typeface="Pretendard SemiBold"/>
              </a:rPr>
              <a:t>검색 구간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4828872"/>
            <a:ext cx="13373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5176344"/>
            <a:ext cx="13373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9D1"/>
                </a:solidFill>
                <a:latin typeface="Pretendard SemiBold"/>
              </a:rPr>
              <a:t>R  재현율</a:t>
            </a:r>
          </a:p>
        </p:txBody>
      </p:sp>
      <p:sp>
        <p:nvSpPr>
          <p:cNvPr id="14" name="Rect 13"/>
          <p:cNvSpPr/>
          <p:nvPr/>
        </p:nvSpPr>
        <p:spPr>
          <a:xfrm>
            <a:off x="2907792" y="4188792"/>
            <a:ext cx="1687983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2907792" y="4627703"/>
            <a:ext cx="168798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3A59D1"/>
                </a:solidFill>
                <a:latin typeface="Pretendard SemiBold"/>
              </a:rPr>
              <a:t>다각적 질의</a:t>
            </a:r>
            <a:endParaRPr sz="1600" b="1" dirty="0">
              <a:solidFill>
                <a:srgbClr val="3A59D1"/>
              </a:solidFill>
              <a:latin typeface="Pretendard SemiBol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35808" y="5103191"/>
            <a:ext cx="1431951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 b="0">
                <a:solidFill>
                  <a:srgbClr val="939393"/>
                </a:solidFill>
                <a:latin typeface="Pretendard"/>
              </a:rPr>
              <a:t>5</a:t>
            </a:r>
            <a:r>
              <a:rPr lang="ko-KR" altLang="en-US" sz="1200" b="0">
                <a:solidFill>
                  <a:srgbClr val="939393"/>
                </a:solidFill>
                <a:latin typeface="Pretendard"/>
              </a:rPr>
              <a:t>계열 </a:t>
            </a:r>
            <a:r>
              <a:rPr lang="ko-KR" altLang="en-US" sz="1200" b="0" dirty="0">
                <a:solidFill>
                  <a:srgbClr val="939393"/>
                </a:solidFill>
                <a:latin typeface="Pretendard"/>
              </a:rPr>
              <a:t>관점 </a:t>
            </a:r>
            <a:r>
              <a:rPr lang="en-US" altLang="ko-KR" sz="1200" b="0" dirty="0">
                <a:solidFill>
                  <a:srgbClr val="939393"/>
                </a:solidFill>
                <a:latin typeface="Pretendard"/>
              </a:rPr>
              <a:t>10 ~14</a:t>
            </a:r>
            <a:r>
              <a:rPr lang="ko-KR" altLang="en-US" sz="1200" b="0" dirty="0">
                <a:solidFill>
                  <a:srgbClr val="939393"/>
                </a:solidFill>
                <a:latin typeface="Pretendard"/>
              </a:rPr>
              <a:t>개</a:t>
            </a:r>
            <a:endParaRPr sz="1200" b="0" dirty="0">
              <a:solidFill>
                <a:srgbClr val="939393"/>
              </a:solidFill>
              <a:latin typeface="Pretendar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95775" y="4188792"/>
            <a:ext cx="256031" cy="15727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18" name="Rect 17"/>
          <p:cNvSpPr/>
          <p:nvPr/>
        </p:nvSpPr>
        <p:spPr>
          <a:xfrm>
            <a:off x="4851806" y="4188792"/>
            <a:ext cx="1687983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4851806" y="4627703"/>
            <a:ext cx="168798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dirty="0" err="1">
                <a:solidFill>
                  <a:srgbClr val="3A59D1"/>
                </a:solidFill>
                <a:latin typeface="Pretendard SemiBold"/>
              </a:rPr>
              <a:t>필드</a:t>
            </a:r>
            <a:r>
              <a:rPr lang="en-US" sz="1600" b="1" dirty="0">
                <a:solidFill>
                  <a:srgbClr val="3A59D1"/>
                </a:solidFill>
                <a:latin typeface="Pretendard SemiBold"/>
              </a:rPr>
              <a:t> </a:t>
            </a:r>
            <a:r>
              <a:rPr lang="ko-KR" altLang="en-US" sz="1600" b="1" dirty="0">
                <a:solidFill>
                  <a:srgbClr val="3A59D1"/>
                </a:solidFill>
                <a:latin typeface="Pretendard SemiBold"/>
              </a:rPr>
              <a:t>지정</a:t>
            </a:r>
            <a:r>
              <a:rPr sz="1600" b="1" dirty="0">
                <a:solidFill>
                  <a:srgbClr val="3A59D1"/>
                </a:solidFill>
                <a:latin typeface="Pretendard SemiBold"/>
              </a:rPr>
              <a:t> </a:t>
            </a:r>
            <a:r>
              <a:rPr sz="1600" b="1" dirty="0" err="1">
                <a:solidFill>
                  <a:srgbClr val="3A59D1"/>
                </a:solidFill>
                <a:latin typeface="Pretendard SemiBold"/>
              </a:rPr>
              <a:t>검색</a:t>
            </a:r>
            <a:endParaRPr sz="1600" b="1" dirty="0">
              <a:solidFill>
                <a:srgbClr val="3A59D1"/>
              </a:solidFill>
              <a:latin typeface="Pretendard SemiBol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79822" y="5103191"/>
            <a:ext cx="1431951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200" b="0" dirty="0">
                <a:solidFill>
                  <a:srgbClr val="939393"/>
                </a:solidFill>
                <a:latin typeface="Pretendard"/>
              </a:rPr>
              <a:t>제목 </a:t>
            </a:r>
            <a:r>
              <a:rPr lang="en-US" altLang="ko-KR" sz="1200" b="0" dirty="0">
                <a:solidFill>
                  <a:srgbClr val="939393"/>
                </a:solidFill>
                <a:latin typeface="Pretendard"/>
              </a:rPr>
              <a:t>· </a:t>
            </a:r>
            <a:r>
              <a:rPr lang="ko-KR" altLang="en-US" sz="1200" b="0" dirty="0">
                <a:solidFill>
                  <a:srgbClr val="939393"/>
                </a:solidFill>
                <a:latin typeface="Pretendard"/>
              </a:rPr>
              <a:t>초록</a:t>
            </a:r>
            <a:r>
              <a:rPr lang="en-US" altLang="ko-KR" sz="1200" dirty="0">
                <a:solidFill>
                  <a:srgbClr val="939393"/>
                </a:solidFill>
                <a:latin typeface="Pretendard"/>
              </a:rPr>
              <a:t> </a:t>
            </a:r>
            <a:r>
              <a:rPr lang="ko-KR" altLang="en-US" sz="1200" dirty="0">
                <a:solidFill>
                  <a:srgbClr val="939393"/>
                </a:solidFill>
                <a:latin typeface="Pretendard"/>
              </a:rPr>
              <a:t>질의당 </a:t>
            </a:r>
            <a:r>
              <a:rPr lang="en-US" altLang="ko-KR" sz="1200" dirty="0">
                <a:solidFill>
                  <a:srgbClr val="939393"/>
                </a:solidFill>
                <a:latin typeface="Pretendard"/>
              </a:rPr>
              <a:t>60</a:t>
            </a:r>
            <a:r>
              <a:rPr lang="ko-KR" altLang="en-US" sz="1200" dirty="0">
                <a:solidFill>
                  <a:srgbClr val="939393"/>
                </a:solidFill>
                <a:latin typeface="Pretendard"/>
              </a:rPr>
              <a:t>건</a:t>
            </a:r>
            <a:endParaRPr sz="1200" dirty="0">
              <a:solidFill>
                <a:srgbClr val="939393"/>
              </a:solidFill>
              <a:latin typeface="Pretendar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39789" y="4188792"/>
            <a:ext cx="256031" cy="15727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22" name="Rect 21"/>
          <p:cNvSpPr/>
          <p:nvPr/>
        </p:nvSpPr>
        <p:spPr>
          <a:xfrm>
            <a:off x="6795820" y="4188792"/>
            <a:ext cx="1687983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6795820" y="4627703"/>
            <a:ext cx="168798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dirty="0">
                <a:solidFill>
                  <a:srgbClr val="3A59D1"/>
                </a:solidFill>
                <a:latin typeface="Pretendard SemiBold"/>
              </a:rPr>
              <a:t>BM25 </a:t>
            </a:r>
            <a:r>
              <a:rPr sz="1600" b="1" dirty="0" err="1">
                <a:solidFill>
                  <a:srgbClr val="3A59D1"/>
                </a:solidFill>
                <a:latin typeface="Pretendard SemiBold"/>
              </a:rPr>
              <a:t>재순위</a:t>
            </a:r>
            <a:endParaRPr sz="1600" b="1" dirty="0">
              <a:solidFill>
                <a:srgbClr val="3A59D1"/>
              </a:solidFill>
              <a:latin typeface="Pretendard SemiBol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23836" y="5103191"/>
            <a:ext cx="143195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200" b="0" dirty="0">
                <a:solidFill>
                  <a:srgbClr val="939393"/>
                </a:solidFill>
                <a:latin typeface="Pretendard"/>
              </a:rPr>
              <a:t>표준 어휘 점수 재정렬</a:t>
            </a:r>
            <a:r>
              <a:rPr lang="en-US" altLang="ko-KR" sz="1200" dirty="0">
                <a:solidFill>
                  <a:srgbClr val="939393"/>
                </a:solidFill>
              </a:rPr>
              <a:t> </a:t>
            </a:r>
            <a:r>
              <a:rPr lang="ko-KR" altLang="en-US" sz="1200" dirty="0">
                <a:solidFill>
                  <a:srgbClr val="939393"/>
                </a:solidFill>
              </a:rPr>
              <a:t>후보 상위 </a:t>
            </a:r>
            <a:r>
              <a:rPr lang="en-US" altLang="ko-KR" sz="1200" dirty="0">
                <a:solidFill>
                  <a:srgbClr val="939393"/>
                </a:solidFill>
              </a:rPr>
              <a:t>8</a:t>
            </a:r>
            <a:r>
              <a:rPr lang="ko-KR" altLang="en-US" sz="1200" dirty="0">
                <a:solidFill>
                  <a:srgbClr val="939393"/>
                </a:solidFill>
              </a:rPr>
              <a:t>건</a:t>
            </a:r>
            <a:endParaRPr sz="1200" b="0" dirty="0">
              <a:solidFill>
                <a:srgbClr val="939393"/>
              </a:solidFill>
              <a:latin typeface="Pretendar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83803" y="4188792"/>
            <a:ext cx="256031" cy="15727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26" name="Rect 25"/>
          <p:cNvSpPr/>
          <p:nvPr/>
        </p:nvSpPr>
        <p:spPr>
          <a:xfrm>
            <a:off x="8739834" y="4188792"/>
            <a:ext cx="1687983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8739834" y="4627703"/>
            <a:ext cx="168798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3A59D1"/>
                </a:solidFill>
                <a:latin typeface="Pretendard SemiBold"/>
              </a:rPr>
              <a:t>정밀 질의</a:t>
            </a:r>
            <a:r>
              <a:rPr lang="en-US" altLang="ko-KR" sz="1600" b="1" dirty="0">
                <a:solidFill>
                  <a:srgbClr val="3A59D1"/>
                </a:solidFill>
                <a:latin typeface="Pretendard SemiBold"/>
              </a:rPr>
              <a:t> · </a:t>
            </a:r>
            <a:r>
              <a:rPr lang="ko-KR" altLang="en-US" sz="1600" b="1" dirty="0">
                <a:solidFill>
                  <a:srgbClr val="3A59D1"/>
                </a:solidFill>
                <a:latin typeface="Pretendard SemiBold"/>
              </a:rPr>
              <a:t>제목 적중</a:t>
            </a:r>
            <a:endParaRPr sz="1600" b="1" dirty="0">
              <a:solidFill>
                <a:srgbClr val="3A59D1"/>
              </a:solidFill>
              <a:latin typeface="Pretendard SemiBold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867850" y="5103191"/>
            <a:ext cx="1431951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200" b="0" dirty="0">
                <a:solidFill>
                  <a:srgbClr val="939393"/>
                </a:solidFill>
                <a:latin typeface="Pretendard"/>
              </a:rPr>
              <a:t>결과가 적은 정밀 </a:t>
            </a:r>
            <a:r>
              <a:rPr lang="ko-KR" altLang="en-US" sz="1200" dirty="0">
                <a:solidFill>
                  <a:srgbClr val="939393"/>
                </a:solidFill>
                <a:latin typeface="Pretendard"/>
              </a:rPr>
              <a:t>질의</a:t>
            </a:r>
            <a:endParaRPr lang="en-US" altLang="ko-KR" sz="1200" dirty="0">
              <a:solidFill>
                <a:srgbClr val="939393"/>
              </a:solidFill>
              <a:latin typeface="Pretendard"/>
            </a:endParaRPr>
          </a:p>
          <a:p>
            <a:pPr algn="ctr"/>
            <a:r>
              <a:rPr lang="ko-KR" altLang="en-US" sz="1200" b="0" dirty="0">
                <a:solidFill>
                  <a:srgbClr val="939393"/>
                </a:solidFill>
                <a:latin typeface="Pretendard"/>
              </a:rPr>
              <a:t>제목 적중 후보</a:t>
            </a:r>
            <a:endParaRPr lang="en-US" altLang="ko-KR" sz="1200" b="0" dirty="0">
              <a:solidFill>
                <a:srgbClr val="939393"/>
              </a:solidFill>
              <a:latin typeface="Pretendard"/>
            </a:endParaRPr>
          </a:p>
          <a:p>
            <a:pPr algn="ctr"/>
            <a:r>
              <a:rPr lang="ko-KR" altLang="en-US" sz="1200" dirty="0">
                <a:solidFill>
                  <a:srgbClr val="939393"/>
                </a:solidFill>
                <a:latin typeface="Pretendard"/>
              </a:rPr>
              <a:t>추가 후보 </a:t>
            </a:r>
            <a:r>
              <a:rPr lang="en-US" sz="1200" dirty="0">
                <a:solidFill>
                  <a:srgbClr val="939393"/>
                </a:solidFill>
                <a:latin typeface="Pretendard"/>
              </a:rPr>
              <a:t>30</a:t>
            </a:r>
            <a:r>
              <a:rPr lang="ko-KR" altLang="en-US" sz="1200" dirty="0">
                <a:solidFill>
                  <a:srgbClr val="939393"/>
                </a:solidFill>
                <a:latin typeface="Pretendard"/>
              </a:rPr>
              <a:t>건</a:t>
            </a:r>
            <a:endParaRPr sz="1200" b="0" dirty="0">
              <a:solidFill>
                <a:srgbClr val="939393"/>
              </a:solidFill>
              <a:latin typeface="Pretendard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27817" y="4188792"/>
            <a:ext cx="256031" cy="15727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30" name="Rect 29"/>
          <p:cNvSpPr/>
          <p:nvPr/>
        </p:nvSpPr>
        <p:spPr>
          <a:xfrm>
            <a:off x="10683848" y="4188792"/>
            <a:ext cx="1687983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31" name="TextBox 30"/>
          <p:cNvSpPr txBox="1"/>
          <p:nvPr/>
        </p:nvSpPr>
        <p:spPr>
          <a:xfrm>
            <a:off x="10683848" y="4627703"/>
            <a:ext cx="168798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dirty="0" err="1">
                <a:solidFill>
                  <a:srgbClr val="3A59D1"/>
                </a:solidFill>
                <a:latin typeface="Pretendard SemiBold"/>
              </a:rPr>
              <a:t>스크리닝</a:t>
            </a:r>
            <a:endParaRPr sz="1600" b="1" dirty="0">
              <a:solidFill>
                <a:srgbClr val="3A59D1"/>
              </a:solidFill>
              <a:latin typeface="Pretendard SemiBold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811864" y="5103191"/>
            <a:ext cx="1431951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200" b="0" dirty="0">
                <a:solidFill>
                  <a:srgbClr val="939393"/>
                </a:solidFill>
                <a:latin typeface="Pretendard"/>
              </a:rPr>
              <a:t>정밀 채널 풀 </a:t>
            </a:r>
            <a:r>
              <a:rPr lang="en-US" altLang="ko-KR" sz="1200" b="0" dirty="0">
                <a:solidFill>
                  <a:srgbClr val="939393"/>
                </a:solidFill>
                <a:latin typeface="Pretendard"/>
              </a:rPr>
              <a:t>150</a:t>
            </a:r>
          </a:p>
          <a:p>
            <a:pPr marL="171450" indent="-171450" algn="ctr">
              <a:buFont typeface="Wingdings" panose="05000000000000000000" pitchFamily="2" charset="2"/>
              <a:buChar char="è"/>
            </a:pPr>
            <a:r>
              <a:rPr lang="en-US" sz="1200" b="0" dirty="0">
                <a:solidFill>
                  <a:srgbClr val="939393"/>
                </a:solidFill>
                <a:latin typeface="Pretendard"/>
              </a:rPr>
              <a:t>Gemini 1</a:t>
            </a:r>
            <a:r>
              <a:rPr lang="ko-KR" altLang="en-US" sz="1200" b="0" dirty="0">
                <a:solidFill>
                  <a:srgbClr val="939393"/>
                </a:solidFill>
                <a:latin typeface="Pretendard"/>
              </a:rPr>
              <a:t>콜 선별</a:t>
            </a:r>
            <a:endParaRPr lang="en-US" altLang="ko-KR" sz="1200" b="0" dirty="0">
              <a:solidFill>
                <a:srgbClr val="939393"/>
              </a:solidFill>
              <a:latin typeface="Pretendard"/>
            </a:endParaRPr>
          </a:p>
          <a:p>
            <a:pPr marL="171450" indent="-171450" algn="ctr">
              <a:buFont typeface="Wingdings" panose="05000000000000000000" pitchFamily="2" charset="2"/>
              <a:buChar char="è"/>
            </a:pPr>
            <a:r>
              <a:rPr lang="ko-KR" altLang="en-US" sz="1200" dirty="0">
                <a:solidFill>
                  <a:srgbClr val="939393"/>
                </a:solidFill>
                <a:latin typeface="Pretendard"/>
              </a:rPr>
              <a:t>추가 후보 </a:t>
            </a:r>
            <a:r>
              <a:rPr lang="en-US" altLang="ko-KR" sz="1200" dirty="0">
                <a:solidFill>
                  <a:srgbClr val="939393"/>
                </a:solidFill>
                <a:latin typeface="Pretendard"/>
              </a:rPr>
              <a:t>12</a:t>
            </a:r>
            <a:r>
              <a:rPr lang="ko-KR" altLang="en-US" sz="1200" dirty="0">
                <a:solidFill>
                  <a:srgbClr val="939393"/>
                </a:solidFill>
                <a:latin typeface="Pretendard"/>
              </a:rPr>
              <a:t>건</a:t>
            </a:r>
            <a:endParaRPr sz="1200" b="0" dirty="0">
              <a:solidFill>
                <a:srgbClr val="939393"/>
              </a:solidFill>
              <a:latin typeface="Pretendard"/>
            </a:endParaRPr>
          </a:p>
        </p:txBody>
      </p:sp>
      <p:sp>
        <p:nvSpPr>
          <p:cNvPr id="33" name="Rect 32"/>
          <p:cNvSpPr/>
          <p:nvPr/>
        </p:nvSpPr>
        <p:spPr>
          <a:xfrm>
            <a:off x="12664440" y="4188792"/>
            <a:ext cx="5166360" cy="157276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34" name="TextBox 33"/>
          <p:cNvSpPr txBox="1"/>
          <p:nvPr/>
        </p:nvSpPr>
        <p:spPr>
          <a:xfrm>
            <a:off x="12920472" y="4335096"/>
            <a:ext cx="465429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600" b="1" dirty="0">
                <a:solidFill>
                  <a:srgbClr val="3A59D1"/>
                </a:solidFill>
                <a:latin typeface="Pretendard SemiBold"/>
              </a:rPr>
              <a:t>성과</a:t>
            </a:r>
            <a:endParaRPr sz="1600" b="1" dirty="0">
              <a:solidFill>
                <a:srgbClr val="3A59D1"/>
              </a:solidFill>
              <a:latin typeface="Pretendard SemiBold"/>
            </a:endParaRPr>
          </a:p>
        </p:txBody>
      </p:sp>
      <p:sp>
        <p:nvSpPr>
          <p:cNvPr id="40" name="Rect 39"/>
          <p:cNvSpPr/>
          <p:nvPr/>
        </p:nvSpPr>
        <p:spPr>
          <a:xfrm>
            <a:off x="1024128" y="5926152"/>
            <a:ext cx="1737360" cy="1572768"/>
          </a:xfrm>
          <a:prstGeom prst="rect">
            <a:avLst/>
          </a:prstGeom>
          <a:solidFill>
            <a:srgbClr val="F7F8FA"/>
          </a:solidFill>
          <a:ln w="12700">
            <a:solidFill>
              <a:srgbClr val="B8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41" name="Rect 40"/>
          <p:cNvSpPr/>
          <p:nvPr/>
        </p:nvSpPr>
        <p:spPr>
          <a:xfrm>
            <a:off x="1024128" y="5926152"/>
            <a:ext cx="45720" cy="1572768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42" name="TextBox 41"/>
          <p:cNvSpPr txBox="1"/>
          <p:nvPr/>
        </p:nvSpPr>
        <p:spPr>
          <a:xfrm>
            <a:off x="1261872" y="6200472"/>
            <a:ext cx="13373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B87333"/>
                </a:solidFill>
                <a:latin typeface="Pretendard SemiBold"/>
              </a:rPr>
              <a:t>대조 구간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61872" y="6566232"/>
            <a:ext cx="13373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COMPARE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61872" y="6913704"/>
            <a:ext cx="13373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B87333"/>
                </a:solidFill>
                <a:latin typeface="Pretendard SemiBold"/>
              </a:rPr>
              <a:t>C  정밀도</a:t>
            </a:r>
          </a:p>
        </p:txBody>
      </p:sp>
      <p:sp>
        <p:nvSpPr>
          <p:cNvPr id="45" name="Rect 44"/>
          <p:cNvSpPr/>
          <p:nvPr/>
        </p:nvSpPr>
        <p:spPr>
          <a:xfrm>
            <a:off x="2907792" y="5926152"/>
            <a:ext cx="298399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46" name="TextBox 45"/>
          <p:cNvSpPr txBox="1"/>
          <p:nvPr/>
        </p:nvSpPr>
        <p:spPr>
          <a:xfrm>
            <a:off x="2907792" y="6365063"/>
            <a:ext cx="298399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B87333"/>
                </a:solidFill>
                <a:latin typeface="Pretendard SemiBold"/>
              </a:rPr>
              <a:t>청구항 청킹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35808" y="6840551"/>
            <a:ext cx="2727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200" b="0" dirty="0">
                <a:solidFill>
                  <a:srgbClr val="939393"/>
                </a:solidFill>
                <a:latin typeface="Pretendard"/>
              </a:rPr>
              <a:t>좌표 보존</a:t>
            </a:r>
            <a:r>
              <a:rPr lang="en-US" altLang="ko-KR" sz="1200" b="0" dirty="0">
                <a:solidFill>
                  <a:srgbClr val="939393"/>
                </a:solidFill>
                <a:latin typeface="Pretendard"/>
              </a:rPr>
              <a:t>, </a:t>
            </a:r>
            <a:r>
              <a:rPr lang="ko-KR" altLang="en-US" sz="1200" dirty="0" err="1">
                <a:solidFill>
                  <a:srgbClr val="939393"/>
                </a:solidFill>
                <a:latin typeface="Pretendard"/>
              </a:rPr>
              <a:t>청크</a:t>
            </a:r>
            <a:r>
              <a:rPr lang="ko-KR" altLang="en-US" sz="1200" dirty="0">
                <a:solidFill>
                  <a:srgbClr val="939393"/>
                </a:solidFill>
                <a:latin typeface="Pretendard"/>
              </a:rPr>
              <a:t> 단위</a:t>
            </a:r>
            <a:endParaRPr sz="1200" b="0" dirty="0">
              <a:solidFill>
                <a:srgbClr val="939393"/>
              </a:solidFill>
              <a:latin typeface="Pretendard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891784" y="5926152"/>
            <a:ext cx="256031" cy="15727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49" name="Rect 48"/>
          <p:cNvSpPr/>
          <p:nvPr/>
        </p:nvSpPr>
        <p:spPr>
          <a:xfrm>
            <a:off x="6147815" y="5926152"/>
            <a:ext cx="298399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50" name="TextBox 49"/>
          <p:cNvSpPr txBox="1"/>
          <p:nvPr/>
        </p:nvSpPr>
        <p:spPr>
          <a:xfrm>
            <a:off x="6147815" y="6365063"/>
            <a:ext cx="298399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600" b="1" dirty="0" err="1">
                <a:solidFill>
                  <a:srgbClr val="B87333"/>
                </a:solidFill>
                <a:latin typeface="Pretendard SemiBold"/>
              </a:rPr>
              <a:t>청크</a:t>
            </a:r>
            <a:r>
              <a:rPr sz="1600" b="1" dirty="0">
                <a:solidFill>
                  <a:srgbClr val="B87333"/>
                </a:solidFill>
                <a:latin typeface="Pretendard SemiBold"/>
              </a:rPr>
              <a:t> </a:t>
            </a:r>
            <a:r>
              <a:rPr sz="1600" b="1" dirty="0" err="1">
                <a:solidFill>
                  <a:srgbClr val="B87333"/>
                </a:solidFill>
                <a:latin typeface="Pretendard SemiBold"/>
              </a:rPr>
              <a:t>근거</a:t>
            </a:r>
            <a:r>
              <a:rPr sz="1600" b="1" dirty="0">
                <a:solidFill>
                  <a:srgbClr val="B87333"/>
                </a:solidFill>
                <a:latin typeface="Pretendard SemiBold"/>
              </a:rPr>
              <a:t> </a:t>
            </a:r>
            <a:r>
              <a:rPr lang="en-US" sz="1600" b="1" dirty="0">
                <a:solidFill>
                  <a:srgbClr val="B87333"/>
                </a:solidFill>
                <a:latin typeface="Pretendard SemiBold"/>
              </a:rPr>
              <a:t>Ephemeral </a:t>
            </a:r>
            <a:r>
              <a:rPr sz="1600" b="1" dirty="0">
                <a:solidFill>
                  <a:srgbClr val="B87333"/>
                </a:solidFill>
                <a:latin typeface="Pretendard SemiBold"/>
              </a:rPr>
              <a:t>RAG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75831" y="6840551"/>
            <a:ext cx="2727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200" b="0" dirty="0">
                <a:solidFill>
                  <a:srgbClr val="939393"/>
                </a:solidFill>
                <a:latin typeface="Pretendard"/>
              </a:rPr>
              <a:t>분석</a:t>
            </a:r>
            <a:r>
              <a:rPr lang="en-US" altLang="ko-KR" sz="1200" b="0" dirty="0">
                <a:solidFill>
                  <a:srgbClr val="939393"/>
                </a:solidFill>
                <a:latin typeface="Pretendard"/>
              </a:rPr>
              <a:t> 1</a:t>
            </a:r>
            <a:r>
              <a:rPr lang="ko-KR" altLang="en-US" sz="1200" b="0" dirty="0">
                <a:solidFill>
                  <a:srgbClr val="939393"/>
                </a:solidFill>
                <a:latin typeface="Pretendard"/>
              </a:rPr>
              <a:t>회 수명 색인</a:t>
            </a:r>
            <a:r>
              <a:rPr lang="en-US" altLang="ko-KR" sz="1200" b="0" dirty="0">
                <a:solidFill>
                  <a:srgbClr val="939393"/>
                </a:solidFill>
                <a:latin typeface="Pretendard"/>
              </a:rPr>
              <a:t>, </a:t>
            </a:r>
            <a:r>
              <a:rPr lang="ko-KR" altLang="en-US" sz="1200" b="0" dirty="0" err="1">
                <a:solidFill>
                  <a:srgbClr val="939393"/>
                </a:solidFill>
                <a:latin typeface="Pretendard"/>
              </a:rPr>
              <a:t>청크별</a:t>
            </a:r>
            <a:r>
              <a:rPr lang="ko-KR" altLang="en-US" sz="1200" b="0" dirty="0">
                <a:solidFill>
                  <a:srgbClr val="939393"/>
                </a:solidFill>
                <a:latin typeface="Pretendard"/>
              </a:rPr>
              <a:t> 직접 근거</a:t>
            </a:r>
            <a:endParaRPr sz="1200" b="0" dirty="0">
              <a:solidFill>
                <a:srgbClr val="939393"/>
              </a:solidFill>
              <a:latin typeface="Pretendard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131807" y="5926152"/>
            <a:ext cx="256031" cy="15727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53" name="Rect 52"/>
          <p:cNvSpPr/>
          <p:nvPr/>
        </p:nvSpPr>
        <p:spPr>
          <a:xfrm>
            <a:off x="9387838" y="5926152"/>
            <a:ext cx="298399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54" name="TextBox 53"/>
          <p:cNvSpPr txBox="1"/>
          <p:nvPr/>
        </p:nvSpPr>
        <p:spPr>
          <a:xfrm>
            <a:off x="9387838" y="6365063"/>
            <a:ext cx="298399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B87333"/>
                </a:solidFill>
                <a:latin typeface="Pretendard SemiBold"/>
              </a:rPr>
              <a:t>H</a:t>
            </a:r>
            <a:r>
              <a:rPr sz="1600" b="1" dirty="0">
                <a:solidFill>
                  <a:srgbClr val="B87333"/>
                </a:solidFill>
                <a:latin typeface="Pretendard SemiBold"/>
              </a:rPr>
              <a:t>ybrid </a:t>
            </a:r>
            <a:r>
              <a:rPr sz="1600" b="1" dirty="0" err="1">
                <a:solidFill>
                  <a:srgbClr val="B87333"/>
                </a:solidFill>
                <a:latin typeface="Pretendard SemiBold"/>
              </a:rPr>
              <a:t>판정</a:t>
            </a:r>
            <a:endParaRPr sz="1600" b="1" dirty="0">
              <a:solidFill>
                <a:srgbClr val="B87333"/>
              </a:solidFill>
              <a:latin typeface="Pretendard SemiBold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515854" y="6840551"/>
            <a:ext cx="2727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200" b="0" dirty="0">
                <a:solidFill>
                  <a:srgbClr val="939393"/>
                </a:solidFill>
                <a:latin typeface="Pretendard"/>
              </a:rPr>
              <a:t>동의</a:t>
            </a:r>
            <a:r>
              <a:rPr lang="en-US" altLang="ko-KR" sz="1200" dirty="0">
                <a:solidFill>
                  <a:srgbClr val="939393"/>
                </a:solidFill>
              </a:rPr>
              <a:t> ·</a:t>
            </a:r>
            <a:r>
              <a:rPr lang="ko-KR" altLang="en-US" sz="1200" dirty="0" err="1">
                <a:solidFill>
                  <a:srgbClr val="939393"/>
                </a:solidFill>
              </a:rPr>
              <a:t>이표현</a:t>
            </a:r>
            <a:r>
              <a:rPr lang="ko-KR" altLang="en-US" sz="1200" dirty="0">
                <a:solidFill>
                  <a:srgbClr val="939393"/>
                </a:solidFill>
              </a:rPr>
              <a:t> 매칭</a:t>
            </a:r>
            <a:r>
              <a:rPr lang="en-US" altLang="ko-KR" sz="1200" dirty="0">
                <a:solidFill>
                  <a:srgbClr val="939393"/>
                </a:solidFill>
              </a:rPr>
              <a:t> </a:t>
            </a:r>
            <a:r>
              <a:rPr lang="ko-KR" altLang="en-US" sz="1200" dirty="0">
                <a:solidFill>
                  <a:srgbClr val="939393"/>
                </a:solidFill>
              </a:rPr>
              <a:t>허용</a:t>
            </a:r>
            <a:r>
              <a:rPr lang="en-US" altLang="ko-KR" sz="1200" dirty="0">
                <a:solidFill>
                  <a:srgbClr val="939393"/>
                </a:solidFill>
              </a:rPr>
              <a:t>, Grounding </a:t>
            </a:r>
            <a:r>
              <a:rPr lang="ko-KR" altLang="en-US" sz="1200" dirty="0">
                <a:solidFill>
                  <a:srgbClr val="939393"/>
                </a:solidFill>
              </a:rPr>
              <a:t>유지</a:t>
            </a:r>
            <a:endParaRPr sz="1200" b="0" dirty="0">
              <a:solidFill>
                <a:srgbClr val="939393"/>
              </a:solidFill>
              <a:latin typeface="Pretendard"/>
            </a:endParaRPr>
          </a:p>
        </p:txBody>
      </p:sp>
      <p:sp>
        <p:nvSpPr>
          <p:cNvPr id="56" name="Rect 55"/>
          <p:cNvSpPr/>
          <p:nvPr/>
        </p:nvSpPr>
        <p:spPr>
          <a:xfrm>
            <a:off x="12664440" y="5926152"/>
            <a:ext cx="5166360" cy="157276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57" name="TextBox 56"/>
          <p:cNvSpPr txBox="1"/>
          <p:nvPr/>
        </p:nvSpPr>
        <p:spPr>
          <a:xfrm>
            <a:off x="12920472" y="6072456"/>
            <a:ext cx="465429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600" b="1" dirty="0">
                <a:solidFill>
                  <a:srgbClr val="B87333"/>
                </a:solidFill>
                <a:latin typeface="Pretendard SemiBold"/>
              </a:rPr>
              <a:t>성과</a:t>
            </a:r>
            <a:endParaRPr sz="1600" b="1" dirty="0">
              <a:solidFill>
                <a:srgbClr val="B87333"/>
              </a:solidFill>
              <a:latin typeface="Pretendard SemiBold"/>
            </a:endParaRPr>
          </a:p>
        </p:txBody>
      </p:sp>
      <p:sp>
        <p:nvSpPr>
          <p:cNvPr id="63" name="Rect 62"/>
          <p:cNvSpPr/>
          <p:nvPr/>
        </p:nvSpPr>
        <p:spPr>
          <a:xfrm>
            <a:off x="1024128" y="7663512"/>
            <a:ext cx="1737360" cy="1572768"/>
          </a:xfrm>
          <a:prstGeom prst="rect">
            <a:avLst/>
          </a:prstGeom>
          <a:solidFill>
            <a:srgbClr val="F7F8FA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64" name="Rect 63"/>
          <p:cNvSpPr/>
          <p:nvPr/>
        </p:nvSpPr>
        <p:spPr>
          <a:xfrm>
            <a:off x="1024128" y="7663512"/>
            <a:ext cx="45720" cy="157276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65" name="TextBox 64"/>
          <p:cNvSpPr txBox="1"/>
          <p:nvPr/>
        </p:nvSpPr>
        <p:spPr>
          <a:xfrm>
            <a:off x="1261872" y="7937832"/>
            <a:ext cx="13373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2E7D5B"/>
                </a:solidFill>
                <a:latin typeface="Pretendard SemiBold"/>
              </a:rPr>
              <a:t>판정 구간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61872" y="8303592"/>
            <a:ext cx="13373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DECIDE</a:t>
            </a:r>
          </a:p>
        </p:txBody>
      </p:sp>
      <p:sp>
        <p:nvSpPr>
          <p:cNvPr id="68" name="Rect 67"/>
          <p:cNvSpPr/>
          <p:nvPr/>
        </p:nvSpPr>
        <p:spPr>
          <a:xfrm>
            <a:off x="2907792" y="7663512"/>
            <a:ext cx="460400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69" name="TextBox 68"/>
          <p:cNvSpPr txBox="1"/>
          <p:nvPr/>
        </p:nvSpPr>
        <p:spPr>
          <a:xfrm>
            <a:off x="2907792" y="8102423"/>
            <a:ext cx="460400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2E7D5B"/>
                </a:solidFill>
                <a:latin typeface="Pretendard SemiBold"/>
              </a:rPr>
              <a:t>G</a:t>
            </a:r>
            <a:r>
              <a:rPr sz="1600" b="1" dirty="0">
                <a:solidFill>
                  <a:srgbClr val="2E7D5B"/>
                </a:solidFill>
                <a:latin typeface="Pretendard SemiBold"/>
              </a:rPr>
              <a:t>rounding </a:t>
            </a:r>
            <a:r>
              <a:rPr sz="1600" b="1" dirty="0" err="1">
                <a:solidFill>
                  <a:srgbClr val="2E7D5B"/>
                </a:solidFill>
                <a:latin typeface="Pretendard SemiBold"/>
              </a:rPr>
              <a:t>검증</a:t>
            </a:r>
            <a:endParaRPr sz="1600" b="1" dirty="0">
              <a:solidFill>
                <a:srgbClr val="2E7D5B"/>
              </a:solidFill>
              <a:latin typeface="Pretendard SemiBold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3035808" y="8577911"/>
            <a:ext cx="434797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200" b="0" dirty="0">
                <a:solidFill>
                  <a:srgbClr val="939393"/>
                </a:solidFill>
                <a:latin typeface="Pretendard"/>
              </a:rPr>
              <a:t>모델 인용 문구 실재 확인</a:t>
            </a:r>
            <a:endParaRPr sz="1200" b="0" dirty="0">
              <a:solidFill>
                <a:srgbClr val="939393"/>
              </a:solidFill>
              <a:latin typeface="Pretendard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511796" y="7663512"/>
            <a:ext cx="256031" cy="15727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72" name="Rect 71"/>
          <p:cNvSpPr/>
          <p:nvPr/>
        </p:nvSpPr>
        <p:spPr>
          <a:xfrm>
            <a:off x="7767827" y="7663512"/>
            <a:ext cx="460400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73" name="TextBox 72"/>
          <p:cNvSpPr txBox="1"/>
          <p:nvPr/>
        </p:nvSpPr>
        <p:spPr>
          <a:xfrm>
            <a:off x="7767827" y="8102423"/>
            <a:ext cx="460400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2E7D5B"/>
                </a:solidFill>
                <a:latin typeface="Pretendard SemiBold"/>
              </a:rPr>
              <a:t>Rule-based </a:t>
            </a:r>
            <a:r>
              <a:rPr lang="ko-KR" altLang="en-US" sz="1600" b="1" dirty="0">
                <a:solidFill>
                  <a:srgbClr val="2E7D5B"/>
                </a:solidFill>
                <a:latin typeface="Pretendard SemiBold"/>
              </a:rPr>
              <a:t>등급</a:t>
            </a:r>
            <a:endParaRPr sz="1600" b="1" dirty="0">
              <a:solidFill>
                <a:srgbClr val="2E7D5B"/>
              </a:solidFill>
              <a:latin typeface="Pretendard SemiBold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895843" y="8577911"/>
            <a:ext cx="434797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200" dirty="0">
                <a:solidFill>
                  <a:srgbClr val="939393"/>
                </a:solidFill>
                <a:latin typeface="Pretendard"/>
              </a:rPr>
              <a:t>청구항 근거 겹침 요소 수 기반 등급 판정</a:t>
            </a:r>
            <a:endParaRPr lang="en-US" altLang="ko-KR" sz="1200" dirty="0">
              <a:solidFill>
                <a:srgbClr val="939393"/>
              </a:solidFill>
              <a:latin typeface="Pretendard"/>
            </a:endParaRPr>
          </a:p>
          <a:p>
            <a:pPr algn="ctr"/>
            <a:r>
              <a:rPr lang="en-US" sz="1200" b="0" dirty="0">
                <a:solidFill>
                  <a:srgbClr val="939393"/>
                </a:solidFill>
                <a:latin typeface="Pretendard"/>
              </a:rPr>
              <a:t>HIGH / M</a:t>
            </a:r>
            <a:r>
              <a:rPr lang="en-US" sz="1200" dirty="0">
                <a:solidFill>
                  <a:srgbClr val="939393"/>
                </a:solidFill>
                <a:latin typeface="Pretendard"/>
              </a:rPr>
              <a:t>EDIUM / LOW (</a:t>
            </a:r>
            <a:r>
              <a:rPr lang="en-US" sz="1200">
                <a:solidFill>
                  <a:srgbClr val="939393"/>
                </a:solidFill>
                <a:latin typeface="Pretendard"/>
              </a:rPr>
              <a:t>Risk X)</a:t>
            </a:r>
            <a:endParaRPr sz="1200" b="0" dirty="0">
              <a:solidFill>
                <a:srgbClr val="939393"/>
              </a:solidFill>
              <a:latin typeface="Pretendard"/>
            </a:endParaRPr>
          </a:p>
        </p:txBody>
      </p:sp>
      <p:sp>
        <p:nvSpPr>
          <p:cNvPr id="75" name="Rect 74"/>
          <p:cNvSpPr/>
          <p:nvPr/>
        </p:nvSpPr>
        <p:spPr>
          <a:xfrm>
            <a:off x="12664440" y="7663512"/>
            <a:ext cx="5166360" cy="157276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76" name="TextBox 75"/>
          <p:cNvSpPr txBox="1"/>
          <p:nvPr/>
        </p:nvSpPr>
        <p:spPr>
          <a:xfrm>
            <a:off x="12920472" y="7809816"/>
            <a:ext cx="465429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600" b="1" dirty="0">
                <a:solidFill>
                  <a:srgbClr val="2E7D5B"/>
                </a:solidFill>
                <a:latin typeface="Pretendard SemiBold"/>
              </a:rPr>
              <a:t>성과</a:t>
            </a:r>
            <a:endParaRPr sz="1600" b="1" dirty="0">
              <a:solidFill>
                <a:srgbClr val="2E7D5B"/>
              </a:solidFill>
              <a:latin typeface="Pretendard SemiBold"/>
            </a:endParaRPr>
          </a:p>
        </p:txBody>
      </p:sp>
      <p:sp>
        <p:nvSpPr>
          <p:cNvPr id="85" name="Rect 8">
            <a:extLst>
              <a:ext uri="{FF2B5EF4-FFF2-40B4-BE49-F238E27FC236}">
                <a16:creationId xmlns:a16="http://schemas.microsoft.com/office/drawing/2014/main" id="{FB3E0057-D724-8D52-A702-0512C4378D7A}"/>
              </a:ext>
            </a:extLst>
          </p:cNvPr>
          <p:cNvSpPr/>
          <p:nvPr/>
        </p:nvSpPr>
        <p:spPr>
          <a:xfrm>
            <a:off x="1024128" y="2452272"/>
            <a:ext cx="1737360" cy="1571928"/>
          </a:xfrm>
          <a:prstGeom prst="rect">
            <a:avLst/>
          </a:prstGeom>
          <a:solidFill>
            <a:srgbClr val="F7F8FA"/>
          </a:solidFill>
          <a:ln w="12700">
            <a:solidFill>
              <a:srgbClr val="3A5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86" name="Rect 9">
            <a:extLst>
              <a:ext uri="{FF2B5EF4-FFF2-40B4-BE49-F238E27FC236}">
                <a16:creationId xmlns:a16="http://schemas.microsoft.com/office/drawing/2014/main" id="{0677DBEE-B519-9FC4-C590-A949CE849601}"/>
              </a:ext>
            </a:extLst>
          </p:cNvPr>
          <p:cNvSpPr/>
          <p:nvPr/>
        </p:nvSpPr>
        <p:spPr>
          <a:xfrm>
            <a:off x="1024128" y="2452272"/>
            <a:ext cx="45720" cy="1572768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228EB9-E304-FCA0-182E-735D197A2473}"/>
              </a:ext>
            </a:extLst>
          </p:cNvPr>
          <p:cNvSpPr txBox="1"/>
          <p:nvPr/>
        </p:nvSpPr>
        <p:spPr>
          <a:xfrm>
            <a:off x="1261872" y="2726592"/>
            <a:ext cx="13373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b="1" dirty="0" err="1">
                <a:solidFill>
                  <a:schemeClr val="accent5"/>
                </a:solidFill>
                <a:latin typeface="Pretendard SemiBold"/>
              </a:rPr>
              <a:t>골든셋</a:t>
            </a:r>
            <a:r>
              <a:rPr lang="ko-KR" altLang="en-US" b="1" dirty="0">
                <a:solidFill>
                  <a:schemeClr val="accent5"/>
                </a:solidFill>
                <a:latin typeface="Pretendard SemiBold"/>
              </a:rPr>
              <a:t> 구축</a:t>
            </a:r>
            <a:endParaRPr b="1" dirty="0">
              <a:solidFill>
                <a:schemeClr val="accent5"/>
              </a:solidFill>
              <a:latin typeface="Pretendard SemiBold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6968055-B73F-1734-AC80-B0FE0A02B374}"/>
              </a:ext>
            </a:extLst>
          </p:cNvPr>
          <p:cNvSpPr txBox="1"/>
          <p:nvPr/>
        </p:nvSpPr>
        <p:spPr>
          <a:xfrm>
            <a:off x="1261872" y="3092352"/>
            <a:ext cx="13373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dirty="0">
                <a:solidFill>
                  <a:srgbClr val="939393"/>
                </a:solidFill>
                <a:latin typeface="Pretendard"/>
              </a:rPr>
              <a:t>Golden Set</a:t>
            </a:r>
            <a:endParaRPr sz="1200" b="0" dirty="0">
              <a:solidFill>
                <a:srgbClr val="939393"/>
              </a:solidFill>
              <a:latin typeface="Pretendard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388554D-2428-9846-162F-D285FC2DBE8D}"/>
              </a:ext>
            </a:extLst>
          </p:cNvPr>
          <p:cNvSpPr txBox="1"/>
          <p:nvPr/>
        </p:nvSpPr>
        <p:spPr>
          <a:xfrm>
            <a:off x="12920472" y="2598576"/>
            <a:ext cx="465429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600" b="1" dirty="0">
                <a:solidFill>
                  <a:schemeClr val="accent5"/>
                </a:solidFill>
                <a:latin typeface="Pretendard SemiBold"/>
              </a:rPr>
              <a:t>성과</a:t>
            </a:r>
            <a:endParaRPr sz="1600" b="1" dirty="0">
              <a:solidFill>
                <a:schemeClr val="accent5"/>
              </a:solidFill>
              <a:latin typeface="Pretendard SemiBold"/>
            </a:endParaRPr>
          </a:p>
        </p:txBody>
      </p:sp>
      <p:sp>
        <p:nvSpPr>
          <p:cNvPr id="67" name="Rect 67">
            <a:extLst>
              <a:ext uri="{FF2B5EF4-FFF2-40B4-BE49-F238E27FC236}">
                <a16:creationId xmlns:a16="http://schemas.microsoft.com/office/drawing/2014/main" id="{2F04CD08-B60C-05A3-2784-442C95B2A9A9}"/>
              </a:ext>
            </a:extLst>
          </p:cNvPr>
          <p:cNvSpPr/>
          <p:nvPr/>
        </p:nvSpPr>
        <p:spPr>
          <a:xfrm>
            <a:off x="2907792" y="2504616"/>
            <a:ext cx="460400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>
              <a:solidFill>
                <a:schemeClr val="accent5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024890D-F4C3-23A5-114F-9F8BD4C1EF11}"/>
              </a:ext>
            </a:extLst>
          </p:cNvPr>
          <p:cNvSpPr txBox="1"/>
          <p:nvPr/>
        </p:nvSpPr>
        <p:spPr>
          <a:xfrm>
            <a:off x="2907792" y="2943527"/>
            <a:ext cx="460400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dirty="0" err="1">
                <a:solidFill>
                  <a:schemeClr val="accent5"/>
                </a:solidFill>
                <a:latin typeface="Pretendard SemiBold"/>
              </a:rPr>
              <a:t>Kipris</a:t>
            </a:r>
            <a:r>
              <a:rPr lang="ko-KR" altLang="en-US" sz="1600" b="1" dirty="0">
                <a:solidFill>
                  <a:schemeClr val="accent5"/>
                </a:solidFill>
                <a:latin typeface="Pretendard SemiBold"/>
              </a:rPr>
              <a:t> 특허 출원 심사 거절 이력</a:t>
            </a:r>
            <a:endParaRPr sz="1600" b="1" dirty="0">
              <a:solidFill>
                <a:schemeClr val="accent5"/>
              </a:solidFill>
              <a:latin typeface="Pretendard SemiBold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1E139BE-052F-8C77-8071-F721A7A7906F}"/>
              </a:ext>
            </a:extLst>
          </p:cNvPr>
          <p:cNvSpPr txBox="1"/>
          <p:nvPr/>
        </p:nvSpPr>
        <p:spPr>
          <a:xfrm>
            <a:off x="3035808" y="3419015"/>
            <a:ext cx="434797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200" b="0" dirty="0">
                <a:solidFill>
                  <a:srgbClr val="939393"/>
                </a:solidFill>
                <a:latin typeface="Pretendard"/>
              </a:rPr>
              <a:t>거절결정서 </a:t>
            </a:r>
            <a:r>
              <a:rPr lang="en-US" altLang="ko-KR" sz="1200" b="0" dirty="0">
                <a:solidFill>
                  <a:srgbClr val="939393"/>
                </a:solidFill>
                <a:latin typeface="Pretendard"/>
              </a:rPr>
              <a:t>+ </a:t>
            </a:r>
            <a:r>
              <a:rPr lang="ko-KR" altLang="en-US" sz="1200" b="0" dirty="0">
                <a:solidFill>
                  <a:srgbClr val="939393"/>
                </a:solidFill>
                <a:latin typeface="Pretendard"/>
              </a:rPr>
              <a:t>의견제출통지서</a:t>
            </a:r>
            <a:endParaRPr sz="1200" b="0" dirty="0">
              <a:solidFill>
                <a:srgbClr val="939393"/>
              </a:solidFill>
              <a:latin typeface="Pretendard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DA457D6-C659-372E-9F20-13AF0E4076DB}"/>
              </a:ext>
            </a:extLst>
          </p:cNvPr>
          <p:cNvSpPr txBox="1"/>
          <p:nvPr/>
        </p:nvSpPr>
        <p:spPr>
          <a:xfrm>
            <a:off x="7511796" y="2504616"/>
            <a:ext cx="256031" cy="15727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89" name="Rect 71">
            <a:extLst>
              <a:ext uri="{FF2B5EF4-FFF2-40B4-BE49-F238E27FC236}">
                <a16:creationId xmlns:a16="http://schemas.microsoft.com/office/drawing/2014/main" id="{B001A0C3-ABF8-04B1-D3DC-DBAF05C22E95}"/>
              </a:ext>
            </a:extLst>
          </p:cNvPr>
          <p:cNvSpPr/>
          <p:nvPr/>
        </p:nvSpPr>
        <p:spPr>
          <a:xfrm>
            <a:off x="7767827" y="2504616"/>
            <a:ext cx="460400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0D48085-4342-D7F8-125C-C290AA50EB2C}"/>
              </a:ext>
            </a:extLst>
          </p:cNvPr>
          <p:cNvSpPr txBox="1"/>
          <p:nvPr/>
        </p:nvSpPr>
        <p:spPr>
          <a:xfrm>
            <a:off x="7767827" y="2943527"/>
            <a:ext cx="460400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accent5"/>
                </a:solidFill>
                <a:latin typeface="Pretendard SemiBold"/>
              </a:rPr>
              <a:t>검색 평가 </a:t>
            </a:r>
            <a:r>
              <a:rPr lang="en-US" altLang="ko-KR" sz="1600" b="1" dirty="0">
                <a:solidFill>
                  <a:schemeClr val="accent5"/>
                </a:solidFill>
                <a:latin typeface="Pretendard SemiBold"/>
              </a:rPr>
              <a:t>(</a:t>
            </a:r>
            <a:r>
              <a:rPr lang="ko-KR" altLang="en-US" sz="1600" b="1" dirty="0" err="1">
                <a:solidFill>
                  <a:schemeClr val="accent5"/>
                </a:solidFill>
                <a:latin typeface="Pretendard SemiBold"/>
              </a:rPr>
              <a:t>재현율</a:t>
            </a:r>
            <a:r>
              <a:rPr lang="en-US" altLang="ko-KR" sz="1600" b="1" dirty="0">
                <a:solidFill>
                  <a:schemeClr val="accent5"/>
                </a:solidFill>
                <a:latin typeface="Pretendard SemiBold"/>
              </a:rPr>
              <a:t>) &amp; </a:t>
            </a:r>
            <a:r>
              <a:rPr lang="ko-KR" altLang="en-US" sz="1600" b="1" dirty="0">
                <a:solidFill>
                  <a:schemeClr val="accent5"/>
                </a:solidFill>
                <a:latin typeface="Pretendard SemiBold"/>
              </a:rPr>
              <a:t>대조 평가 </a:t>
            </a:r>
            <a:r>
              <a:rPr lang="en-US" altLang="ko-KR" sz="1600" b="1" dirty="0">
                <a:solidFill>
                  <a:schemeClr val="accent5"/>
                </a:solidFill>
                <a:latin typeface="Pretendard SemiBold"/>
              </a:rPr>
              <a:t>(</a:t>
            </a:r>
            <a:r>
              <a:rPr lang="ko-KR" altLang="en-US" sz="1600" b="1" dirty="0">
                <a:solidFill>
                  <a:schemeClr val="accent5"/>
                </a:solidFill>
                <a:latin typeface="Pretendard SemiBold"/>
              </a:rPr>
              <a:t>정밀도</a:t>
            </a:r>
            <a:r>
              <a:rPr lang="en-US" altLang="ko-KR" sz="1600" b="1" dirty="0">
                <a:solidFill>
                  <a:schemeClr val="accent5"/>
                </a:solidFill>
                <a:latin typeface="Pretendard SemiBold"/>
              </a:rPr>
              <a:t>)</a:t>
            </a:r>
            <a:endParaRPr sz="1600" b="1" dirty="0">
              <a:solidFill>
                <a:schemeClr val="accent5"/>
              </a:solidFill>
              <a:latin typeface="Pretendard SemiBold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BB97C6D-9138-B7EB-DB20-09CF37537D5A}"/>
              </a:ext>
            </a:extLst>
          </p:cNvPr>
          <p:cNvSpPr txBox="1"/>
          <p:nvPr/>
        </p:nvSpPr>
        <p:spPr>
          <a:xfrm>
            <a:off x="7895843" y="3419015"/>
            <a:ext cx="434797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200" b="0" dirty="0">
                <a:solidFill>
                  <a:srgbClr val="939393"/>
                </a:solidFill>
                <a:latin typeface="Pretendard"/>
              </a:rPr>
              <a:t>출원 청구항 </a:t>
            </a:r>
            <a:r>
              <a:rPr lang="en-US" altLang="ko-KR" sz="1200" b="0" dirty="0">
                <a:solidFill>
                  <a:srgbClr val="939393"/>
                </a:solidFill>
                <a:latin typeface="Pretendard"/>
              </a:rPr>
              <a:t>&lt;-&gt;</a:t>
            </a:r>
          </a:p>
          <a:p>
            <a:pPr algn="ctr"/>
            <a:r>
              <a:rPr lang="ko-KR" altLang="en-US" sz="1200" dirty="0">
                <a:solidFill>
                  <a:srgbClr val="939393"/>
                </a:solidFill>
                <a:latin typeface="Pretendard"/>
              </a:rPr>
              <a:t>심사관 인용 문헌 쌍 </a:t>
            </a:r>
            <a:r>
              <a:rPr lang="en-US" altLang="ko-KR" sz="1200" dirty="0">
                <a:solidFill>
                  <a:srgbClr val="939393"/>
                </a:solidFill>
                <a:latin typeface="Pretendard"/>
              </a:rPr>
              <a:t>&amp; IPC </a:t>
            </a:r>
            <a:r>
              <a:rPr lang="ko-KR" altLang="en-US" sz="1200" dirty="0" err="1">
                <a:solidFill>
                  <a:srgbClr val="939393"/>
                </a:solidFill>
                <a:latin typeface="Pretendard"/>
              </a:rPr>
              <a:t>서로소</a:t>
            </a:r>
            <a:r>
              <a:rPr lang="ko-KR" altLang="en-US" sz="1200" dirty="0">
                <a:solidFill>
                  <a:srgbClr val="939393"/>
                </a:solidFill>
                <a:latin typeface="Pretendard"/>
              </a:rPr>
              <a:t> 네거티브 샘플링</a:t>
            </a:r>
            <a:endParaRPr lang="en-US" altLang="ko-KR" sz="1200" b="0" dirty="0">
              <a:solidFill>
                <a:srgbClr val="939393"/>
              </a:solidFill>
              <a:latin typeface="Pretendard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5370A5E-4115-E85A-E39A-B8E70B4AE6F2}"/>
              </a:ext>
            </a:extLst>
          </p:cNvPr>
          <p:cNvSpPr txBox="1"/>
          <p:nvPr/>
        </p:nvSpPr>
        <p:spPr>
          <a:xfrm>
            <a:off x="12920472" y="3045875"/>
            <a:ext cx="4654296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400" dirty="0">
                <a:latin typeface="Pretendard"/>
              </a:rPr>
              <a:t>5</a:t>
            </a:r>
            <a:r>
              <a:rPr lang="ko-KR" altLang="en-US" sz="1400" dirty="0">
                <a:latin typeface="Pretendard"/>
              </a:rPr>
              <a:t>개 도메인 </a:t>
            </a:r>
            <a:r>
              <a:rPr lang="en-US" altLang="ko-KR" sz="1400" dirty="0">
                <a:latin typeface="Pretendard"/>
              </a:rPr>
              <a:t>206</a:t>
            </a:r>
            <a:r>
              <a:rPr lang="ko-KR" altLang="en-US" sz="1400" dirty="0">
                <a:latin typeface="Pretendard"/>
              </a:rPr>
              <a:t>개 출원</a:t>
            </a:r>
            <a:endParaRPr lang="en-US" altLang="ko-KR" sz="1400" dirty="0">
              <a:latin typeface="Pretendard"/>
            </a:endParaRPr>
          </a:p>
          <a:p>
            <a:pPr algn="l"/>
            <a:r>
              <a:rPr lang="ko-KR" altLang="en-US" sz="1400" dirty="0">
                <a:latin typeface="Pretendard"/>
              </a:rPr>
              <a:t>양성 </a:t>
            </a:r>
            <a:r>
              <a:rPr lang="en-US" altLang="ko-KR" sz="1400" dirty="0">
                <a:latin typeface="Pretendard"/>
              </a:rPr>
              <a:t>463</a:t>
            </a:r>
            <a:r>
              <a:rPr lang="ko-KR" altLang="en-US" sz="1400" dirty="0">
                <a:latin typeface="Pretendard"/>
              </a:rPr>
              <a:t>쌍</a:t>
            </a:r>
            <a:r>
              <a:rPr lang="en-US" altLang="ko-KR" sz="1400" dirty="0">
                <a:latin typeface="Pretendard"/>
              </a:rPr>
              <a:t>, </a:t>
            </a:r>
            <a:r>
              <a:rPr lang="ko-KR" altLang="en-US" sz="1400" dirty="0" err="1">
                <a:latin typeface="Pretendard"/>
              </a:rPr>
              <a:t>안전음성</a:t>
            </a:r>
            <a:r>
              <a:rPr lang="ko-KR" altLang="en-US" sz="1400" dirty="0">
                <a:latin typeface="Pretendard"/>
              </a:rPr>
              <a:t> </a:t>
            </a:r>
            <a:r>
              <a:rPr lang="en-US" altLang="ko-KR" sz="1400" dirty="0">
                <a:latin typeface="Pretendard"/>
              </a:rPr>
              <a:t>394</a:t>
            </a:r>
            <a:r>
              <a:rPr lang="ko-KR" altLang="en-US" sz="1400" dirty="0">
                <a:latin typeface="Pretendard"/>
              </a:rPr>
              <a:t>쌍</a:t>
            </a:r>
            <a:endParaRPr sz="1400" dirty="0">
              <a:latin typeface="Pretendard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E2E743E-AD38-3F79-3ABB-A8B235FF747E}"/>
              </a:ext>
            </a:extLst>
          </p:cNvPr>
          <p:cNvSpPr txBox="1"/>
          <p:nvPr/>
        </p:nvSpPr>
        <p:spPr>
          <a:xfrm>
            <a:off x="12920472" y="4768427"/>
            <a:ext cx="4654296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400" dirty="0">
                <a:latin typeface="Pretendard"/>
              </a:rPr>
              <a:t>2</a:t>
            </a:r>
            <a:r>
              <a:rPr lang="ko-KR" altLang="en-US" sz="1400" dirty="0">
                <a:latin typeface="Pretendard"/>
              </a:rPr>
              <a:t>차 대비</a:t>
            </a:r>
            <a:endParaRPr lang="en-US" altLang="ko-KR" sz="1400" dirty="0">
              <a:latin typeface="Pretendard"/>
            </a:endParaRPr>
          </a:p>
          <a:p>
            <a:pPr algn="l"/>
            <a:r>
              <a:rPr lang="ko-KR" altLang="en-US" sz="1400" dirty="0">
                <a:latin typeface="Pretendard"/>
              </a:rPr>
              <a:t>판정 </a:t>
            </a:r>
            <a:r>
              <a:rPr lang="ko-KR" altLang="en-US" sz="1400" dirty="0" err="1">
                <a:latin typeface="Pretendard"/>
              </a:rPr>
              <a:t>도달률</a:t>
            </a:r>
            <a:r>
              <a:rPr lang="ko-KR" altLang="en-US" sz="1400" dirty="0">
                <a:latin typeface="Pretendard"/>
              </a:rPr>
              <a:t> </a:t>
            </a:r>
            <a:r>
              <a:rPr lang="en-US" altLang="ko-KR" sz="1400" dirty="0">
                <a:latin typeface="Pretendard"/>
              </a:rPr>
              <a:t>2.4% -&gt; 23%</a:t>
            </a:r>
            <a:endParaRPr sz="1400" dirty="0">
              <a:latin typeface="Pretendard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8F6B1C9-FF79-640F-6E25-481E1A9A703D}"/>
              </a:ext>
            </a:extLst>
          </p:cNvPr>
          <p:cNvSpPr txBox="1"/>
          <p:nvPr/>
        </p:nvSpPr>
        <p:spPr>
          <a:xfrm>
            <a:off x="12920472" y="6516382"/>
            <a:ext cx="4654296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400" dirty="0">
                <a:latin typeface="Pretendard"/>
              </a:rPr>
              <a:t>2</a:t>
            </a:r>
            <a:r>
              <a:rPr lang="ko-KR" altLang="en-US" sz="1400" dirty="0">
                <a:latin typeface="Pretendard"/>
              </a:rPr>
              <a:t>차 대비</a:t>
            </a:r>
            <a:endParaRPr lang="en-US" altLang="ko-KR" sz="1400" dirty="0">
              <a:latin typeface="Pretendard"/>
            </a:endParaRPr>
          </a:p>
          <a:p>
            <a:pPr algn="l"/>
            <a:r>
              <a:rPr lang="ko-KR" altLang="en-US" sz="1400" dirty="0" err="1">
                <a:latin typeface="Pretendard"/>
              </a:rPr>
              <a:t>재현율</a:t>
            </a:r>
            <a:r>
              <a:rPr lang="ko-KR" altLang="en-US" sz="1400" dirty="0">
                <a:latin typeface="Pretendard"/>
              </a:rPr>
              <a:t> </a:t>
            </a:r>
            <a:r>
              <a:rPr lang="en-US" altLang="ko-KR" sz="1400" dirty="0">
                <a:latin typeface="Pretendard"/>
              </a:rPr>
              <a:t>90% -&gt; 95%</a:t>
            </a:r>
          </a:p>
          <a:p>
            <a:pPr algn="l"/>
            <a:r>
              <a:rPr lang="ko-KR" altLang="en-US" sz="1400" dirty="0" err="1">
                <a:latin typeface="Pretendard"/>
              </a:rPr>
              <a:t>위양성</a:t>
            </a:r>
            <a:r>
              <a:rPr lang="ko-KR" altLang="en-US" sz="1400" dirty="0">
                <a:latin typeface="Pretendard"/>
              </a:rPr>
              <a:t> </a:t>
            </a:r>
            <a:r>
              <a:rPr lang="en-US" altLang="ko-KR" sz="1400" dirty="0">
                <a:latin typeface="Pretendard"/>
              </a:rPr>
              <a:t>1.8% -&gt; 1.4%</a:t>
            </a:r>
            <a:endParaRPr sz="1400" dirty="0">
              <a:latin typeface="Pretendard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87708C4-862E-7EA0-4623-85D3A75375F2}"/>
              </a:ext>
            </a:extLst>
          </p:cNvPr>
          <p:cNvSpPr txBox="1"/>
          <p:nvPr/>
        </p:nvSpPr>
        <p:spPr>
          <a:xfrm>
            <a:off x="12920472" y="8253742"/>
            <a:ext cx="4654296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400" dirty="0">
                <a:latin typeface="Pretendard"/>
              </a:rPr>
              <a:t>모델 제안 </a:t>
            </a:r>
            <a:r>
              <a:rPr lang="en-US" altLang="ko-KR" sz="1400" dirty="0">
                <a:latin typeface="Pretendard"/>
              </a:rPr>
              <a:t>+ </a:t>
            </a:r>
            <a:r>
              <a:rPr lang="ko-KR" altLang="en-US" sz="1400" dirty="0">
                <a:latin typeface="Pretendard"/>
              </a:rPr>
              <a:t>규칙 기반 판정</a:t>
            </a:r>
            <a:endParaRPr lang="en-US" altLang="ko-KR" sz="1400" dirty="0">
              <a:latin typeface="Pretendard"/>
            </a:endParaRPr>
          </a:p>
          <a:p>
            <a:pPr algn="l"/>
            <a:r>
              <a:rPr lang="en-US" sz="1400" dirty="0">
                <a:latin typeface="Pretendard"/>
              </a:rPr>
              <a:t>-&gt; </a:t>
            </a:r>
            <a:r>
              <a:rPr lang="ko-KR" altLang="en-US" sz="1400" dirty="0">
                <a:latin typeface="Pretendard"/>
              </a:rPr>
              <a:t>근거 기반 판정</a:t>
            </a:r>
            <a:endParaRPr sz="1400" dirty="0">
              <a:latin typeface="Pretendar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24128" y="1133856"/>
            <a:ext cx="54864" cy="274320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25296" y="111556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A59D1"/>
                </a:solidFill>
                <a:latin typeface="Pretendard SemiBold"/>
              </a:rPr>
              <a:t>01 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81328"/>
            <a:ext cx="16230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222222"/>
                </a:solidFill>
                <a:latin typeface="Pretendard SemiBold"/>
              </a:rPr>
              <a:t>가상 Workspace — 세 소스 마운트와 공동 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2331720"/>
            <a:ext cx="16230600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4950440" y="9692640"/>
            <a:ext cx="2304288" cy="384048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05304" y="9761553"/>
            <a:ext cx="219456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Pretendard SemiBold"/>
              </a:rPr>
              <a:t>PAGE 1</a:t>
            </a:r>
            <a:r>
              <a:rPr lang="en-US" sz="1600" b="1" dirty="0">
                <a:solidFill>
                  <a:srgbClr val="FFFFFF"/>
                </a:solidFill>
                <a:latin typeface="Pretendard SemiBold"/>
              </a:rPr>
              <a:t>3</a:t>
            </a:r>
            <a:endParaRPr sz="1600" b="1" dirty="0">
              <a:solidFill>
                <a:srgbClr val="FFFFFF"/>
              </a:solidFill>
              <a:latin typeface="Pretendard SemiBol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0186416"/>
            <a:ext cx="4818888" cy="100584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4128" y="3310128"/>
            <a:ext cx="3141878" cy="12984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3493008"/>
            <a:ext cx="314187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222222"/>
                </a:solidFill>
                <a:latin typeface="Pretendard SemiBold"/>
              </a:rPr>
              <a:t>사용자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3968496"/>
            <a:ext cx="28858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Google 계정으로 신원만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4242816"/>
            <a:ext cx="28858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로그인 ≠ 소스 접근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6006" y="3310128"/>
            <a:ext cx="274320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0326" y="3310128"/>
            <a:ext cx="3141878" cy="1298448"/>
          </a:xfrm>
          <a:prstGeom prst="roundRect">
            <a:avLst>
              <a:gd name="adj" fmla="val 25000"/>
            </a:avLst>
          </a:prstGeom>
          <a:solidFill>
            <a:srgbClr val="E4E7F2"/>
          </a:solidFill>
          <a:ln w="12700">
            <a:solidFill>
              <a:srgbClr val="3A5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40326" y="3493008"/>
            <a:ext cx="314187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3A59D1"/>
                </a:solidFill>
                <a:latin typeface="Pretendard SemiBold"/>
              </a:rPr>
              <a:t>source_connection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8342" y="3968496"/>
            <a:ext cx="28858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자격증명은 참조만 보관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8342" y="4242816"/>
            <a:ext cx="28858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원문은 Secret 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2204" y="3310128"/>
            <a:ext cx="274320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56524" y="3310128"/>
            <a:ext cx="3141878" cy="12984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56524" y="3493008"/>
            <a:ext cx="314187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222222"/>
                </a:solidFill>
                <a:latin typeface="Pretendard SemiBold"/>
              </a:rPr>
              <a:t>source_workspace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4540" y="3968496"/>
            <a:ext cx="28858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그 연결이 노출하는 범위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84540" y="4242816"/>
            <a:ext cx="28858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repo · 폴더 단위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98403" y="3310128"/>
            <a:ext cx="274320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272723" y="3310128"/>
            <a:ext cx="3141878" cy="12984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272723" y="3493008"/>
            <a:ext cx="314187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222222"/>
                </a:solidFill>
                <a:latin typeface="Pretendard SemiBold"/>
              </a:rPr>
              <a:t>workspace_mount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00739" y="3968496"/>
            <a:ext cx="28858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경계에 붙인다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00739" y="4242816"/>
            <a:ext cx="28858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alias 가 경로 접두가 된다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414601" y="3310128"/>
            <a:ext cx="274320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688921" y="3310128"/>
            <a:ext cx="3141878" cy="1298448"/>
          </a:xfrm>
          <a:prstGeom prst="roundRect">
            <a:avLst>
              <a:gd name="adj" fmla="val 25000"/>
            </a:avLst>
          </a:prstGeom>
          <a:solidFill>
            <a:srgbClr val="E7F1EC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4688921" y="3493008"/>
            <a:ext cx="314187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2E7D5B"/>
                </a:solidFill>
                <a:latin typeface="Pretendard SemiBold"/>
              </a:rPr>
              <a:t>risk_workspace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816937" y="3968496"/>
            <a:ext cx="28858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격리 경계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16937" y="4242816"/>
            <a:ext cx="28858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여기서부터 안쪽이 프로젝트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4128" y="4864608"/>
            <a:ext cx="8101583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3A5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24128" y="4864608"/>
            <a:ext cx="8101583" cy="512064"/>
          </a:xfrm>
          <a:prstGeom prst="rect">
            <a:avLst/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80160" y="4864608"/>
            <a:ext cx="755294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A59D1"/>
                </a:solidFill>
                <a:latin typeface="Pretendard SemiBold"/>
              </a:rPr>
              <a:t>여러 팀원이 같은 워크스페이스를 동시에 본다</a:t>
            </a:r>
            <a:r>
              <a:rPr sz="1050" b="0">
                <a:solidFill>
                  <a:srgbClr val="939393"/>
                </a:solidFill>
                <a:latin typeface="Pretendard"/>
              </a:rPr>
              <a:t>    역할 4 종 · RBAC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98448" y="554126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3A59D1"/>
                </a:solidFill>
                <a:latin typeface="Pretendard SemiBold"/>
              </a:rPr>
              <a:t>OWNER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58768" y="5541264"/>
            <a:ext cx="49926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멤버 · 정책 · 마운트 비활성까지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98448" y="590702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3A59D1"/>
                </a:solidFill>
                <a:latin typeface="Pretendard SemiBold"/>
              </a:rPr>
              <a:t>SOURCE_MANAGER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5907024"/>
            <a:ext cx="49926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소스를 연결하고 마운트한다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98448" y="6272783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3A59D1"/>
                </a:solidFill>
                <a:latin typeface="Pretendard SemiBold"/>
              </a:rPr>
              <a:t>RISK_REVIEWER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58768" y="6272783"/>
            <a:ext cx="49926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리스크를 검토하고 처분을 남긴다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98448" y="663854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3A59D1"/>
                </a:solidFill>
                <a:latin typeface="Pretendard SemiBold"/>
              </a:rPr>
              <a:t>VIEWER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58768" y="6638544"/>
            <a:ext cx="49926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열람만 — 처분도 연결도 못 한다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98448" y="7022592"/>
            <a:ext cx="75529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39393"/>
                </a:solidFill>
                <a:latin typeface="Pretendard"/>
              </a:rPr>
              <a:t>역할은 Members &amp; roles 화면에서 부여하고, 화면별 허용 범위는 권한 매트릭스 장에 있습니다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73768" y="4864608"/>
            <a:ext cx="8257031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573768" y="4864608"/>
            <a:ext cx="8257031" cy="512064"/>
          </a:xfrm>
          <a:prstGeom prst="rect">
            <a:avLst/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829800" y="4864608"/>
            <a:ext cx="770839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E7D5B"/>
                </a:solidFill>
                <a:latin typeface="Pretendard SemiBold"/>
              </a:rPr>
              <a:t>워크스페이스에 매이는 것</a:t>
            </a:r>
            <a:r>
              <a:rPr sz="1050" b="0">
                <a:solidFill>
                  <a:srgbClr val="939393"/>
                </a:solidFill>
                <a:latin typeface="Pretendard"/>
              </a:rPr>
              <a:t>    경계를 지우면 함께 사라진다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848088" y="5577840"/>
            <a:ext cx="713232" cy="402336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848088" y="5577840"/>
            <a:ext cx="7132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22222"/>
                </a:solidFill>
                <a:latin typeface="Pretendard SemiBold"/>
              </a:rPr>
              <a:t>Risk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725912" y="5577840"/>
            <a:ext cx="1042415" cy="402336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725912" y="5577840"/>
            <a:ext cx="1042415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22222"/>
                </a:solidFill>
                <a:latin typeface="Pretendard SemiBold"/>
              </a:rPr>
              <a:t>Artifact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932920" y="5577840"/>
            <a:ext cx="1179575" cy="402336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1932920" y="5577840"/>
            <a:ext cx="1179575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22222"/>
                </a:solidFill>
                <a:latin typeface="Pretendard SemiBold"/>
              </a:rPr>
              <a:t>변경 이벤트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3277088" y="5577840"/>
            <a:ext cx="1046988" cy="402336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3277088" y="5577840"/>
            <a:ext cx="104698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22222"/>
                </a:solidFill>
                <a:latin typeface="Pretendard SemiBold"/>
              </a:rPr>
              <a:t>감사 이력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4488667" y="5577840"/>
            <a:ext cx="1453895" cy="402336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4488667" y="5577840"/>
            <a:ext cx="1453895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22222"/>
                </a:solidFill>
                <a:latin typeface="Pretendard SemiBold"/>
              </a:rPr>
              <a:t>.ipriskignore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6107155" y="5577840"/>
            <a:ext cx="1444751" cy="402336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6107155" y="5577840"/>
            <a:ext cx="1444751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22222"/>
                </a:solidFill>
                <a:latin typeface="Pretendard SemiBold"/>
              </a:rPr>
              <a:t>배포 형태 정책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848088" y="6089904"/>
            <a:ext cx="781812" cy="402336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848088" y="6089904"/>
            <a:ext cx="7818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22222"/>
                </a:solidFill>
                <a:latin typeface="Pretendard SemiBold"/>
              </a:rPr>
              <a:t>멤버십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48088" y="7022592"/>
            <a:ext cx="77083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39393"/>
                </a:solidFill>
                <a:latin typeface="Pretendard"/>
              </a:rPr>
              <a:t>분석 결과도 원문도 다른 워크스페이스로 새지 않는다 — 워크스페이스가 곧 프로젝트다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24128" y="1133856"/>
            <a:ext cx="54864" cy="2743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25296" y="111556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E7D5B"/>
                </a:solidFill>
                <a:latin typeface="Pretendard SemiBold"/>
              </a:rPr>
              <a:t>01 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81328"/>
            <a:ext cx="16230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222222"/>
                </a:solidFill>
                <a:latin typeface="Pretendard SemiBold"/>
              </a:rPr>
              <a:t>변경 자동 추적과 근거 기반 Risk 제시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2331720"/>
            <a:ext cx="16230600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4950440" y="9692640"/>
            <a:ext cx="2304288" cy="384048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05304" y="9761553"/>
            <a:ext cx="219456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Pretendard SemiBold"/>
              </a:rPr>
              <a:t>PAGE 1</a:t>
            </a:r>
            <a:r>
              <a:rPr lang="en-US" sz="1600" b="1" dirty="0">
                <a:solidFill>
                  <a:srgbClr val="FFFFFF"/>
                </a:solidFill>
                <a:latin typeface="Pretendard SemiBold"/>
              </a:rPr>
              <a:t>4</a:t>
            </a:r>
            <a:endParaRPr sz="1600" b="1" dirty="0">
              <a:solidFill>
                <a:srgbClr val="FFFFFF"/>
              </a:solidFill>
              <a:latin typeface="Pretendard SemiBol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0186416"/>
            <a:ext cx="4818888" cy="10058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24128" y="3310128"/>
            <a:ext cx="759866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24128" y="3310128"/>
            <a:ext cx="45720" cy="621792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3310128"/>
            <a:ext cx="2395728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3A59D1"/>
                </a:solidFill>
                <a:latin typeface="Pretendard SemiBold"/>
              </a:rPr>
              <a:t>Google Drive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2776" y="3310128"/>
            <a:ext cx="2304288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939393"/>
                </a:solidFill>
                <a:latin typeface="Pretendard"/>
              </a:rPr>
              <a:t>공유받은 폴더 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3465576"/>
            <a:ext cx="2761488" cy="32004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23560" y="3465576"/>
            <a:ext cx="276148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22222"/>
                </a:solidFill>
                <a:latin typeface="Pretendard SemiBold"/>
              </a:rPr>
              <a:t>changes 피드 조회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28" y="4023360"/>
            <a:ext cx="759866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24128" y="4023360"/>
            <a:ext cx="45720" cy="621792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80160" y="4023360"/>
            <a:ext cx="2395728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222222"/>
                </a:solidFill>
                <a:latin typeface="Pretendard SemiBold"/>
              </a:rPr>
              <a:t>GitHub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22776" y="4023360"/>
            <a:ext cx="2304288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939393"/>
                </a:solidFill>
                <a:latin typeface="Pretendard"/>
              </a:rPr>
              <a:t>저장소 · 브랜치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178808"/>
            <a:ext cx="2761488" cy="32004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23560" y="4178808"/>
            <a:ext cx="276148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22222"/>
                </a:solidFill>
                <a:latin typeface="Pretendard SemiBold"/>
              </a:rPr>
              <a:t>push webhook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4128" y="4736592"/>
            <a:ext cx="759866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24128" y="4736592"/>
            <a:ext cx="45720" cy="621792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80160" y="4736592"/>
            <a:ext cx="2395728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B87333"/>
                </a:solidFill>
                <a:latin typeface="Pretendard SemiBold"/>
              </a:rPr>
              <a:t>내 PC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22776" y="4736592"/>
            <a:ext cx="2304288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939393"/>
                </a:solidFill>
                <a:latin typeface="Pretendard"/>
              </a:rPr>
              <a:t>사용자가 고른 폴더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4892040"/>
            <a:ext cx="2761488" cy="32004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23560" y="4892040"/>
            <a:ext cx="276148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22222"/>
                </a:solidFill>
                <a:latin typeface="Pretendard SemiBold"/>
              </a:rPr>
              <a:t>데스크톱 앱 파일 감시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22792" y="3310128"/>
            <a:ext cx="420624" cy="20482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43416" y="3310128"/>
            <a:ext cx="8787384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043416" y="3310128"/>
            <a:ext cx="8787384" cy="502920"/>
          </a:xfrm>
          <a:prstGeom prst="rect">
            <a:avLst/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08592" y="3310128"/>
            <a:ext cx="826617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E7D5B"/>
                </a:solidFill>
                <a:latin typeface="Pretendard SemiBold"/>
              </a:rPr>
              <a:t>하나의 폴더 트리</a:t>
            </a:r>
            <a:r>
              <a:rPr sz="1100" b="0">
                <a:solidFill>
                  <a:srgbClr val="939393"/>
                </a:solidFill>
                <a:latin typeface="Pretendard"/>
              </a:rPr>
              <a:t>        {mount alias} / {logical_path}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5168" y="3931920"/>
            <a:ext cx="2203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Pretendard SemiBold"/>
              </a:rPr>
              <a:t>▾  drive-design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40896" y="3931920"/>
            <a:ext cx="1801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39393"/>
                </a:solidFill>
                <a:latin typeface="Pretendard"/>
              </a:rPr>
              <a:t>Google Drive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642848" y="3931920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39393"/>
                </a:solidFill>
                <a:latin typeface="Pretendard"/>
              </a:rPr>
              <a:t>spec/architecture.md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5168" y="4297680"/>
            <a:ext cx="2203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Pretendard SemiBold"/>
              </a:rPr>
              <a:t>▾  github-api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40896" y="4297680"/>
            <a:ext cx="1801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39393"/>
                </a:solidFill>
                <a:latin typeface="Pretendard"/>
              </a:rPr>
              <a:t>GitHub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642848" y="4297680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39393"/>
                </a:solidFill>
                <a:latin typeface="Pretendard"/>
              </a:rPr>
              <a:t>backend/pyproject.toml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45168" y="4663440"/>
            <a:ext cx="2203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Pretendard SemiBold"/>
              </a:rPr>
              <a:t>▾  my-pc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740896" y="4663440"/>
            <a:ext cx="1801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39393"/>
                </a:solidFill>
                <a:latin typeface="Pretendard"/>
              </a:rPr>
              <a:t>내 PC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642848" y="4663440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39393"/>
                </a:solidFill>
                <a:latin typeface="Pretendard"/>
              </a:rPr>
              <a:t>docs/meeting-0812.md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45168" y="5010912"/>
            <a:ext cx="81838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39393"/>
                </a:solidFill>
                <a:latin typeface="Pretendard"/>
              </a:rPr>
              <a:t>주소 체계가 다른 세 provider 를 alias 경로 접두로 통일했다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" y="5504688"/>
            <a:ext cx="16806672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Pretendard SemiBold"/>
              </a:rPr>
              <a:t>변경 하나가 Risk 가 되기까지</a:t>
            </a:r>
            <a:r>
              <a:rPr sz="1050" b="0">
                <a:solidFill>
                  <a:srgbClr val="939393"/>
                </a:solidFill>
                <a:latin typeface="Pretendard"/>
              </a:rPr>
              <a:t>   PROCESSING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4128" y="5870448"/>
            <a:ext cx="3995928" cy="603504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24128" y="6016752"/>
            <a:ext cx="399592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222222"/>
                </a:solidFill>
                <a:latin typeface="Pretendard SemiBold"/>
              </a:rPr>
              <a:t>01  변경 이벤트 표준화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0056" y="5870448"/>
            <a:ext cx="2743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94376" y="5870448"/>
            <a:ext cx="3995928" cy="603504"/>
          </a:xfrm>
          <a:prstGeom prst="roundRect">
            <a:avLst>
              <a:gd name="adj" fmla="val 25000"/>
            </a:avLst>
          </a:prstGeom>
          <a:solidFill>
            <a:srgbClr val="E4E7F2"/>
          </a:solidFill>
          <a:ln w="12700">
            <a:solidFill>
              <a:srgbClr val="3A5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294376" y="6016752"/>
            <a:ext cx="399592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3A59D1"/>
                </a:solidFill>
                <a:latin typeface="Pretendard SemiBold"/>
              </a:rPr>
              <a:t>02  Security Gate 5 단계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90304" y="5870448"/>
            <a:ext cx="2743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64624" y="5870448"/>
            <a:ext cx="3995928" cy="603504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564624" y="6016752"/>
            <a:ext cx="399592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222222"/>
                </a:solidFill>
                <a:latin typeface="Pretendard SemiBold"/>
              </a:rPr>
              <a:t>03  특허 · 라이선스 분석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560552" y="5870448"/>
            <a:ext cx="2743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834872" y="5870448"/>
            <a:ext cx="3995928" cy="603504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3834872" y="6016752"/>
            <a:ext cx="399592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222222"/>
                </a:solidFill>
                <a:latin typeface="Pretendard SemiBold"/>
              </a:rPr>
              <a:t>04  Risk 원장 반영 · 알림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4128" y="6693408"/>
            <a:ext cx="16806672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Pretendard SemiBold"/>
              </a:rPr>
              <a:t>Risk 한 건의 구성</a:t>
            </a:r>
            <a:r>
              <a:rPr sz="1050" b="0">
                <a:solidFill>
                  <a:srgbClr val="939393"/>
                </a:solidFill>
                <a:latin typeface="Pretendard"/>
              </a:rPr>
              <a:t>   순서가 아니라 한 묶음으로 함께 온다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24128" y="7059168"/>
            <a:ext cx="3968496" cy="1572768"/>
          </a:xfrm>
          <a:prstGeom prst="roundRect">
            <a:avLst>
              <a:gd name="adj" fmla="val 25000"/>
            </a:avLst>
          </a:prstGeom>
          <a:solidFill>
            <a:srgbClr val="F7EEE4"/>
          </a:solidFill>
          <a:ln w="12700">
            <a:solidFill>
              <a:srgbClr val="B8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24128" y="7242048"/>
            <a:ext cx="396849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B87333"/>
                </a:solidFill>
                <a:latin typeface="Pretendard SemiBold"/>
              </a:rPr>
              <a:t>판정 · 등급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52144" y="7717536"/>
            <a:ext cx="37124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규칙 엔진이 정한다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2144" y="7991856"/>
            <a:ext cx="37124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LOW · MEDIUM · INDETERMINATE · HIGH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52144" y="8266175"/>
            <a:ext cx="37124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모델은 등급을 바꾸지 못한다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92624" y="7059168"/>
            <a:ext cx="310896" cy="1572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+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303520" y="7059168"/>
            <a:ext cx="3968496" cy="1572768"/>
          </a:xfrm>
          <a:prstGeom prst="roundRect">
            <a:avLst>
              <a:gd name="adj" fmla="val 25000"/>
            </a:avLst>
          </a:prstGeom>
          <a:solidFill>
            <a:srgbClr val="E7F1EC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303520" y="7242048"/>
            <a:ext cx="396849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2E7D5B"/>
                </a:solidFill>
                <a:latin typeface="Pretendard SemiBold"/>
              </a:rPr>
              <a:t>근거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31536" y="7717536"/>
            <a:ext cx="37124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원본 발췌 ↔ 청구항 · 라이선스 조항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31536" y="7991856"/>
            <a:ext cx="37124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evidence ID 로 지목한다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31536" y="8266175"/>
            <a:ext cx="37124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인용이 원문에 없으면 전량 폐기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72016" y="7059168"/>
            <a:ext cx="310896" cy="1572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+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582912" y="7059168"/>
            <a:ext cx="3968496" cy="1572768"/>
          </a:xfrm>
          <a:prstGeom prst="roundRect">
            <a:avLst>
              <a:gd name="adj" fmla="val 25000"/>
            </a:avLst>
          </a:prstGeom>
          <a:solidFill>
            <a:srgbClr val="E4E7F2"/>
          </a:solidFill>
          <a:ln w="12700">
            <a:solidFill>
              <a:srgbClr val="3A5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582912" y="7242048"/>
            <a:ext cx="396849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3A59D1"/>
                </a:solidFill>
                <a:latin typeface="Pretendard SemiBold"/>
              </a:rPr>
              <a:t>이유  summary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10928" y="7717536"/>
            <a:ext cx="37124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무엇과 무엇이 겹치는지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10928" y="7991856"/>
            <a:ext cx="37124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근거의 내용으로만 두세 문장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10928" y="8266175"/>
            <a:ext cx="37124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일반 상식으로 채우지 않는다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551408" y="7059168"/>
            <a:ext cx="310896" cy="1572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+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3862304" y="7059168"/>
            <a:ext cx="3968496" cy="1572768"/>
          </a:xfrm>
          <a:prstGeom prst="roundRect">
            <a:avLst>
              <a:gd name="adj" fmla="val 25000"/>
            </a:avLst>
          </a:prstGeom>
          <a:solidFill>
            <a:srgbClr val="E4E7F2"/>
          </a:solidFill>
          <a:ln w="12700">
            <a:solidFill>
              <a:srgbClr val="3A5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3862304" y="7242048"/>
            <a:ext cx="396849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3A59D1"/>
                </a:solidFill>
                <a:latin typeface="Pretendard SemiBold"/>
              </a:rPr>
              <a:t>권장 행동  recommendation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990320" y="7717536"/>
            <a:ext cx="37124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행동 수준에 머문다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3990320" y="7991856"/>
            <a:ext cx="37124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예 — 특허팀 · 법무 검토 요청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990320" y="8266175"/>
            <a:ext cx="371246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침해 · 위반 여부는 말하지 않는다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12545568" y="3310128"/>
            <a:ext cx="5285232" cy="317296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024128" y="1133856"/>
            <a:ext cx="54864" cy="2743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25296" y="111556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E7D5B"/>
                </a:solidFill>
                <a:latin typeface="Pretendard SemiBold"/>
              </a:rPr>
              <a:t>01 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81328"/>
            <a:ext cx="16230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1">
                <a:solidFill>
                  <a:srgbClr val="222222"/>
                </a:solidFill>
                <a:latin typeface="Pretendard SemiBold"/>
              </a:rPr>
              <a:t>AI </a:t>
            </a:r>
            <a:r>
              <a:rPr lang="ko-KR" altLang="en-US" sz="3600" b="1">
                <a:solidFill>
                  <a:srgbClr val="222222"/>
                </a:solidFill>
                <a:latin typeface="Pretendard SemiBold"/>
              </a:rPr>
              <a:t>기반 </a:t>
            </a:r>
            <a:r>
              <a:rPr lang="en-US" altLang="ko-KR" sz="3600" b="1">
                <a:solidFill>
                  <a:srgbClr val="222222"/>
                </a:solidFill>
                <a:latin typeface="Pretendard SemiBold"/>
              </a:rPr>
              <a:t>Risk</a:t>
            </a:r>
            <a:r>
              <a:rPr sz="3600" b="1">
                <a:solidFill>
                  <a:srgbClr val="222222"/>
                </a:solidFill>
                <a:latin typeface="Pretendard SemiBold"/>
              </a:rPr>
              <a:t> 상태</a:t>
            </a:r>
            <a:r>
              <a:rPr lang="en-US" sz="3600" b="1">
                <a:solidFill>
                  <a:srgbClr val="222222"/>
                </a:solidFill>
                <a:latin typeface="Pretendard SemiBold"/>
              </a:rPr>
              <a:t> &lt;-&gt;</a:t>
            </a:r>
            <a:r>
              <a:rPr sz="3600" b="1">
                <a:solidFill>
                  <a:srgbClr val="222222"/>
                </a:solidFill>
                <a:latin typeface="Pretendard SemiBold"/>
              </a:rPr>
              <a:t> 사람 </a:t>
            </a:r>
            <a:r>
              <a:rPr lang="ko-KR" altLang="en-US" sz="3600" b="1">
                <a:solidFill>
                  <a:srgbClr val="222222"/>
                </a:solidFill>
                <a:latin typeface="Pretendard SemiBold"/>
              </a:rPr>
              <a:t>최종 </a:t>
            </a:r>
            <a:r>
              <a:rPr sz="3600" b="1">
                <a:solidFill>
                  <a:srgbClr val="222222"/>
                </a:solidFill>
                <a:latin typeface="Pretendard SemiBold"/>
              </a:rPr>
              <a:t>판단 분리 — Human in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2331720"/>
            <a:ext cx="16230600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0186416"/>
            <a:ext cx="4818888" cy="10058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24128" y="2496312"/>
            <a:ext cx="16806672" cy="65836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2496312"/>
            <a:ext cx="45720" cy="65836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62456" y="2496312"/>
            <a:ext cx="16422623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Pretendard SemiBold"/>
              </a:rPr>
              <a:t>두 축</a:t>
            </a:r>
            <a:r>
              <a:rPr sz="1500" b="0">
                <a:solidFill>
                  <a:srgbClr val="939393"/>
                </a:solidFill>
                <a:latin typeface="Pretendard"/>
              </a:rPr>
              <a:t>  Risk State 는 분석이 정하고 Human Disposition 은 사람이 남긴다</a:t>
            </a:r>
            <a:r>
              <a:rPr sz="1300" b="0">
                <a:solidFill>
                  <a:srgbClr val="939393"/>
                </a:solidFill>
                <a:latin typeface="Pretendard"/>
              </a:rPr>
              <a:t>        </a:t>
            </a:r>
            <a:r>
              <a:rPr sz="1500" b="1">
                <a:solidFill>
                  <a:srgbClr val="222222"/>
                </a:solidFill>
                <a:latin typeface="Pretendard SemiBold"/>
              </a:rPr>
              <a:t>섞지 않는 이유</a:t>
            </a:r>
            <a:r>
              <a:rPr sz="1500" b="0">
                <a:solidFill>
                  <a:srgbClr val="939393"/>
                </a:solidFill>
                <a:latin typeface="Pretendard"/>
              </a:rPr>
              <a:t>  추적이 끊긴 Risk 에 "지켜볼까" 는 물어볼 수 없는 질문이다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" y="3310128"/>
            <a:ext cx="5120640" cy="3172968"/>
          </a:xfrm>
          <a:prstGeom prst="rect">
            <a:avLst/>
          </a:prstGeom>
          <a:solidFill>
            <a:srgbClr val="FFFFFF"/>
          </a:solidFill>
          <a:ln w="12700">
            <a:solidFill>
              <a:srgbClr val="3A5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24128" y="3310128"/>
            <a:ext cx="5120640" cy="512064"/>
          </a:xfrm>
          <a:prstGeom prst="rect">
            <a:avLst/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3310128"/>
            <a:ext cx="45720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A59D1"/>
                </a:solidFill>
                <a:latin typeface="Pretendard SemiBold"/>
              </a:rPr>
              <a:t>Risk State</a:t>
            </a:r>
            <a:r>
              <a:rPr sz="1050" b="0">
                <a:solidFill>
                  <a:srgbClr val="939393"/>
                </a:solidFill>
                <a:latin typeface="Pretendard"/>
              </a:rPr>
              <a:t>    기계가 정한다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4041648"/>
            <a:ext cx="23774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939393"/>
                </a:solidFill>
                <a:latin typeface="Pretendard"/>
              </a:rPr>
              <a:t>새로 검출됐다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4517136"/>
            <a:ext cx="23774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939393"/>
                </a:solidFill>
                <a:latin typeface="Pretendard"/>
              </a:rPr>
              <a:t>계속 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4992624"/>
            <a:ext cx="23774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939393"/>
                </a:solidFill>
                <a:latin typeface="Pretendard"/>
              </a:rPr>
              <a:t>분석이 더는 못 찾는다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9088" y="3310128"/>
            <a:ext cx="5852160" cy="31729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19088" y="3310128"/>
            <a:ext cx="5852160" cy="512064"/>
          </a:xfrm>
          <a:prstGeom prst="rect">
            <a:avLst/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3310128"/>
            <a:ext cx="5303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E7D5B"/>
                </a:solidFill>
                <a:latin typeface="Pretendard SemiBold"/>
              </a:rPr>
              <a:t>Human Disposition</a:t>
            </a:r>
            <a:r>
              <a:rPr sz="1050" b="0">
                <a:solidFill>
                  <a:srgbClr val="939393"/>
                </a:solidFill>
                <a:latin typeface="Pretendard"/>
              </a:rPr>
              <a:t>    사람이 남긴다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7" y="4041648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939393"/>
                </a:solidFill>
                <a:latin typeface="Pretendard"/>
              </a:rPr>
              <a:t>아직 사람이 보지 않았다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7" y="4517136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939393"/>
                </a:solidFill>
                <a:latin typeface="Pretendard"/>
              </a:rPr>
              <a:t>계속 지켜본다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7967" y="4992624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939393"/>
                </a:solidFill>
                <a:latin typeface="Pretendard"/>
              </a:rPr>
              <a:t>알고 감수한다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286585" y="4041648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939393"/>
                </a:solidFill>
                <a:latin typeface="Pretendard"/>
              </a:rPr>
              <a:t>추적이 끊겼다 — 시스템만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545568" y="3310128"/>
            <a:ext cx="5285232" cy="512064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801600" y="3310128"/>
            <a:ext cx="473659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C03939"/>
                </a:solidFill>
                <a:latin typeface="Pretendard SemiBold"/>
              </a:rPr>
              <a:t>사람이 할 수 없는 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19888" y="4599432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939393"/>
                </a:solidFill>
                <a:latin typeface="Pretendard"/>
              </a:rPr>
              <a:t>✕   EXCLUDED 로 바꾸기 — 외적 종료를 흉내 낼 수 없다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19888" y="4983480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939393"/>
                </a:solidFill>
                <a:latin typeface="Pretendard"/>
              </a:rPr>
              <a:t>✕   EXCLUDED 에서 벗어나기 — 끊긴 Risk 를 되살릴 수 없다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819888" y="5440680"/>
            <a:ext cx="4736592" cy="438912"/>
          </a:xfrm>
          <a:prstGeom prst="roundRect">
            <a:avLst>
              <a:gd name="adj" fmla="val 25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2819888" y="5571650"/>
            <a:ext cx="4736592" cy="176972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C03939"/>
                </a:solidFill>
                <a:latin typeface="Pretendard SemiBold"/>
              </a:rPr>
              <a:t>되살아나는 길은 그 파일을 다시 추적하는 것뿐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19888" y="6007608"/>
            <a:ext cx="47365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39393"/>
                </a:solidFill>
                <a:latin typeface="Pretendard"/>
              </a:rPr>
              <a:t>core 에 있어 어떤 API 로도 우회할 수 없다 — 위반은 422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" y="6894576"/>
            <a:ext cx="16806672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Pretendard SemiBold"/>
              </a:rPr>
              <a:t>등급이 왜 달라졌는지를 다섯으로 가른다</a:t>
            </a:r>
            <a:r>
              <a:rPr sz="1050" b="0">
                <a:solidFill>
                  <a:srgbClr val="939393"/>
                </a:solidFill>
                <a:latin typeface="Pretendard"/>
              </a:rPr>
              <a:t>   변화 원인 귀속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4128" y="7242048"/>
            <a:ext cx="3141878" cy="13898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24128" y="7607808"/>
            <a:ext cx="314187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Pretendard SemiBold"/>
              </a:rPr>
              <a:t>INPUT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2144" y="8083296"/>
            <a:ext cx="28858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당신이 파일을 바꿨다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66006" y="7242048"/>
            <a:ext cx="274320" cy="1389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·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40326" y="7242048"/>
            <a:ext cx="3141878" cy="13898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40326" y="7607808"/>
            <a:ext cx="314187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Pretendard SemiBold"/>
              </a:rPr>
              <a:t>OUR_KNOWLEDGE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68342" y="8083296"/>
            <a:ext cx="28858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우리 판단 기준이 좋아졌다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2204" y="7242048"/>
            <a:ext cx="274320" cy="1389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·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56524" y="7242048"/>
            <a:ext cx="3141878" cy="13898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856524" y="7607808"/>
            <a:ext cx="314187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Pretendard SemiBold"/>
              </a:rPr>
              <a:t>USER_POLICY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84540" y="8083296"/>
            <a:ext cx="28858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당신이 배포 형태를 바꿨다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98403" y="7242048"/>
            <a:ext cx="274320" cy="1389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·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272723" y="7242048"/>
            <a:ext cx="3141878" cy="13898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1272723" y="7607808"/>
            <a:ext cx="314187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Pretendard SemiBold"/>
              </a:rPr>
              <a:t>MODEL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00739" y="8083296"/>
            <a:ext cx="28858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우리 모델이 바뀌었다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414601" y="7242048"/>
            <a:ext cx="274320" cy="1389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·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4688921" y="7242048"/>
            <a:ext cx="3141878" cy="1389888"/>
          </a:xfrm>
          <a:prstGeom prst="roundRect">
            <a:avLst>
              <a:gd name="adj" fmla="val 25000"/>
            </a:avLst>
          </a:prstGeom>
          <a:solidFill>
            <a:srgbClr val="F7EEE4"/>
          </a:solidFill>
          <a:ln w="12700">
            <a:solidFill>
              <a:srgbClr val="B8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4688921" y="7607808"/>
            <a:ext cx="314187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B87333"/>
                </a:solidFill>
                <a:latin typeface="Pretendard SemiBold"/>
              </a:rPr>
              <a:t>EXTERNAL_FACT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816937" y="8083296"/>
            <a:ext cx="28858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가만있었는데 위험이 생겼다</a:t>
            </a:r>
          </a:p>
        </p:txBody>
      </p:sp>
      <p:sp>
        <p:nvSpPr>
          <p:cNvPr id="950" name="Rect Badge"/>
          <p:cNvSpPr/>
          <p:nvPr/>
        </p:nvSpPr>
        <p:spPr>
          <a:xfrm>
            <a:off x="14950440" y="9692640"/>
            <a:ext cx="2304288" cy="384048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1" name="TextBox Badge"/>
          <p:cNvSpPr txBox="1"/>
          <p:nvPr/>
        </p:nvSpPr>
        <p:spPr>
          <a:xfrm>
            <a:off x="15005304" y="969264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Pretendard SemiBold"/>
              </a:rPr>
              <a:t>PAGE 1</a:t>
            </a:r>
            <a:r>
              <a:rPr lang="en-US" sz="1600" b="1" dirty="0">
                <a:solidFill>
                  <a:srgbClr val="FFFFFF"/>
                </a:solidFill>
                <a:latin typeface="Pretendard SemiBold"/>
              </a:rPr>
              <a:t>5</a:t>
            </a:r>
            <a:endParaRPr sz="1600" b="1" dirty="0">
              <a:solidFill>
                <a:srgbClr val="FFFFFF"/>
              </a:solidFill>
              <a:latin typeface="Pretendard SemiBold"/>
            </a:endParaRPr>
          </a:p>
        </p:txBody>
      </p:sp>
      <p:sp>
        <p:nvSpPr>
          <p:cNvPr id="62" name="Rounded Rectangle 27">
            <a:extLst>
              <a:ext uri="{FF2B5EF4-FFF2-40B4-BE49-F238E27FC236}">
                <a16:creationId xmlns:a16="http://schemas.microsoft.com/office/drawing/2014/main" id="{C7D9B245-30E6-68D1-DF1F-7DB55DD379C2}"/>
              </a:ext>
            </a:extLst>
          </p:cNvPr>
          <p:cNvSpPr/>
          <p:nvPr/>
        </p:nvSpPr>
        <p:spPr>
          <a:xfrm>
            <a:off x="1524000" y="3957828"/>
            <a:ext cx="568452" cy="312420"/>
          </a:xfrm>
          <a:prstGeom prst="roundRect">
            <a:avLst>
              <a:gd name="adj" fmla="val 50000"/>
            </a:avLst>
          </a:prstGeom>
          <a:solidFill>
            <a:srgbClr val="FB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spc="60">
                <a:solidFill>
                  <a:srgbClr val="805C25"/>
                </a:solidFill>
                <a:latin typeface="Pretendard SemiBold"/>
              </a:rPr>
              <a:t>NEW</a:t>
            </a:r>
          </a:p>
        </p:txBody>
      </p:sp>
      <p:sp>
        <p:nvSpPr>
          <p:cNvPr id="896" name="Rounded Rectangle 29">
            <a:extLst>
              <a:ext uri="{FF2B5EF4-FFF2-40B4-BE49-F238E27FC236}">
                <a16:creationId xmlns:a16="http://schemas.microsoft.com/office/drawing/2014/main" id="{017B39A4-EB50-B12E-F893-9B4E97C7DB31}"/>
              </a:ext>
            </a:extLst>
          </p:cNvPr>
          <p:cNvSpPr/>
          <p:nvPr/>
        </p:nvSpPr>
        <p:spPr>
          <a:xfrm>
            <a:off x="1304691" y="4443984"/>
            <a:ext cx="1048512" cy="31242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spc="60">
                <a:solidFill>
                  <a:srgbClr val="5D6573"/>
                </a:solidFill>
                <a:latin typeface="Pretendard SemiBold"/>
              </a:rPr>
              <a:t>EXISTING</a:t>
            </a:r>
          </a:p>
        </p:txBody>
      </p:sp>
      <p:sp>
        <p:nvSpPr>
          <p:cNvPr id="898" name="Rounded Rectangle 31">
            <a:extLst>
              <a:ext uri="{FF2B5EF4-FFF2-40B4-BE49-F238E27FC236}">
                <a16:creationId xmlns:a16="http://schemas.microsoft.com/office/drawing/2014/main" id="{523A9ED0-F3C8-C272-07BF-C003341A2E72}"/>
              </a:ext>
            </a:extLst>
          </p:cNvPr>
          <p:cNvSpPr/>
          <p:nvPr/>
        </p:nvSpPr>
        <p:spPr>
          <a:xfrm>
            <a:off x="1360932" y="4930140"/>
            <a:ext cx="1048512" cy="312420"/>
          </a:xfrm>
          <a:prstGeom prst="roundRect">
            <a:avLst>
              <a:gd name="adj" fmla="val 50000"/>
            </a:avLst>
          </a:prstGeom>
          <a:solidFill>
            <a:srgbClr val="EA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spc="60">
                <a:solidFill>
                  <a:srgbClr val="3E6E4E"/>
                </a:solidFill>
                <a:latin typeface="Pretendard SemiBold"/>
              </a:rPr>
              <a:t>RESOLVED</a:t>
            </a:r>
          </a:p>
        </p:txBody>
      </p:sp>
      <p:sp>
        <p:nvSpPr>
          <p:cNvPr id="901" name="Rounded Rectangle 35">
            <a:extLst>
              <a:ext uri="{FF2B5EF4-FFF2-40B4-BE49-F238E27FC236}">
                <a16:creationId xmlns:a16="http://schemas.microsoft.com/office/drawing/2014/main" id="{306768EB-E5CF-BBFC-5C6B-5EC9858D1173}"/>
              </a:ext>
            </a:extLst>
          </p:cNvPr>
          <p:cNvSpPr/>
          <p:nvPr/>
        </p:nvSpPr>
        <p:spPr>
          <a:xfrm>
            <a:off x="6704497" y="3970782"/>
            <a:ext cx="1240535" cy="31242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spc="60">
                <a:solidFill>
                  <a:srgbClr val="5D6573"/>
                </a:solidFill>
                <a:latin typeface="Pretendard SemiBold"/>
              </a:rPr>
              <a:t>UNREVIEWED</a:t>
            </a:r>
          </a:p>
        </p:txBody>
      </p:sp>
      <p:sp>
        <p:nvSpPr>
          <p:cNvPr id="903" name="Rounded Rectangle 37">
            <a:extLst>
              <a:ext uri="{FF2B5EF4-FFF2-40B4-BE49-F238E27FC236}">
                <a16:creationId xmlns:a16="http://schemas.microsoft.com/office/drawing/2014/main" id="{D2CCADAD-5DEA-2975-3282-EFFF98EF4188}"/>
              </a:ext>
            </a:extLst>
          </p:cNvPr>
          <p:cNvSpPr/>
          <p:nvPr/>
        </p:nvSpPr>
        <p:spPr>
          <a:xfrm>
            <a:off x="6704497" y="4442460"/>
            <a:ext cx="1240535" cy="312420"/>
          </a:xfrm>
          <a:prstGeom prst="roundRect">
            <a:avLst>
              <a:gd name="adj" fmla="val 50000"/>
            </a:avLst>
          </a:prstGeom>
          <a:solidFill>
            <a:srgbClr val="EA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spc="60">
                <a:solidFill>
                  <a:srgbClr val="4058A0"/>
                </a:solidFill>
                <a:latin typeface="Pretendard SemiBold"/>
              </a:rPr>
              <a:t>MONITORING</a:t>
            </a:r>
          </a:p>
        </p:txBody>
      </p:sp>
      <p:sp>
        <p:nvSpPr>
          <p:cNvPr id="905" name="Rounded Rectangle 39">
            <a:extLst>
              <a:ext uri="{FF2B5EF4-FFF2-40B4-BE49-F238E27FC236}">
                <a16:creationId xmlns:a16="http://schemas.microsoft.com/office/drawing/2014/main" id="{9C8DFAD0-DD5A-5F94-6342-AD510FDC220E}"/>
              </a:ext>
            </a:extLst>
          </p:cNvPr>
          <p:cNvSpPr/>
          <p:nvPr/>
        </p:nvSpPr>
        <p:spPr>
          <a:xfrm>
            <a:off x="6588672" y="4928911"/>
            <a:ext cx="1472183" cy="312420"/>
          </a:xfrm>
          <a:prstGeom prst="roundRect">
            <a:avLst>
              <a:gd name="adj" fmla="val 50000"/>
            </a:avLst>
          </a:prstGeom>
          <a:solidFill>
            <a:srgbClr val="FB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 spc="60">
                <a:solidFill>
                  <a:srgbClr val="805C25"/>
                </a:solidFill>
                <a:latin typeface="Pretendard SemiBold"/>
              </a:rPr>
              <a:t>ACCEPTED RISK</a:t>
            </a:r>
          </a:p>
        </p:txBody>
      </p:sp>
      <p:sp>
        <p:nvSpPr>
          <p:cNvPr id="907" name="Rounded Rectangle 18">
            <a:extLst>
              <a:ext uri="{FF2B5EF4-FFF2-40B4-BE49-F238E27FC236}">
                <a16:creationId xmlns:a16="http://schemas.microsoft.com/office/drawing/2014/main" id="{7D49CBAD-C43A-EB78-293F-1D4B68FAC3D3}"/>
              </a:ext>
            </a:extLst>
          </p:cNvPr>
          <p:cNvSpPr/>
          <p:nvPr/>
        </p:nvSpPr>
        <p:spPr>
          <a:xfrm>
            <a:off x="12843662" y="3957828"/>
            <a:ext cx="856488" cy="312420"/>
          </a:xfrm>
          <a:prstGeom prst="roundRect">
            <a:avLst>
              <a:gd name="adj" fmla="val 50000"/>
            </a:avLst>
          </a:prstGeom>
          <a:solidFill>
            <a:srgbClr val="F9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spc="60">
                <a:solidFill>
                  <a:srgbClr val="8A3E3B"/>
                </a:solidFill>
                <a:latin typeface="Pretendard SemiBold"/>
              </a:rPr>
              <a:t>Excluded</a:t>
            </a:r>
            <a:endParaRPr sz="1200" b="1" spc="60">
              <a:solidFill>
                <a:srgbClr val="8A3E3B"/>
              </a:solidFill>
              <a:latin typeface="Pretendard SemiBold"/>
            </a:endParaRPr>
          </a:p>
        </p:txBody>
      </p:sp>
      <p:sp>
        <p:nvSpPr>
          <p:cNvPr id="913" name="Rounded Rectangle 37">
            <a:extLst>
              <a:ext uri="{FF2B5EF4-FFF2-40B4-BE49-F238E27FC236}">
                <a16:creationId xmlns:a16="http://schemas.microsoft.com/office/drawing/2014/main" id="{79D0599D-EAEC-4157-9111-1FC78170501B}"/>
              </a:ext>
            </a:extLst>
          </p:cNvPr>
          <p:cNvSpPr/>
          <p:nvPr/>
        </p:nvSpPr>
        <p:spPr>
          <a:xfrm>
            <a:off x="6958584" y="5445694"/>
            <a:ext cx="4736592" cy="438912"/>
          </a:xfrm>
          <a:prstGeom prst="roundRect">
            <a:avLst>
              <a:gd name="adj" fmla="val 25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4" name="Rounded Rectangle 37">
            <a:extLst>
              <a:ext uri="{FF2B5EF4-FFF2-40B4-BE49-F238E27FC236}">
                <a16:creationId xmlns:a16="http://schemas.microsoft.com/office/drawing/2014/main" id="{99DE5278-AD2A-5065-8146-107AF6318236}"/>
              </a:ext>
            </a:extLst>
          </p:cNvPr>
          <p:cNvSpPr/>
          <p:nvPr/>
        </p:nvSpPr>
        <p:spPr>
          <a:xfrm>
            <a:off x="1197864" y="5445694"/>
            <a:ext cx="4736592" cy="438912"/>
          </a:xfrm>
          <a:prstGeom prst="roundRect">
            <a:avLst>
              <a:gd name="adj" fmla="val 25000"/>
            </a:avLst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62456" y="5577504"/>
            <a:ext cx="45720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>
                <a:solidFill>
                  <a:srgbClr val="3A59D1"/>
                </a:solidFill>
                <a:latin typeface="Pretendard SemiBold"/>
              </a:rPr>
              <a:t>사람은 이 축을 직접 바꾸지 못한다</a:t>
            </a:r>
          </a:p>
        </p:txBody>
      </p:sp>
      <p:sp>
        <p:nvSpPr>
          <p:cNvPr id="900" name="TextBox AI"/>
          <p:cNvSpPr txBox="1"/>
          <p:nvPr/>
        </p:nvSpPr>
        <p:spPr>
          <a:xfrm>
            <a:off x="6693407" y="5540678"/>
            <a:ext cx="54000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>
                <a:solidFill>
                  <a:srgbClr val="2E7D5B"/>
                </a:solidFill>
                <a:latin typeface="Pretendard SemiBold"/>
              </a:rPr>
              <a:t>AI 는 사람의 최종 판단을 덮어쓰지 못한다.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24128" y="1133856"/>
            <a:ext cx="54864" cy="274320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25296" y="111556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A59D1"/>
                </a:solidFill>
                <a:latin typeface="Pretendard SemiBold"/>
              </a:rPr>
              <a:t>01 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81328"/>
            <a:ext cx="16230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222222"/>
                </a:solidFill>
                <a:latin typeface="Pretendard SemiBold"/>
              </a:rPr>
              <a:t>테스트 게이트 중심의 CI / CD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2331720"/>
            <a:ext cx="16230600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4950440" y="9692640"/>
            <a:ext cx="2304288" cy="384048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05304" y="9761553"/>
            <a:ext cx="219456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Pretendard SemiBold"/>
              </a:rPr>
              <a:t>PAGE 1</a:t>
            </a:r>
            <a:r>
              <a:rPr lang="en-US" sz="1600" b="1" dirty="0">
                <a:solidFill>
                  <a:srgbClr val="FFFFFF"/>
                </a:solidFill>
                <a:latin typeface="Pretendard SemiBold"/>
              </a:rPr>
              <a:t>6</a:t>
            </a:r>
            <a:endParaRPr sz="1600" b="1" dirty="0">
              <a:solidFill>
                <a:srgbClr val="FFFFFF"/>
              </a:solidFill>
              <a:latin typeface="Pretendard SemiBol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0186416"/>
            <a:ext cx="4818888" cy="100584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24128" y="2496312"/>
            <a:ext cx="16806672" cy="65836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2496312"/>
            <a:ext cx="45720" cy="658368"/>
          </a:xfrm>
          <a:prstGeom prst="rect">
            <a:avLst/>
          </a:prstGeom>
          <a:solidFill>
            <a:srgbClr val="C0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62456" y="2496312"/>
            <a:ext cx="16422623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Pretendard SemiBold"/>
              </a:rPr>
              <a:t>게이트</a:t>
            </a:r>
            <a:r>
              <a:rPr sz="1500" b="0">
                <a:solidFill>
                  <a:srgbClr val="939393"/>
                </a:solidFill>
                <a:latin typeface="Pretendard"/>
              </a:rPr>
              <a:t>  PR 은 pytest 로 검증하고, main 병합은 통과했을 때만 빌드 · 배포로 간다</a:t>
            </a:r>
            <a:r>
              <a:rPr sz="1300" b="0">
                <a:solidFill>
                  <a:srgbClr val="939393"/>
                </a:solidFill>
                <a:latin typeface="Pretendard"/>
              </a:rPr>
              <a:t>        </a:t>
            </a:r>
            <a:r>
              <a:rPr sz="1500" b="1">
                <a:solidFill>
                  <a:srgbClr val="222222"/>
                </a:solidFill>
                <a:latin typeface="Pretendard SemiBold"/>
              </a:rPr>
              <a:t>그래서</a:t>
            </a:r>
            <a:r>
              <a:rPr sz="1500" b="0">
                <a:solidFill>
                  <a:srgbClr val="939393"/>
                </a:solidFill>
                <a:latin typeface="Pretendard"/>
              </a:rPr>
              <a:t>  실패한 커밋은 배포는커녕 이미지가 만들어지지 않는다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3310128"/>
            <a:ext cx="2587752" cy="15544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3758184"/>
            <a:ext cx="25877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Pretendard SemiBold"/>
              </a:rPr>
              <a:t>PR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4233672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pytest 자동 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310128"/>
            <a:ext cx="256032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67912" y="3310128"/>
            <a:ext cx="2587752" cy="1554480"/>
          </a:xfrm>
          <a:prstGeom prst="roundRect">
            <a:avLst>
              <a:gd name="adj" fmla="val 25000"/>
            </a:avLst>
          </a:prstGeom>
          <a:solidFill>
            <a:srgbClr val="FBEAEA"/>
          </a:solidFill>
          <a:ln w="12700">
            <a:solidFill>
              <a:srgbClr val="C039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67912" y="3758184"/>
            <a:ext cx="25877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C03939"/>
                </a:solidFill>
                <a:latin typeface="Pretendard SemiBold"/>
              </a:rPr>
              <a:t>pytest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95928" y="4233672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상한 1,205 건 전부 통과 → 미통과면 여기서 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3310128"/>
            <a:ext cx="256032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11696" y="3310128"/>
            <a:ext cx="2587752" cy="15544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11696" y="3758184"/>
            <a:ext cx="25877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Pretendard SemiBold"/>
              </a:rPr>
              <a:t>main 병합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4233672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통과한 커밋만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3310128"/>
            <a:ext cx="256032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55480" y="3310128"/>
            <a:ext cx="2587752" cy="15544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55480" y="3758184"/>
            <a:ext cx="25877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Pretendard SemiBold"/>
              </a:rPr>
              <a:t>이미지 빌드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3496" y="4233672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python:3.14.7-slim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43232" y="3310128"/>
            <a:ext cx="256032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399264" y="3310128"/>
            <a:ext cx="2587752" cy="1554480"/>
          </a:xfrm>
          <a:prstGeom prst="roundRect">
            <a:avLst>
              <a:gd name="adj" fmla="val 25000"/>
            </a:avLst>
          </a:prstGeom>
          <a:solidFill>
            <a:srgbClr val="F7EEE4"/>
          </a:solidFill>
          <a:ln w="12700">
            <a:solidFill>
              <a:srgbClr val="B8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399264" y="3758184"/>
            <a:ext cx="25877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B87333"/>
                </a:solidFill>
                <a:latin typeface="Pretendard SemiBold"/>
              </a:rPr>
              <a:t>스모크 2 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27280" y="4233672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import 스모크 — 두 앱 조립 확인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987016" y="3310128"/>
            <a:ext cx="256032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243048" y="3310128"/>
            <a:ext cx="2587752" cy="1554480"/>
          </a:xfrm>
          <a:prstGeom prst="roundRect">
            <a:avLst>
              <a:gd name="adj" fmla="val 25000"/>
            </a:avLst>
          </a:prstGeom>
          <a:solidFill>
            <a:srgbClr val="E7F1EC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5243048" y="3758184"/>
            <a:ext cx="25877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2E7D5B"/>
                </a:solidFill>
                <a:latin typeface="Pretendard SemiBold"/>
              </a:rPr>
              <a:t>동일 digest 배포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371064" y="4233672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939393"/>
                </a:solidFill>
                <a:latin typeface="Pretendard"/>
              </a:rPr>
              <a:t>두 서비스에 같은 이미지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128" y="5074920"/>
            <a:ext cx="54071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24128" y="5074920"/>
            <a:ext cx="5407152" cy="512064"/>
          </a:xfrm>
          <a:prstGeom prst="rect">
            <a:avLst/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80160" y="5074920"/>
            <a:ext cx="485851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E7D5B"/>
                </a:solidFill>
                <a:latin typeface="Pretendard SemiBold"/>
              </a:rPr>
              <a:t>동일 digest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8448" y="5742432"/>
            <a:ext cx="4858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939393"/>
                </a:solidFill>
                <a:latin typeface="Pretendard"/>
              </a:rPr>
              <a:t>이미지 하나를 digest 로 API · Worker 에 배포한다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98448" y="6053328"/>
            <a:ext cx="4858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939393"/>
                </a:solidFill>
                <a:latin typeface="Pretendard"/>
              </a:rPr>
              <a:t>두 서비스가 다른 버전을 서빙하는 상태가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8448" y="6364224"/>
            <a:ext cx="4858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939393"/>
                </a:solidFill>
                <a:latin typeface="Pretendard"/>
              </a:rPr>
              <a:t>구조적으로 불가능하다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98448" y="6912864"/>
            <a:ext cx="4858512" cy="457200"/>
          </a:xfrm>
          <a:prstGeom prst="roundRect">
            <a:avLst>
              <a:gd name="adj" fmla="val 25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298448" y="6912864"/>
            <a:ext cx="48585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E7D5B"/>
                </a:solidFill>
                <a:latin typeface="Pretendard SemiBold"/>
              </a:rPr>
              <a:t>롤백은 이전 digest 재지정 한 명령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23888" y="5074920"/>
            <a:ext cx="54071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5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723888" y="5074920"/>
            <a:ext cx="5407152" cy="512064"/>
          </a:xfrm>
          <a:prstGeom prst="rect">
            <a:avLst/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979920" y="5074920"/>
            <a:ext cx="485851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A59D1"/>
                </a:solidFill>
                <a:latin typeface="Pretendard SemiBold"/>
              </a:rPr>
              <a:t>자동 · 수동 이원화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8208" y="5742432"/>
            <a:ext cx="4858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939393"/>
                </a:solidFill>
                <a:latin typeface="Pretendard"/>
              </a:rPr>
              <a:t>자동(main push)은 게이트가 승인한다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8208" y="6053328"/>
            <a:ext cx="4858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939393"/>
                </a:solidFill>
                <a:latin typeface="Pretendard"/>
              </a:rPr>
              <a:t>수동 배포는 사람이 digest 를 확인하고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8208" y="6364224"/>
            <a:ext cx="4858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939393"/>
                </a:solidFill>
                <a:latin typeface="Pretendard"/>
              </a:rPr>
              <a:t>직접 승인한다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98208" y="6912864"/>
            <a:ext cx="4858512" cy="457200"/>
          </a:xfrm>
          <a:prstGeom prst="roundRect">
            <a:avLst>
              <a:gd name="adj" fmla="val 25000"/>
            </a:avLst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998208" y="6912864"/>
            <a:ext cx="48585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3A59D1"/>
                </a:solidFill>
                <a:latin typeface="Pretendard SemiBold"/>
              </a:rPr>
              <a:t>사람이 없으면 게이트가 사람 역할을 한다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423648" y="5074920"/>
            <a:ext cx="54071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2423648" y="5074920"/>
            <a:ext cx="5407152" cy="512064"/>
          </a:xfrm>
          <a:prstGeom prst="rect">
            <a:avLst/>
          </a:prstGeom>
          <a:solidFill>
            <a:srgbClr val="F7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2679679" y="5074920"/>
            <a:ext cx="485851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B87333"/>
                </a:solidFill>
                <a:latin typeface="Pretendard SemiBold"/>
              </a:rPr>
              <a:t>스모크 검사 2 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697968" y="5742432"/>
            <a:ext cx="4858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939393"/>
                </a:solidFill>
                <a:latin typeface="Pretendard"/>
              </a:rPr>
              <a:t>빌드된 이미지로 API · Worker 를 실제로 띄운다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697968" y="6053328"/>
            <a:ext cx="4858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939393"/>
                </a:solidFill>
                <a:latin typeface="Pretendard"/>
              </a:rPr>
              <a:t>조립 실패를 배포 전에 차단한다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697968" y="6364224"/>
            <a:ext cx="4858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939393"/>
                </a:solidFill>
                <a:latin typeface="Pretendard"/>
              </a:rPr>
              <a:t>테스트 통과와 조립 성공은 다른 주장이다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2697968" y="6912864"/>
            <a:ext cx="4858512" cy="457200"/>
          </a:xfrm>
          <a:prstGeom prst="roundRect">
            <a:avLst>
              <a:gd name="adj" fmla="val 25000"/>
            </a:avLst>
          </a:prstGeom>
          <a:solidFill>
            <a:srgbClr val="F7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2697968" y="6912864"/>
            <a:ext cx="48585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B87333"/>
                </a:solidFill>
                <a:latin typeface="Pretendard SemiBold"/>
              </a:rPr>
              <a:t>단위 시험이 잡지 못하는 층을 막는다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24128" y="7845552"/>
            <a:ext cx="8243315" cy="82296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024128" y="7845552"/>
            <a:ext cx="45720" cy="82296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325880" y="7991856"/>
            <a:ext cx="7694675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Pretendard SemiBold"/>
              </a:rPr>
              <a:t>CI 가 곧 런타임 환경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25880" y="8339328"/>
            <a:ext cx="7694675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같은 python:3.14.7-slim · 같은 requirements.lock — "CI 에선 됐는데" 경로를 없앴다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87483" y="7845552"/>
            <a:ext cx="8243315" cy="82296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587483" y="7845552"/>
            <a:ext cx="45720" cy="822960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889235" y="7991856"/>
            <a:ext cx="7694675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A59D1"/>
                </a:solidFill>
                <a:latin typeface="Pretendard SemiBold"/>
              </a:rPr>
              <a:t>인프라 전부 코드로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89235" y="8339328"/>
            <a:ext cx="7694675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서비스 · IAM 권한 계약 · 큐 · 스케줄러 · 인덱스 · 수명주기 + 배포 구성 검증기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4128" y="8851392"/>
            <a:ext cx="16806672" cy="50292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24128" y="8851392"/>
            <a:ext cx="45720" cy="5029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362456" y="8851392"/>
            <a:ext cx="16422623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Pretendard SemiBold"/>
              </a:rPr>
              <a:t>배포 후 검증</a:t>
            </a:r>
            <a:r>
              <a:rPr sz="1300" b="0">
                <a:solidFill>
                  <a:srgbClr val="939393"/>
                </a:solidFill>
                <a:latin typeface="Pretendard"/>
              </a:rPr>
              <a:t>        /health/ready 200 이어야 빌드 성공 — 포트 리슨만으로는 앱 고장을 못 잡는다    ·    서버 1,205 · 웹 62 · 데스크톱 83 통과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24128" y="1133856"/>
            <a:ext cx="54864" cy="274320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25296" y="111556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A59D1"/>
                </a:solidFill>
                <a:latin typeface="Pretendard SemiBold"/>
              </a:rPr>
              <a:t>01 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81328"/>
            <a:ext cx="16230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222222"/>
                </a:solidFill>
                <a:latin typeface="Pretendard SemiBold"/>
              </a:rPr>
              <a:t>화면 단위 역할 권한과 소스별 최소 권한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2331720"/>
            <a:ext cx="16230600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4950440" y="9692640"/>
            <a:ext cx="2304288" cy="384048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05304" y="9761553"/>
            <a:ext cx="219456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Pretendard SemiBold"/>
              </a:rPr>
              <a:t>PAGE 1</a:t>
            </a:r>
            <a:r>
              <a:rPr lang="en-US" sz="1600" b="1" dirty="0">
                <a:solidFill>
                  <a:srgbClr val="FFFFFF"/>
                </a:solidFill>
                <a:latin typeface="Pretendard SemiBold"/>
              </a:rPr>
              <a:t>7</a:t>
            </a:r>
            <a:endParaRPr sz="1600" b="1" dirty="0">
              <a:solidFill>
                <a:srgbClr val="FFFFFF"/>
              </a:solidFill>
              <a:latin typeface="Pretendard SemiBol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0186416"/>
            <a:ext cx="4818888" cy="100584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273552"/>
            <a:ext cx="8101583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Pretendard SemiBold"/>
              </a:rPr>
              <a:t>화면 · 기능별 역할 권한</a:t>
            </a:r>
            <a:r>
              <a:rPr sz="1050" b="0">
                <a:solidFill>
                  <a:srgbClr val="939393"/>
                </a:solidFill>
                <a:latin typeface="Pretendard"/>
              </a:rPr>
              <a:t>   조작 = 실행 · 조회 = 열람만 · — = 불가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" y="3639312"/>
            <a:ext cx="8101583" cy="457200"/>
          </a:xfrm>
          <a:prstGeom prst="rect">
            <a:avLst/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25296" y="3639312"/>
            <a:ext cx="3767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222222"/>
                </a:solidFill>
                <a:latin typeface="Pretendard SemiBold"/>
              </a:rPr>
              <a:t>화면 · 기능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5776" y="3639312"/>
            <a:ext cx="101498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22222"/>
                </a:solidFill>
                <a:latin typeface="Pretendard SemiBold"/>
              </a:rPr>
              <a:t>Viewer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639312"/>
            <a:ext cx="101498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22222"/>
                </a:solidFill>
                <a:latin typeface="Pretendard SemiBold"/>
              </a:rPr>
              <a:t>Risk Rev.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95744" y="3639312"/>
            <a:ext cx="101498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22222"/>
                </a:solidFill>
                <a:latin typeface="Pretendard SemiBold"/>
              </a:rPr>
              <a:t>Src Mgr.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7" y="3639312"/>
            <a:ext cx="101498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22222"/>
                </a:solidFill>
                <a:latin typeface="Pretendard SemiBold"/>
              </a:rPr>
              <a:t>Owner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128" y="4096512"/>
            <a:ext cx="8101583" cy="420624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24128" y="4517136"/>
            <a:ext cx="8101583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25296" y="4096512"/>
            <a:ext cx="3767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Pretendard"/>
              </a:rPr>
              <a:t>Overview · Files · Review · Risk 상세 · 타임라인 조회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44084" y="4187952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65776" y="4096512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3A59D1"/>
                </a:solidFill>
                <a:latin typeface="Pretendard SemiBold"/>
              </a:rPr>
              <a:t>조회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9068" y="4187952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80760" y="4096512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3A59D1"/>
                </a:solidFill>
                <a:latin typeface="Pretendard SemiBold"/>
              </a:rPr>
              <a:t>조회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74052" y="4187952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95744" y="4096512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3A59D1"/>
                </a:solidFill>
                <a:latin typeface="Pretendard SemiBold"/>
              </a:rPr>
              <a:t>조회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89036" y="4187952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10727" y="4096512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3A59D1"/>
                </a:solidFill>
                <a:latin typeface="Pretendard SemiBold"/>
              </a:rPr>
              <a:t>조회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4128" y="4937760"/>
            <a:ext cx="8101583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25296" y="4517136"/>
            <a:ext cx="3767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Pretendard"/>
              </a:rPr>
              <a:t>Reviewer decision — 처분 입력 모달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65776" y="4517136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B8B8B8"/>
                </a:solidFill>
                <a:latin typeface="Pretendard"/>
              </a:rPr>
              <a:t>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59068" y="4608576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80760" y="4517136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3A59D1"/>
                </a:solidFill>
                <a:latin typeface="Pretendard SemiBold"/>
              </a:rPr>
              <a:t>조작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74052" y="4608576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95744" y="4517136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3A59D1"/>
                </a:solidFill>
                <a:latin typeface="Pretendard SemiBold"/>
              </a:rPr>
              <a:t>조작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89036" y="4608576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10727" y="4517136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3A59D1"/>
                </a:solidFill>
                <a:latin typeface="Pretendard SemiBold"/>
              </a:rPr>
              <a:t>조작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4128" y="4937760"/>
            <a:ext cx="8101583" cy="420624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24128" y="5358384"/>
            <a:ext cx="8101583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225296" y="4937760"/>
            <a:ext cx="3767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Pretendard"/>
              </a:rPr>
              <a:t>Add source · 마운트 Disable · 다시 검사 · 추적 해제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65776" y="4937760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B8B8B8"/>
                </a:solidFill>
                <a:latin typeface="Pretendard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4937760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B8B8B8"/>
                </a:solidFill>
                <a:latin typeface="Pretendard"/>
              </a:rPr>
              <a:t>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74052" y="5029200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95744" y="4937760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3A59D1"/>
                </a:solidFill>
                <a:latin typeface="Pretendard SemiBold"/>
              </a:rPr>
              <a:t>조작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89036" y="5029200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110727" y="4937760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3A59D1"/>
                </a:solidFill>
                <a:latin typeface="Pretendard SemiBold"/>
              </a:rPr>
              <a:t>조작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24128" y="5779008"/>
            <a:ext cx="8101583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225296" y="5358384"/>
            <a:ext cx="3767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Pretendard"/>
              </a:rPr>
              <a:t>Members 초대 · 역할 변경 · 제거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65776" y="5358384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B8B8B8"/>
                </a:solidFill>
                <a:latin typeface="Pretendard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5358384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B8B8B8"/>
                </a:solidFill>
                <a:latin typeface="Pretendard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95744" y="5358384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B8B8B8"/>
                </a:solidFill>
                <a:latin typeface="Pretendard"/>
              </a:rPr>
              <a:t>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89036" y="5449824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110727" y="5358384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3A59D1"/>
                </a:solidFill>
                <a:latin typeface="Pretendard SemiBold"/>
              </a:rPr>
              <a:t>조작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24128" y="5779008"/>
            <a:ext cx="8101583" cy="420624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24128" y="6199632"/>
            <a:ext cx="8101583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225296" y="5779008"/>
            <a:ext cx="3767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Pretendard"/>
              </a:rPr>
              <a:t>Security &amp; data — .ipriskignore · Workspace 삭제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65776" y="5779008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B8B8B8"/>
                </a:solidFill>
                <a:latin typeface="Pretendard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80760" y="5779008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B8B8B8"/>
                </a:solidFill>
                <a:latin typeface="Pretendard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95744" y="5779008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B8B8B8"/>
                </a:solidFill>
                <a:latin typeface="Pretendard"/>
              </a:rPr>
              <a:t>—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89036" y="5870448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110727" y="5779008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3A59D1"/>
                </a:solidFill>
                <a:latin typeface="Pretendard SemiBold"/>
              </a:rPr>
              <a:t>조작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24128" y="6620256"/>
            <a:ext cx="8101583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225296" y="6199632"/>
            <a:ext cx="3767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Pretendard"/>
              </a:rPr>
              <a:t>Activity &amp; audit 조회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244084" y="6291072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065776" y="6199632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3A59D1"/>
                </a:solidFill>
                <a:latin typeface="Pretendard SemiBold"/>
              </a:rPr>
              <a:t>조회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59068" y="6291072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080760" y="6199632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3A59D1"/>
                </a:solidFill>
                <a:latin typeface="Pretendard SemiBold"/>
              </a:rPr>
              <a:t>조회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274052" y="6291072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095744" y="6199632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3A59D1"/>
                </a:solidFill>
                <a:latin typeface="Pretendard SemiBold"/>
              </a:rPr>
              <a:t>조회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289036" y="6291072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110727" y="6199632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3A59D1"/>
                </a:solidFill>
                <a:latin typeface="Pretendard SemiBold"/>
              </a:rPr>
              <a:t>조회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24128" y="6620256"/>
            <a:ext cx="8101583" cy="420624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024128" y="7040880"/>
            <a:ext cx="8101583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225296" y="6620256"/>
            <a:ext cx="3767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Pretendard"/>
              </a:rPr>
              <a:t>safe audit JSON 내보내기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65776" y="6620256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B8B8B8"/>
                </a:solidFill>
                <a:latin typeface="Pretendard"/>
              </a:rPr>
              <a:t>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80760" y="6620256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B8B8B8"/>
                </a:solidFill>
                <a:latin typeface="Pretendard"/>
              </a:rP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95744" y="6620256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0">
                <a:solidFill>
                  <a:srgbClr val="B8B8B8"/>
                </a:solidFill>
                <a:latin typeface="Pretendard"/>
              </a:rPr>
              <a:t>—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289036" y="6711696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110727" y="6620256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3A59D1"/>
                </a:solidFill>
                <a:latin typeface="Pretendard SemiBold"/>
              </a:rPr>
              <a:t>조작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24128" y="7461504"/>
            <a:ext cx="8101583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225296" y="7040880"/>
            <a:ext cx="3767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Pretendard"/>
              </a:rPr>
              <a:t>Notifications — 개인 인박스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244084" y="7132320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065776" y="7040880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3A59D1"/>
                </a:solidFill>
                <a:latin typeface="Pretendard SemiBold"/>
              </a:rPr>
              <a:t>본인만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259068" y="7132320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080760" y="7040880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3A59D1"/>
                </a:solidFill>
                <a:latin typeface="Pretendard SemiBold"/>
              </a:rPr>
              <a:t>본인만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274052" y="7132320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095744" y="7040880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3A59D1"/>
                </a:solidFill>
                <a:latin typeface="Pretendard SemiBold"/>
              </a:rPr>
              <a:t>본인만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289036" y="7132320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110727" y="7040880"/>
            <a:ext cx="10149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3A59D1"/>
                </a:solidFill>
                <a:latin typeface="Pretendard SemiBold"/>
              </a:rPr>
              <a:t>본인만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573768" y="3273552"/>
            <a:ext cx="8257031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Pretendard SemiBold"/>
              </a:rPr>
              <a:t>소스별 최소 권한</a:t>
            </a:r>
            <a:r>
              <a:rPr sz="1050" b="0">
                <a:solidFill>
                  <a:srgbClr val="939393"/>
                </a:solidFill>
                <a:latin typeface="Pretendard"/>
              </a:rPr>
              <a:t>   SOURCE WORKSPACE SCOPES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573768" y="3639312"/>
            <a:ext cx="8257031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3A5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9573768" y="3639312"/>
            <a:ext cx="8257031" cy="384048"/>
          </a:xfrm>
          <a:prstGeom prst="rect">
            <a:avLst/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9573768" y="3639312"/>
            <a:ext cx="45720" cy="1261872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829800" y="3639312"/>
            <a:ext cx="770839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3A59D1"/>
                </a:solidFill>
                <a:latin typeface="Pretendard SemiBold"/>
              </a:rPr>
              <a:t>Google Drive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866376" y="4114800"/>
            <a:ext cx="7662671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39393"/>
                </a:solidFill>
                <a:latin typeface="Pretendard"/>
              </a:rPr>
              <a:t>·  서비스 계정에 폴더를 뷰어로 공유 — 공유받은 것만 보인다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866376" y="4306824"/>
            <a:ext cx="7662671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39393"/>
                </a:solidFill>
                <a:latin typeface="Pretendard"/>
              </a:rPr>
              <a:t>·  사용자 OAuth 미사용 — 보관하는 Drive 토큰 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866376" y="4498848"/>
            <a:ext cx="7662671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39393"/>
                </a:solidFill>
                <a:latin typeface="Pretendard"/>
              </a:rPr>
              <a:t>·  drive.file · drive.readonly 동의 경로는 폐기했다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866376" y="4690872"/>
            <a:ext cx="7662671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39393"/>
                </a:solidFill>
                <a:latin typeface="Pretendard"/>
              </a:rPr>
              <a:t>·  changes 피드도 공유받은 범위로 함께 좁아진다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573768" y="5010912"/>
            <a:ext cx="8257031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9573768" y="5010912"/>
            <a:ext cx="8257031" cy="38404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9573768" y="5010912"/>
            <a:ext cx="45720" cy="1261872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829800" y="5010912"/>
            <a:ext cx="770839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222222"/>
                </a:solidFill>
                <a:latin typeface="Pretendard SemiBold"/>
              </a:rPr>
              <a:t>GitHub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866376" y="5486400"/>
            <a:ext cx="7662671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39393"/>
                </a:solidFill>
                <a:latin typeface="Pretendard"/>
              </a:rPr>
              <a:t>·  GitHub App — Contents 는 Read-only, Metadata 만 추가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866376" y="5678424"/>
            <a:ext cx="7662671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39393"/>
                </a:solidFill>
                <a:latin typeface="Pretendard"/>
              </a:rPr>
              <a:t>·  event 는 Push 하나 — 그 밖의 권한 · 이벤트를 넣지 않는다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866376" y="5870448"/>
            <a:ext cx="7662671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39393"/>
                </a:solidFill>
                <a:latin typeface="Pretendard"/>
              </a:rPr>
              <a:t>·  선택한 저장소에만 설치한다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66376" y="6062472"/>
            <a:ext cx="7662671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39393"/>
                </a:solidFill>
                <a:latin typeface="Pretendard"/>
              </a:rPr>
              <a:t>·  private key · webhook secret 은 Secret Manager 에만 둔다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573768" y="6382512"/>
            <a:ext cx="8257031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B8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9573768" y="6382512"/>
            <a:ext cx="8257031" cy="384048"/>
          </a:xfrm>
          <a:prstGeom prst="rect">
            <a:avLst/>
          </a:prstGeom>
          <a:solidFill>
            <a:srgbClr val="F7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9573768" y="6382512"/>
            <a:ext cx="45720" cy="1261872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9829800" y="6382512"/>
            <a:ext cx="770839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B87333"/>
                </a:solidFill>
                <a:latin typeface="Pretendard SemiBold"/>
              </a:rPr>
              <a:t>내 PC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866376" y="6858000"/>
            <a:ext cx="7662671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39393"/>
                </a:solidFill>
                <a:latin typeface="Pretendard"/>
              </a:rPr>
              <a:t>·  데스크톱 앱이 사용자가 고른 폴더만 감시한다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866376" y="7050024"/>
            <a:ext cx="7662671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39393"/>
                </a:solidFill>
                <a:latin typeface="Pretendard"/>
              </a:rPr>
              <a:t>·  기기 자격증명은 OS 암호화 저장소에 있다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866376" y="7242048"/>
            <a:ext cx="7662671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39393"/>
                </a:solidFill>
                <a:latin typeface="Pretendard"/>
              </a:rPr>
              <a:t>·  절대 경로는 기기 밖으로 나가지 않는다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866376" y="7434072"/>
            <a:ext cx="7662671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939393"/>
                </a:solidFill>
                <a:latin typeface="Pretendard"/>
              </a:rPr>
              <a:t>·  .ipriskignore 로 제외 범위를 사용자가 정한다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24128" y="7845552"/>
            <a:ext cx="8243315" cy="786384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1024128" y="7845552"/>
            <a:ext cx="45720" cy="78638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325880" y="7991856"/>
            <a:ext cx="7694675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E7D5B"/>
                </a:solidFill>
                <a:latin typeface="Pretendard SemiBold"/>
              </a:rPr>
              <a:t>서비스별 최소 권한 분리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325880" y="8339328"/>
            <a:ext cx="7694675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실행 전용 4 종(api · worker · tasks · scheduler) + Drive 가장 전용 1 + 배포 전용 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587483" y="7845552"/>
            <a:ext cx="8243315" cy="786384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9587483" y="7845552"/>
            <a:ext cx="45720" cy="786384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9889235" y="7991856"/>
            <a:ext cx="7694675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A59D1"/>
                </a:solidFill>
                <a:latin typeface="Pretendard SemiBold"/>
              </a:rPr>
              <a:t>자격증명 무보관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889235" y="8339328"/>
            <a:ext cx="7694675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Secret 은 Secret Manager 로 일원화하고, 서비스 계정 키 파일을 쓰지 않는다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024128" y="8796528"/>
            <a:ext cx="16806672" cy="50292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1024128" y="8796528"/>
            <a:ext cx="1680667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 SemiBold"/>
              </a:rPr>
              <a:t>앱 권한은 원문 접근 권한을 부여하지 않습니다</a:t>
            </a:r>
            <a:r>
              <a:rPr sz="1300" b="0">
                <a:solidFill>
                  <a:srgbClr val="D0D0D0"/>
                </a:solidFill>
                <a:latin typeface="Pretendard"/>
              </a:rPr>
              <a:t>        provider 권한(폴더 공유 · App 설치 · 기기 등록)은 매 요청마다 따로 검사합니다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24128" y="1133856"/>
            <a:ext cx="54864" cy="274320"/>
          </a:xfrm>
          <a:prstGeom prst="rect">
            <a:avLst/>
          </a:prstGeom>
          <a:solidFill>
            <a:srgbClr val="C0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25296" y="111556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03939"/>
                </a:solidFill>
                <a:latin typeface="Pretendard SemiBold"/>
              </a:rPr>
              <a:t>01 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81328"/>
            <a:ext cx="16230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222222"/>
                </a:solidFill>
                <a:latin typeface="Pretendard SemiBold"/>
              </a:rPr>
              <a:t>Security Gate — 5 단계 검문과 최소 데이터 전달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2331720"/>
            <a:ext cx="16230600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4950440" y="9692640"/>
            <a:ext cx="2304288" cy="384048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05304" y="9761553"/>
            <a:ext cx="219456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Pretendard SemiBold"/>
              </a:rPr>
              <a:t>PAGE 1</a:t>
            </a:r>
            <a:r>
              <a:rPr lang="en-US" sz="1600" b="1" dirty="0">
                <a:solidFill>
                  <a:srgbClr val="FFFFFF"/>
                </a:solidFill>
                <a:latin typeface="Pretendard SemiBold"/>
              </a:rPr>
              <a:t>8</a:t>
            </a:r>
            <a:endParaRPr sz="1600" b="1" dirty="0">
              <a:solidFill>
                <a:srgbClr val="FFFFFF"/>
              </a:solidFill>
              <a:latin typeface="Pretendard SemiBol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0186416"/>
            <a:ext cx="4818888" cy="100584"/>
          </a:xfrm>
          <a:prstGeom prst="rect">
            <a:avLst/>
          </a:prstGeom>
          <a:solidFill>
            <a:srgbClr val="C0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24128" y="2496312"/>
            <a:ext cx="16806672" cy="65836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2496312"/>
            <a:ext cx="45720" cy="658368"/>
          </a:xfrm>
          <a:prstGeom prst="rect">
            <a:avLst/>
          </a:prstGeom>
          <a:solidFill>
            <a:srgbClr val="C0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62456" y="2496312"/>
            <a:ext cx="16422623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Pretendard SemiBold"/>
              </a:rPr>
              <a:t>전제</a:t>
            </a:r>
            <a:r>
              <a:rPr sz="1500" b="0">
                <a:solidFill>
                  <a:srgbClr val="939393"/>
                </a:solidFill>
                <a:latin typeface="Pretendard"/>
              </a:rPr>
              <a:t>  게이트 승인 없이는 분석기 호출 자체가 불가</a:t>
            </a:r>
            <a:r>
              <a:rPr sz="1300" b="0">
                <a:solidFill>
                  <a:srgbClr val="939393"/>
                </a:solidFill>
                <a:latin typeface="Pretendard"/>
              </a:rPr>
              <a:t>        </a:t>
            </a:r>
            <a:r>
              <a:rPr sz="1500" b="1">
                <a:solidFill>
                  <a:srgbClr val="222222"/>
                </a:solidFill>
                <a:latin typeface="Pretendard SemiBold"/>
              </a:rPr>
              <a:t>결과</a:t>
            </a:r>
            <a:r>
              <a:rPr sz="1500" b="0">
                <a:solidFill>
                  <a:srgbClr val="939393"/>
                </a:solidFill>
                <a:latin typeface="Pretendard"/>
              </a:rPr>
              <a:t>  원본은 transient — 영구 저장 0, staging 은 1 일 뒤 자동 삭제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3310128"/>
            <a:ext cx="3141878" cy="2194560"/>
          </a:xfrm>
          <a:prstGeom prst="roundRect">
            <a:avLst>
              <a:gd name="adj" fmla="val 25000"/>
            </a:avLst>
          </a:prstGeom>
          <a:solidFill>
            <a:srgbClr val="E4E7F2"/>
          </a:solidFill>
          <a:ln w="12700">
            <a:solidFill>
              <a:srgbClr val="3A5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311603" y="3511296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11603" y="351129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 SemiBold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986784"/>
            <a:ext cx="314187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500" b="1" dirty="0">
                <a:solidFill>
                  <a:srgbClr val="3A59D1"/>
                </a:solidFill>
                <a:latin typeface="Pretendard SemiBold"/>
              </a:rPr>
              <a:t>분석 범위 제한</a:t>
            </a:r>
            <a:endParaRPr sz="1500" b="1" dirty="0">
              <a:solidFill>
                <a:srgbClr val="3A59D1"/>
              </a:solidFill>
              <a:latin typeface="Pretendard SemiBold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247595" y="4443984"/>
            <a:ext cx="694944" cy="9144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2" y="4590288"/>
            <a:ext cx="28492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서버가 경로를 다시 계산한다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4864607"/>
            <a:ext cx="28492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클라이언트가 준 값은 믿지 않는다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5138927"/>
            <a:ext cx="28492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어긋나면 요청을 거부한다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6006" y="3310128"/>
            <a:ext cx="274320" cy="2194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0326" y="3310128"/>
            <a:ext cx="3141878" cy="2194560"/>
          </a:xfrm>
          <a:prstGeom prst="roundRect">
            <a:avLst>
              <a:gd name="adj" fmla="val 25000"/>
            </a:avLst>
          </a:prstGeom>
          <a:solidFill>
            <a:srgbClr val="E4E7F2"/>
          </a:solidFill>
          <a:ln w="12700">
            <a:solidFill>
              <a:srgbClr val="3A59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727801" y="3511296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27801" y="351129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 SemiBold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0326" y="3986784"/>
            <a:ext cx="314187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3A59D1"/>
                </a:solidFill>
                <a:latin typeface="Pretendard SemiBold"/>
              </a:rPr>
              <a:t>제외 목록 적용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3793" y="4443984"/>
            <a:ext cx="694944" cy="9144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86630" y="4590288"/>
            <a:ext cx="28492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.ipriskignore 는 사용자가 정한다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6630" y="4864607"/>
            <a:ext cx="28492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제외 폴더는 게이트 앞에서 걸린다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6630" y="5138927"/>
            <a:ext cx="28492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누락이 아니라 규칙으로 막는다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2204" y="3310128"/>
            <a:ext cx="274320" cy="2194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56524" y="3310128"/>
            <a:ext cx="3141878" cy="2194560"/>
          </a:xfrm>
          <a:prstGeom prst="roundRect">
            <a:avLst>
              <a:gd name="adj" fmla="val 25000"/>
            </a:avLst>
          </a:prstGeom>
          <a:solidFill>
            <a:srgbClr val="F7EEE4"/>
          </a:solidFill>
          <a:ln w="12700">
            <a:solidFill>
              <a:srgbClr val="B8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143999" y="3511296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3999" y="351129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 SemiBold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56524" y="3986784"/>
            <a:ext cx="314187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B87333"/>
                </a:solidFill>
                <a:latin typeface="Pretendard SemiBold"/>
              </a:rPr>
              <a:t>파일 종류 · 크기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79991" y="4443984"/>
            <a:ext cx="694944" cy="9144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02828" y="4590288"/>
            <a:ext cx="28492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분석 가능한 종류만 통과시킨다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2828" y="4864607"/>
            <a:ext cx="28492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크기 상한을 넘으면 거른다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2828" y="5138927"/>
            <a:ext cx="28492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커넥터가 아니라 게이트가 판단한다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98403" y="3310128"/>
            <a:ext cx="274320" cy="2194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272723" y="3310128"/>
            <a:ext cx="3141878" cy="2194560"/>
          </a:xfrm>
          <a:prstGeom prst="roundRect">
            <a:avLst>
              <a:gd name="adj" fmla="val 25000"/>
            </a:avLst>
          </a:prstGeom>
          <a:solidFill>
            <a:srgbClr val="FBEAEA"/>
          </a:solidFill>
          <a:ln w="12700">
            <a:solidFill>
              <a:srgbClr val="C039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2560198" y="3511296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C0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2560198" y="351129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 SemiBold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72723" y="3986784"/>
            <a:ext cx="314187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C03939"/>
                </a:solidFill>
                <a:latin typeface="Pretendard SemiBold"/>
              </a:rPr>
              <a:t>비밀정보 제거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496190" y="4443984"/>
            <a:ext cx="694944" cy="9144"/>
          </a:xfrm>
          <a:prstGeom prst="rect">
            <a:avLst/>
          </a:prstGeom>
          <a:solidFill>
            <a:srgbClr val="C0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419027" y="4590288"/>
            <a:ext cx="28492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PEM · 토큰 · JWT 를 치환한다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19027" y="4864607"/>
            <a:ext cx="28492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이름이 아니라 모양으로 찾는다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19027" y="5138927"/>
            <a:ext cx="28492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매니페스트를 훼손하지 않는다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414601" y="3310128"/>
            <a:ext cx="274320" cy="2194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B8B8B8"/>
                </a:solidFill>
                <a:latin typeface="Pretendard SemiBold"/>
              </a:rPr>
              <a:t>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688921" y="3310128"/>
            <a:ext cx="3141878" cy="2194560"/>
          </a:xfrm>
          <a:prstGeom prst="roundRect">
            <a:avLst>
              <a:gd name="adj" fmla="val 25000"/>
            </a:avLst>
          </a:prstGeom>
          <a:solidFill>
            <a:srgbClr val="E7F1EC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15976396" y="3511296"/>
            <a:ext cx="566928" cy="31089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5976396" y="351129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 SemiBold"/>
              </a:rPr>
              <a:t>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688921" y="3986784"/>
            <a:ext cx="314187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2E7D5B"/>
                </a:solidFill>
                <a:latin typeface="Pretendard SemiBold"/>
              </a:rPr>
              <a:t>최소 데이터 생성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912388" y="4443984"/>
            <a:ext cx="694944" cy="914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4835225" y="4590288"/>
            <a:ext cx="28492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필요한 범위만 만들어 넘긴다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835225" y="4864607"/>
            <a:ext cx="28492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원본은 transient — 영구 저장 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835225" y="5138927"/>
            <a:ext cx="284927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939393"/>
                </a:solidFill>
                <a:latin typeface="Pretendard"/>
              </a:rPr>
              <a:t>staging 은 1 일 뒤 자동 삭제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4128" y="5779008"/>
            <a:ext cx="16806672" cy="181051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024128" y="5779008"/>
            <a:ext cx="45720" cy="181051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325880" y="59253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E7D5B"/>
                </a:solidFill>
                <a:latin typeface="Pretendard SemiBold"/>
              </a:rPr>
              <a:t>직접 확인한 결과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25880" y="6291072"/>
            <a:ext cx="5577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939393"/>
                </a:solidFill>
                <a:latin typeface="Pretendard"/>
              </a:rPr>
              <a:t>기존 방식(파일 하나씩 권한 부여)으로 폴더 읽기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03720" y="6291072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C03939"/>
                </a:solidFill>
                <a:latin typeface="Pretendard SemiBold"/>
              </a:rPr>
              <a:t>5 개 중 0 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25880" y="6711696"/>
            <a:ext cx="5577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939393"/>
                </a:solidFill>
                <a:latin typeface="Pretendard"/>
              </a:rPr>
              <a:t>서비스 계정에 폴더를 공유하고 읽도록 설정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03720" y="6711696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2E7D5B"/>
                </a:solidFill>
                <a:latin typeface="Pretendard SemiBold"/>
              </a:rPr>
              <a:t>5 개 중 5 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46920" y="6291072"/>
            <a:ext cx="5577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939393"/>
                </a:solidFill>
                <a:latin typeface="Pretendard"/>
              </a:rPr>
              <a:t>파일 추가 · 폴더 밖으로 이동 · 되돌리기 감지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224759" y="6291072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2E7D5B"/>
                </a:solidFill>
                <a:latin typeface="Pretendard SemiBold"/>
              </a:rPr>
              <a:t>3 개 중 3 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46920" y="6711696"/>
            <a:ext cx="5577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939393"/>
                </a:solidFill>
                <a:latin typeface="Pretendard"/>
              </a:rPr>
              <a:t>보관하는 사용자 접속 토큰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224759" y="6711696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2E7D5B"/>
                </a:solidFill>
                <a:latin typeface="Pretendard SemiBold"/>
              </a:rPr>
              <a:t>없음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25880" y="7187184"/>
            <a:ext cx="162031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Pretendard SemiBold"/>
              </a:rPr>
              <a:t>문서의 가정이 아니라 실제 Drive 접근 실험 결과가 구조 변경을 결정했습니다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24128" y="7808975"/>
            <a:ext cx="5388864" cy="85953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024128" y="7808975"/>
            <a:ext cx="45720" cy="859536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325880" y="7955279"/>
            <a:ext cx="484022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A59D1"/>
                </a:solidFill>
                <a:latin typeface="Pretendard SemiBold"/>
              </a:rPr>
              <a:t>분석 범위는 서버가 정한다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25880" y="8302751"/>
            <a:ext cx="484022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mount 범위 밖은 분석 자체가 없다 · 경로는 서버가 재계산 · 어긋나면 CANONICAL_CONTEXT_MISMATCH 거부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733032" y="7808975"/>
            <a:ext cx="5388864" cy="85953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733032" y="7808975"/>
            <a:ext cx="45720" cy="859536"/>
          </a:xfrm>
          <a:prstGeom prst="rect">
            <a:avLst/>
          </a:prstGeom>
          <a:solidFill>
            <a:srgbClr val="C0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034784" y="7955279"/>
            <a:ext cx="484022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03939"/>
                </a:solidFill>
                <a:latin typeface="Pretendard SemiBold"/>
              </a:rPr>
              <a:t>추적 제외는 규칙으로 막는다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34784" y="8302751"/>
            <a:ext cx="484022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사용자가 정하고 게이트 앞에서 강제 · 누락이 아니라 규칙 · 규칙 삭제 후 재검사 시 Risk 복원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2441935" y="7808975"/>
            <a:ext cx="5388864" cy="85953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2441935" y="7808975"/>
            <a:ext cx="45720" cy="85953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2743688" y="7955279"/>
            <a:ext cx="484022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E7D5B"/>
                </a:solidFill>
                <a:latin typeface="Pretendard SemiBold"/>
              </a:rPr>
              <a:t>원본은 남기지 않는다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743688" y="8302751"/>
            <a:ext cx="4840224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스냅샷은 transient · 영구 저장 0 · staging 1 일 자동 삭제 · 남는 것은 검증된 발췌(4,000 자 상한)뿐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24128" y="8851392"/>
            <a:ext cx="16806672" cy="50292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24128" y="8851392"/>
            <a:ext cx="1680667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retendard SemiBold"/>
              </a:rPr>
              <a:t>서비스 권한 ≠ 소스 권한</a:t>
            </a:r>
            <a:r>
              <a:rPr sz="1300" b="0">
                <a:solidFill>
                  <a:srgbClr val="D0D0D0"/>
                </a:solidFill>
                <a:latin typeface="Pretendard"/>
              </a:rPr>
              <a:t>        앱 권한이 원문 접근을 부여하지 않는다 · provider 권한(폴더 공유 · App 설치 · 기기 등록)을 매 요청 검사 · 전용 SA 6 종 최소권한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24128" y="1133856"/>
            <a:ext cx="50292" cy="274320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25296" y="111556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3A59D1"/>
                </a:solidFill>
                <a:latin typeface="Pretendard SemiBold"/>
              </a:rPr>
              <a:t>02  프로젝트 팀 구성 및 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81328"/>
            <a:ext cx="16230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222222"/>
                </a:solidFill>
                <a:latin typeface="Pretendard SemiBold"/>
              </a:rPr>
              <a:t>Plane 단독 소유 기반 역할 분담과 통합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2331720"/>
            <a:ext cx="16230600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4950440" y="9692640"/>
            <a:ext cx="2304288" cy="384048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Pretendard SemiBold"/>
              </a:rPr>
              <a:t>PAGE </a:t>
            </a:r>
            <a:r>
              <a:rPr lang="en-US" sz="1600" b="1" dirty="0">
                <a:solidFill>
                  <a:srgbClr val="FFFFFF"/>
                </a:solidFill>
                <a:latin typeface="Pretendard SemiBold"/>
              </a:rPr>
              <a:t>19</a:t>
            </a:r>
            <a:endParaRPr sz="1600" b="1" dirty="0">
              <a:solidFill>
                <a:srgbClr val="FFFFFF"/>
              </a:solidFill>
              <a:latin typeface="Pretendard Semi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186416"/>
            <a:ext cx="4818888" cy="100584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606040"/>
            <a:ext cx="16230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939393"/>
                </a:solidFill>
                <a:latin typeface="Pretendard"/>
              </a:rPr>
              <a:t>Plane 경계를 그대로 담당으로 나눴습니다. </a:t>
            </a:r>
            <a:r>
              <a:rPr sz="1700" b="1">
                <a:solidFill>
                  <a:srgbClr val="222222"/>
                </a:solidFill>
                <a:latin typeface="Pretendard SemiBold"/>
              </a:rPr>
              <a:t>맡은 영역이 곧 코드 소유권입니다.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4128" y="3246120"/>
            <a:ext cx="5148072" cy="6071616"/>
          </a:xfrm>
          <a:prstGeom prst="rect">
            <a:avLst/>
          </a:prstGeom>
          <a:noFill/>
          <a:ln w="1587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3246120"/>
            <a:ext cx="5148072" cy="7315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44752" y="3648456"/>
            <a:ext cx="4325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222222"/>
                </a:solidFill>
                <a:latin typeface="Pretendard SemiBold"/>
              </a:rPr>
              <a:t>윤결 (팀장)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4233672"/>
            <a:ext cx="43251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2E7D5B"/>
                </a:solidFill>
                <a:latin typeface="Pretendard SemiBold"/>
              </a:rPr>
              <a:t>Risk Intelligence Plane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4581144"/>
            <a:ext cx="4325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위험 분석 계층 · risk-intelligence-rag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44752" y="4946904"/>
            <a:ext cx="4306824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463040" y="5294376"/>
            <a:ext cx="64008" cy="64008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00784" y="5184648"/>
            <a:ext cx="4050791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222222"/>
                </a:solidFill>
                <a:latin typeface="Pretendard"/>
              </a:rPr>
              <a:t>Risk Intelligence Plane 개발</a:t>
            </a:r>
          </a:p>
        </p:txBody>
      </p:sp>
      <p:sp>
        <p:nvSpPr>
          <p:cNvPr id="17" name="Oval 16"/>
          <p:cNvSpPr/>
          <p:nvPr/>
        </p:nvSpPr>
        <p:spPr>
          <a:xfrm>
            <a:off x="1463040" y="5897880"/>
            <a:ext cx="64008" cy="64008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00784" y="5761946"/>
            <a:ext cx="4050791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222222"/>
                </a:solidFill>
                <a:latin typeface="Pretendard"/>
              </a:rPr>
              <a:t>RAG 파이프라인 구축</a:t>
            </a:r>
          </a:p>
        </p:txBody>
      </p:sp>
      <p:sp>
        <p:nvSpPr>
          <p:cNvPr id="19" name="Oval 18"/>
          <p:cNvSpPr/>
          <p:nvPr/>
        </p:nvSpPr>
        <p:spPr>
          <a:xfrm>
            <a:off x="1463040" y="6501384"/>
            <a:ext cx="64008" cy="64008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700784" y="6339244"/>
            <a:ext cx="4050791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222222"/>
                </a:solidFill>
                <a:latin typeface="Pretendard"/>
              </a:rPr>
              <a:t>License · Patent 규칙 엔진 구축</a:t>
            </a:r>
          </a:p>
        </p:txBody>
      </p:sp>
      <p:sp>
        <p:nvSpPr>
          <p:cNvPr id="21" name="Oval 20"/>
          <p:cNvSpPr/>
          <p:nvPr/>
        </p:nvSpPr>
        <p:spPr>
          <a:xfrm>
            <a:off x="1463040" y="7052768"/>
            <a:ext cx="64008" cy="64008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435608" y="8977580"/>
            <a:ext cx="4306824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65392" y="3246120"/>
            <a:ext cx="5148072" cy="6071616"/>
          </a:xfrm>
          <a:prstGeom prst="rect">
            <a:avLst/>
          </a:prstGeom>
          <a:noFill/>
          <a:ln w="1587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65392" y="3246120"/>
            <a:ext cx="5148072" cy="73152"/>
          </a:xfrm>
          <a:prstGeom prst="rect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86016" y="3648456"/>
            <a:ext cx="4325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222222"/>
                </a:solidFill>
                <a:latin typeface="Pretendard SemiBold"/>
              </a:rPr>
              <a:t>이현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233672"/>
            <a:ext cx="43251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3A59D1"/>
                </a:solidFill>
                <a:latin typeface="Pretendard SemiBold"/>
              </a:rPr>
              <a:t>Control Plane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4581144"/>
            <a:ext cx="4325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제어 · 관리 계층 · platform-control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86016" y="4946904"/>
            <a:ext cx="4306824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004304" y="5294376"/>
            <a:ext cx="64008" cy="64008"/>
          </a:xfrm>
          <a:prstGeom prst="ellipse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42048" y="5184648"/>
            <a:ext cx="4050791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222222"/>
                </a:solidFill>
                <a:latin typeface="Pretendard"/>
              </a:rPr>
              <a:t>초기 명세 · Shared Contract 확정</a:t>
            </a:r>
          </a:p>
        </p:txBody>
      </p:sp>
      <p:sp>
        <p:nvSpPr>
          <p:cNvPr id="33" name="Oval 32"/>
          <p:cNvSpPr/>
          <p:nvPr/>
        </p:nvSpPr>
        <p:spPr>
          <a:xfrm>
            <a:off x="7004304" y="5897880"/>
            <a:ext cx="64008" cy="64008"/>
          </a:xfrm>
          <a:prstGeom prst="ellipse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42048" y="5788152"/>
            <a:ext cx="4050791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222222"/>
                </a:solidFill>
                <a:latin typeface="Pretendard"/>
              </a:rPr>
              <a:t>Control Plane 개발</a:t>
            </a:r>
          </a:p>
        </p:txBody>
      </p:sp>
      <p:sp>
        <p:nvSpPr>
          <p:cNvPr id="35" name="Oval 34"/>
          <p:cNvSpPr/>
          <p:nvPr/>
        </p:nvSpPr>
        <p:spPr>
          <a:xfrm>
            <a:off x="7004304" y="6501384"/>
            <a:ext cx="64008" cy="64008"/>
          </a:xfrm>
          <a:prstGeom prst="ellipse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42048" y="6391656"/>
            <a:ext cx="4050791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222222"/>
                </a:solidFill>
                <a:latin typeface="Pretendard"/>
              </a:rPr>
              <a:t>통합 및 배포</a:t>
            </a:r>
          </a:p>
        </p:txBody>
      </p:sp>
      <p:sp>
        <p:nvSpPr>
          <p:cNvPr id="37" name="Oval 36"/>
          <p:cNvSpPr/>
          <p:nvPr/>
        </p:nvSpPr>
        <p:spPr>
          <a:xfrm>
            <a:off x="7004304" y="7104888"/>
            <a:ext cx="64008" cy="64008"/>
          </a:xfrm>
          <a:prstGeom prst="ellipse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42048" y="6995160"/>
            <a:ext cx="4050791" cy="275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</a:pP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Patent 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파이프라인 고도화</a:t>
            </a:r>
            <a:endParaRPr sz="1600" b="0">
              <a:solidFill>
                <a:srgbClr val="222222"/>
              </a:solidFill>
              <a:latin typeface="Pretendard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986016" y="8977580"/>
            <a:ext cx="4306824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2106655" y="3246120"/>
            <a:ext cx="5148072" cy="6071616"/>
          </a:xfrm>
          <a:prstGeom prst="rect">
            <a:avLst/>
          </a:prstGeom>
          <a:noFill/>
          <a:ln w="15875">
            <a:solidFill>
              <a:srgbClr val="DED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2106655" y="3246120"/>
            <a:ext cx="5148072" cy="73152"/>
          </a:xfrm>
          <a:prstGeom prst="rect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527280" y="3648456"/>
            <a:ext cx="4325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222222"/>
                </a:solidFill>
                <a:latin typeface="Pretendard SemiBold"/>
              </a:rPr>
              <a:t>이은우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527280" y="4233672"/>
            <a:ext cx="43251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B87333"/>
                </a:solidFill>
                <a:latin typeface="Pretendard SemiBold"/>
              </a:rPr>
              <a:t>Source Integration Plane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527280" y="4581144"/>
            <a:ext cx="4325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39393"/>
                </a:solidFill>
                <a:latin typeface="Pretendard"/>
              </a:rPr>
              <a:t>자료 수집 계층 · source-integration-desktop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527280" y="4946904"/>
            <a:ext cx="4306824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2545567" y="5294376"/>
            <a:ext cx="64008" cy="64008"/>
          </a:xfrm>
          <a:prstGeom prst="ellipse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2783311" y="5184648"/>
            <a:ext cx="4050791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222222"/>
                </a:solidFill>
                <a:latin typeface="Pretendard"/>
              </a:rPr>
              <a:t>Source Integration Plane 개발</a:t>
            </a:r>
          </a:p>
        </p:txBody>
      </p:sp>
      <p:sp>
        <p:nvSpPr>
          <p:cNvPr id="49" name="Oval 48"/>
          <p:cNvSpPr/>
          <p:nvPr/>
        </p:nvSpPr>
        <p:spPr>
          <a:xfrm>
            <a:off x="12545567" y="5897880"/>
            <a:ext cx="64008" cy="64008"/>
          </a:xfrm>
          <a:prstGeom prst="ellipse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2783311" y="5788152"/>
            <a:ext cx="4050791" cy="275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lang="ko-KR" altLang="en-US" sz="1600">
                <a:solidFill>
                  <a:srgbClr val="222222"/>
                </a:solidFill>
                <a:latin typeface="Pretendard"/>
              </a:rPr>
              <a:t>소스별</a:t>
            </a:r>
            <a:r>
              <a:rPr sz="1600" b="0">
                <a:solidFill>
                  <a:srgbClr val="222222"/>
                </a:solidFill>
                <a:latin typeface="Pretendard"/>
              </a:rPr>
              <a:t> Connector 구축</a:t>
            </a:r>
          </a:p>
        </p:txBody>
      </p:sp>
      <p:sp>
        <p:nvSpPr>
          <p:cNvPr id="51" name="Oval 50"/>
          <p:cNvSpPr/>
          <p:nvPr/>
        </p:nvSpPr>
        <p:spPr>
          <a:xfrm>
            <a:off x="12545567" y="6501384"/>
            <a:ext cx="64008" cy="64008"/>
          </a:xfrm>
          <a:prstGeom prst="ellipse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2783311" y="6391656"/>
            <a:ext cx="4050791" cy="275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lang="en-US" sz="1600" b="0">
                <a:solidFill>
                  <a:srgbClr val="222222"/>
                </a:solidFill>
                <a:latin typeface="Pretendard"/>
              </a:rPr>
              <a:t>UI / UX </a:t>
            </a:r>
            <a:r>
              <a:rPr lang="ko-KR" altLang="en-US" sz="1600" b="0">
                <a:solidFill>
                  <a:srgbClr val="222222"/>
                </a:solidFill>
                <a:latin typeface="Pretendard"/>
              </a:rPr>
              <a:t>설계</a:t>
            </a:r>
            <a:endParaRPr sz="1600" b="0">
              <a:solidFill>
                <a:srgbClr val="222222"/>
              </a:solidFill>
              <a:latin typeface="Pretendard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12545567" y="7104888"/>
            <a:ext cx="64008" cy="64008"/>
          </a:xfrm>
          <a:prstGeom prst="ellipse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2783311" y="6995160"/>
            <a:ext cx="4050791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222222"/>
                </a:solidFill>
                <a:latin typeface="Pretendard"/>
              </a:rPr>
              <a:t>통합 보고서 문서화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527280" y="8977580"/>
            <a:ext cx="4306824" cy="10972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24128" y="9674352"/>
            <a:ext cx="138988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Pretendard"/>
              </a:rPr>
              <a:t>디렉터리 소유를 사전에 분리하고 Plane 간 통신을 </a:t>
            </a:r>
            <a:r>
              <a:rPr sz="1600" b="1">
                <a:solidFill>
                  <a:srgbClr val="3A59D1"/>
                </a:solidFill>
                <a:latin typeface="Pretendard SemiBold"/>
              </a:rPr>
              <a:t>Shared Contract(고정 데이터 규격)로만</a:t>
            </a:r>
            <a:r>
              <a:rPr sz="1600" b="0">
                <a:solidFill>
                  <a:srgbClr val="222222"/>
                </a:solidFill>
                <a:latin typeface="Pretendard"/>
              </a:rPr>
              <a:t> 제한</a:t>
            </a:r>
            <a:r>
              <a:rPr lang="ko-KR" altLang="en-US" sz="1600">
                <a:solidFill>
                  <a:srgbClr val="222222"/>
                </a:solidFill>
                <a:latin typeface="Pretendard"/>
              </a:rPr>
              <a:t>하여 개발 진행</a:t>
            </a:r>
            <a:endParaRPr sz="1600" b="0">
              <a:solidFill>
                <a:srgbClr val="222222"/>
              </a:solidFill>
              <a:latin typeface="Pretendard"/>
            </a:endParaRPr>
          </a:p>
        </p:txBody>
      </p:sp>
      <p:sp>
        <p:nvSpPr>
          <p:cNvPr id="938" name="Oval 20">
            <a:extLst>
              <a:ext uri="{FF2B5EF4-FFF2-40B4-BE49-F238E27FC236}">
                <a16:creationId xmlns:a16="http://schemas.microsoft.com/office/drawing/2014/main" id="{7B761CE0-831C-57D3-FA2C-8BBC01882E82}"/>
              </a:ext>
            </a:extLst>
          </p:cNvPr>
          <p:cNvSpPr/>
          <p:nvPr/>
        </p:nvSpPr>
        <p:spPr>
          <a:xfrm>
            <a:off x="1463040" y="7633412"/>
            <a:ext cx="64008" cy="64008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39" name="TextBox 938">
            <a:extLst>
              <a:ext uri="{FF2B5EF4-FFF2-40B4-BE49-F238E27FC236}">
                <a16:creationId xmlns:a16="http://schemas.microsoft.com/office/drawing/2014/main" id="{9A3FB38E-139C-E459-4D4E-6A8173FE317B}"/>
              </a:ext>
            </a:extLst>
          </p:cNvPr>
          <p:cNvSpPr txBox="1"/>
          <p:nvPr/>
        </p:nvSpPr>
        <p:spPr>
          <a:xfrm>
            <a:off x="1700784" y="7497186"/>
            <a:ext cx="405079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600"/>
              <a:t>재현율 평가 </a:t>
            </a:r>
            <a:r>
              <a:rPr lang="en-US" altLang="ko-KR" sz="1600"/>
              <a:t>Golden set </a:t>
            </a:r>
            <a:r>
              <a:rPr lang="ko-KR" altLang="en-US" sz="1600"/>
              <a:t>구축</a:t>
            </a:r>
            <a:endParaRPr lang="ko-KR" altLang="en-US" sz="1600" dirty="0"/>
          </a:p>
        </p:txBody>
      </p:sp>
      <p:sp>
        <p:nvSpPr>
          <p:cNvPr id="942" name="Oval 36">
            <a:extLst>
              <a:ext uri="{FF2B5EF4-FFF2-40B4-BE49-F238E27FC236}">
                <a16:creationId xmlns:a16="http://schemas.microsoft.com/office/drawing/2014/main" id="{551C99EA-54EE-080F-1DCF-1A684E2D5E84}"/>
              </a:ext>
            </a:extLst>
          </p:cNvPr>
          <p:cNvSpPr/>
          <p:nvPr/>
        </p:nvSpPr>
        <p:spPr>
          <a:xfrm>
            <a:off x="7004304" y="7685532"/>
            <a:ext cx="64008" cy="64008"/>
          </a:xfrm>
          <a:prstGeom prst="ellipse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43" name="TextBox 942">
            <a:extLst>
              <a:ext uri="{FF2B5EF4-FFF2-40B4-BE49-F238E27FC236}">
                <a16:creationId xmlns:a16="http://schemas.microsoft.com/office/drawing/2014/main" id="{C4155489-3AE5-0E73-612F-BB8D2F140361}"/>
              </a:ext>
            </a:extLst>
          </p:cNvPr>
          <p:cNvSpPr txBox="1"/>
          <p:nvPr/>
        </p:nvSpPr>
        <p:spPr>
          <a:xfrm>
            <a:off x="7242048" y="7575804"/>
            <a:ext cx="4050791" cy="275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</a:pP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CI / CD 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자동화</a:t>
            </a:r>
            <a:r>
              <a:rPr lang="ko-KR" altLang="en-US" sz="1600">
                <a:solidFill>
                  <a:srgbClr val="222222"/>
                </a:solidFill>
              </a:rPr>
              <a:t> </a:t>
            </a:r>
            <a:r>
              <a:rPr lang="en-US" altLang="ko-KR" sz="1600">
                <a:solidFill>
                  <a:srgbClr val="222222"/>
                </a:solidFill>
              </a:rPr>
              <a:t>· </a:t>
            </a:r>
            <a:r>
              <a:rPr lang="ko-KR" altLang="en-US" sz="1600">
                <a:solidFill>
                  <a:srgbClr val="222222"/>
                </a:solidFill>
              </a:rPr>
              <a:t>보안</a:t>
            </a:r>
            <a:endParaRPr sz="1600" b="0">
              <a:solidFill>
                <a:srgbClr val="222222"/>
              </a:solidFill>
              <a:latin typeface="Pretendard"/>
            </a:endParaRPr>
          </a:p>
        </p:txBody>
      </p:sp>
      <p:sp>
        <p:nvSpPr>
          <p:cNvPr id="946" name="Oval 52">
            <a:extLst>
              <a:ext uri="{FF2B5EF4-FFF2-40B4-BE49-F238E27FC236}">
                <a16:creationId xmlns:a16="http://schemas.microsoft.com/office/drawing/2014/main" id="{66B2B7E7-BF22-AD81-41BD-118B682B3AE5}"/>
              </a:ext>
            </a:extLst>
          </p:cNvPr>
          <p:cNvSpPr/>
          <p:nvPr/>
        </p:nvSpPr>
        <p:spPr>
          <a:xfrm>
            <a:off x="12545567" y="7685532"/>
            <a:ext cx="64008" cy="64008"/>
          </a:xfrm>
          <a:prstGeom prst="ellipse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47" name="TextBox 946">
            <a:extLst>
              <a:ext uri="{FF2B5EF4-FFF2-40B4-BE49-F238E27FC236}">
                <a16:creationId xmlns:a16="http://schemas.microsoft.com/office/drawing/2014/main" id="{B49E7F18-0236-AC9C-BFCF-27C79E78916F}"/>
              </a:ext>
            </a:extLst>
          </p:cNvPr>
          <p:cNvSpPr txBox="1"/>
          <p:nvPr/>
        </p:nvSpPr>
        <p:spPr>
          <a:xfrm>
            <a:off x="12783311" y="7575804"/>
            <a:ext cx="405079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정밀도 평가 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Golden set 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구축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59" name="Oval 20">
            <a:extLst>
              <a:ext uri="{FF2B5EF4-FFF2-40B4-BE49-F238E27FC236}">
                <a16:creationId xmlns:a16="http://schemas.microsoft.com/office/drawing/2014/main" id="{CBF2EA9F-6F2F-6B58-4400-18363ABBB8E3}"/>
              </a:ext>
            </a:extLst>
          </p:cNvPr>
          <p:cNvSpPr/>
          <p:nvPr/>
        </p:nvSpPr>
        <p:spPr>
          <a:xfrm>
            <a:off x="1463040" y="8227772"/>
            <a:ext cx="64008" cy="64008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60" name="TextBox 959">
            <a:extLst>
              <a:ext uri="{FF2B5EF4-FFF2-40B4-BE49-F238E27FC236}">
                <a16:creationId xmlns:a16="http://schemas.microsoft.com/office/drawing/2014/main" id="{1EF24E3E-8E06-3B6B-7793-EA0414D11188}"/>
              </a:ext>
            </a:extLst>
          </p:cNvPr>
          <p:cNvSpPr txBox="1"/>
          <p:nvPr/>
        </p:nvSpPr>
        <p:spPr>
          <a:xfrm>
            <a:off x="1700784" y="8091546"/>
            <a:ext cx="4050791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dirty="0" err="1">
                <a:solidFill>
                  <a:srgbClr val="222222"/>
                </a:solidFill>
                <a:latin typeface="Pretendard"/>
              </a:rPr>
              <a:t>발표</a:t>
            </a:r>
            <a:r>
              <a:rPr sz="1600" b="0" dirty="0">
                <a:solidFill>
                  <a:srgbClr val="222222"/>
                </a:solidFill>
                <a:latin typeface="Pretendard"/>
              </a:rPr>
              <a:t> 및 </a:t>
            </a:r>
            <a:r>
              <a:rPr sz="1600" b="0" dirty="0" err="1">
                <a:solidFill>
                  <a:srgbClr val="222222"/>
                </a:solidFill>
                <a:latin typeface="Pretendard"/>
              </a:rPr>
              <a:t>포트폴리오</a:t>
            </a:r>
            <a:endParaRPr sz="1600" b="0" dirty="0">
              <a:solidFill>
                <a:srgbClr val="222222"/>
              </a:solidFill>
              <a:latin typeface="Pretendard"/>
            </a:endParaRPr>
          </a:p>
        </p:txBody>
      </p:sp>
      <p:sp>
        <p:nvSpPr>
          <p:cNvPr id="961" name="Oval 36">
            <a:extLst>
              <a:ext uri="{FF2B5EF4-FFF2-40B4-BE49-F238E27FC236}">
                <a16:creationId xmlns:a16="http://schemas.microsoft.com/office/drawing/2014/main" id="{7179A917-5565-E320-BC5A-D9E3A9402732}"/>
              </a:ext>
            </a:extLst>
          </p:cNvPr>
          <p:cNvSpPr/>
          <p:nvPr/>
        </p:nvSpPr>
        <p:spPr>
          <a:xfrm>
            <a:off x="7004304" y="8279892"/>
            <a:ext cx="64008" cy="64008"/>
          </a:xfrm>
          <a:prstGeom prst="ellipse">
            <a:avLst/>
          </a:prstGeom>
          <a:solidFill>
            <a:srgbClr val="3A5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62" name="TextBox 961">
            <a:extLst>
              <a:ext uri="{FF2B5EF4-FFF2-40B4-BE49-F238E27FC236}">
                <a16:creationId xmlns:a16="http://schemas.microsoft.com/office/drawing/2014/main" id="{84439F67-AE28-5D8B-DB54-BF61E743E5F4}"/>
              </a:ext>
            </a:extLst>
          </p:cNvPr>
          <p:cNvSpPr txBox="1"/>
          <p:nvPr/>
        </p:nvSpPr>
        <p:spPr>
          <a:xfrm>
            <a:off x="7242048" y="8170164"/>
            <a:ext cx="4050791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222222"/>
                </a:solidFill>
                <a:latin typeface="Pretendard"/>
              </a:rPr>
              <a:t>E2E 테스트</a:t>
            </a:r>
          </a:p>
        </p:txBody>
      </p:sp>
      <p:sp>
        <p:nvSpPr>
          <p:cNvPr id="963" name="Oval 52">
            <a:extLst>
              <a:ext uri="{FF2B5EF4-FFF2-40B4-BE49-F238E27FC236}">
                <a16:creationId xmlns:a16="http://schemas.microsoft.com/office/drawing/2014/main" id="{01A3BAB3-917B-7AE3-07D3-C261AF9657ED}"/>
              </a:ext>
            </a:extLst>
          </p:cNvPr>
          <p:cNvSpPr/>
          <p:nvPr/>
        </p:nvSpPr>
        <p:spPr>
          <a:xfrm>
            <a:off x="12545567" y="8279892"/>
            <a:ext cx="64008" cy="64008"/>
          </a:xfrm>
          <a:prstGeom prst="ellipse">
            <a:avLst/>
          </a:prstGeom>
          <a:solidFill>
            <a:srgbClr val="B8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64" name="TextBox 963">
            <a:extLst>
              <a:ext uri="{FF2B5EF4-FFF2-40B4-BE49-F238E27FC236}">
                <a16:creationId xmlns:a16="http://schemas.microsoft.com/office/drawing/2014/main" id="{CEC073EA-28B9-63FC-A92C-AA899C6B1FD3}"/>
              </a:ext>
            </a:extLst>
          </p:cNvPr>
          <p:cNvSpPr txBox="1"/>
          <p:nvPr/>
        </p:nvSpPr>
        <p:spPr>
          <a:xfrm>
            <a:off x="12783311" y="8170164"/>
            <a:ext cx="4050791" cy="275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lang="ko-KR" altLang="en-US" sz="1600" b="0">
                <a:solidFill>
                  <a:srgbClr val="222222"/>
                </a:solidFill>
                <a:latin typeface="Pretendard"/>
              </a:rPr>
              <a:t>사용자 시나리오 시연</a:t>
            </a:r>
            <a:endParaRPr sz="1600" b="0">
              <a:solidFill>
                <a:srgbClr val="222222"/>
              </a:solidFill>
              <a:latin typeface="Pretendard"/>
            </a:endParaRPr>
          </a:p>
        </p:txBody>
      </p:sp>
      <p:sp>
        <p:nvSpPr>
          <p:cNvPr id="965" name="TextBox 964">
            <a:extLst>
              <a:ext uri="{FF2B5EF4-FFF2-40B4-BE49-F238E27FC236}">
                <a16:creationId xmlns:a16="http://schemas.microsoft.com/office/drawing/2014/main" id="{6256CB45-268B-3BFF-A998-C6580C4250C5}"/>
              </a:ext>
            </a:extLst>
          </p:cNvPr>
          <p:cNvSpPr txBox="1"/>
          <p:nvPr/>
        </p:nvSpPr>
        <p:spPr>
          <a:xfrm>
            <a:off x="1719073" y="6933604"/>
            <a:ext cx="4050791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222222"/>
                </a:solidFill>
                <a:latin typeface="Pretendard"/>
              </a:rPr>
              <a:t>E2E 테스트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1024128" y="1133856"/>
            <a:ext cx="54864" cy="2743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25296" y="111556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E7D5B"/>
                </a:solidFill>
                <a:latin typeface="Pretendard SemiBold"/>
              </a:rPr>
              <a:t>05  자체 평가 의견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481328"/>
            <a:ext cx="16230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dirty="0" err="1">
                <a:solidFill>
                  <a:srgbClr val="222222"/>
                </a:solidFill>
                <a:latin typeface="Pretendard SemiBold"/>
              </a:rPr>
              <a:t>한계와</a:t>
            </a:r>
            <a:r>
              <a:rPr sz="3600" b="1" dirty="0">
                <a:solidFill>
                  <a:srgbClr val="222222"/>
                </a:solidFill>
                <a:latin typeface="Pretendard SemiBold"/>
              </a:rPr>
              <a:t> </a:t>
            </a:r>
            <a:r>
              <a:rPr sz="3600" b="1" dirty="0" err="1">
                <a:solidFill>
                  <a:srgbClr val="222222"/>
                </a:solidFill>
                <a:latin typeface="Pretendard SemiBold"/>
              </a:rPr>
              <a:t>대응</a:t>
            </a:r>
            <a:r>
              <a:rPr sz="3600" b="1" dirty="0">
                <a:solidFill>
                  <a:srgbClr val="222222"/>
                </a:solidFill>
                <a:latin typeface="Pretendard SemiBold"/>
              </a:rPr>
              <a:t>, </a:t>
            </a:r>
            <a:r>
              <a:rPr sz="3600" b="1" dirty="0" err="1">
                <a:solidFill>
                  <a:srgbClr val="222222"/>
                </a:solidFill>
                <a:latin typeface="Pretendard SemiBold"/>
              </a:rPr>
              <a:t>향후</a:t>
            </a:r>
            <a:r>
              <a:rPr sz="3600" b="1" dirty="0">
                <a:solidFill>
                  <a:srgbClr val="222222"/>
                </a:solidFill>
                <a:latin typeface="Pretendard SemiBold"/>
              </a:rPr>
              <a:t> 계</a:t>
            </a:r>
            <a:r>
              <a:rPr lang="ko-KR" altLang="en-US" sz="3600" b="1" dirty="0">
                <a:solidFill>
                  <a:srgbClr val="222222"/>
                </a:solidFill>
                <a:latin typeface="Pretendard SemiBold"/>
              </a:rPr>
              <a:t>획</a:t>
            </a:r>
            <a:endParaRPr sz="3600" b="1" dirty="0">
              <a:solidFill>
                <a:srgbClr val="222222"/>
              </a:solidFill>
              <a:latin typeface="Pretendard SemiBold"/>
            </a:endParaRPr>
          </a:p>
        </p:txBody>
      </p:sp>
      <p:sp>
        <p:nvSpPr>
          <p:cNvPr id="5" name="Rect 4"/>
          <p:cNvSpPr/>
          <p:nvPr/>
        </p:nvSpPr>
        <p:spPr>
          <a:xfrm>
            <a:off x="1024128" y="2331720"/>
            <a:ext cx="16230600" cy="9144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 5"/>
          <p:cNvSpPr/>
          <p:nvPr/>
        </p:nvSpPr>
        <p:spPr>
          <a:xfrm>
            <a:off x="14950440" y="9692640"/>
            <a:ext cx="2304288" cy="384048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05304" y="969264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Pretendard SemiBold"/>
              </a:rPr>
              <a:t>PAGE 2</a:t>
            </a:r>
            <a:r>
              <a:rPr lang="en-US" sz="1600" b="1" dirty="0">
                <a:solidFill>
                  <a:srgbClr val="FFFFFF"/>
                </a:solidFill>
                <a:latin typeface="Pretendard SemiBold"/>
              </a:rPr>
              <a:t>0</a:t>
            </a:r>
            <a:endParaRPr sz="1600" b="1" dirty="0">
              <a:solidFill>
                <a:srgbClr val="FFFFFF"/>
              </a:solidFill>
              <a:latin typeface="Pretendard SemiBold"/>
            </a:endParaRPr>
          </a:p>
        </p:txBody>
      </p:sp>
      <p:sp>
        <p:nvSpPr>
          <p:cNvPr id="8" name="Rect 7"/>
          <p:cNvSpPr/>
          <p:nvPr/>
        </p:nvSpPr>
        <p:spPr>
          <a:xfrm>
            <a:off x="0" y="10186416"/>
            <a:ext cx="4818888" cy="10058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60000" y="3420000"/>
            <a:ext cx="3240000" cy="34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50" b="1">
                <a:solidFill>
                  <a:srgbClr val="939393"/>
                </a:solidFill>
                <a:latin typeface="Pretendard SemiBold"/>
              </a:rPr>
              <a:t>영역</a:t>
            </a:r>
            <a:r>
              <a:rPr sz="1100" b="0">
                <a:solidFill>
                  <a:srgbClr val="939393"/>
                </a:solidFill>
                <a:latin typeface="Pretendard"/>
              </a:rPr>
              <a:t>   AREA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2400" y="3420000"/>
            <a:ext cx="4342800" cy="342000"/>
          </a:xfrm>
          <a:prstGeom prst="rect">
            <a:avLst/>
          </a:prstGeom>
          <a:solidFill>
            <a:srgbClr val="F7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22400" y="3420000"/>
            <a:ext cx="3982799" cy="34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>
                <a:solidFill>
                  <a:srgbClr val="B87333"/>
                </a:solidFill>
                <a:latin typeface="Pretendard SemiBold"/>
              </a:rPr>
              <a:t>한계</a:t>
            </a:r>
            <a:r>
              <a:rPr sz="1100" b="0">
                <a:solidFill>
                  <a:srgbClr val="939393"/>
                </a:solidFill>
                <a:latin typeface="Pretendard"/>
              </a:rPr>
              <a:t>    LIMITATION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5200" y="3420000"/>
            <a:ext cx="4342800" cy="342000"/>
          </a:xfrm>
          <a:prstGeom prst="rect">
            <a:avLst/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5200" y="3420000"/>
            <a:ext cx="3982799" cy="34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>
                <a:solidFill>
                  <a:srgbClr val="2E7D5B"/>
                </a:solidFill>
                <a:latin typeface="Pretendard SemiBold"/>
              </a:rPr>
              <a:t>대응</a:t>
            </a:r>
            <a:r>
              <a:rPr sz="1100" b="0">
                <a:solidFill>
                  <a:srgbClr val="939393"/>
                </a:solidFill>
                <a:latin typeface="Pretendard"/>
              </a:rPr>
              <a:t>    MITIGATION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488000" y="3420000"/>
            <a:ext cx="4342800" cy="342000"/>
          </a:xfrm>
          <a:prstGeom prst="rect">
            <a:avLst/>
          </a:prstGeom>
          <a:solidFill>
            <a:srgbClr val="E4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668000" y="3420000"/>
            <a:ext cx="3982799" cy="34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00" b="1">
                <a:solidFill>
                  <a:srgbClr val="3A59D1"/>
                </a:solidFill>
                <a:latin typeface="Pretendard SemiBold"/>
              </a:rPr>
              <a:t>향후 계획</a:t>
            </a:r>
            <a:r>
              <a:rPr sz="1100" b="0">
                <a:solidFill>
                  <a:srgbClr val="939393"/>
                </a:solidFill>
                <a:latin typeface="Pretendard"/>
              </a:rPr>
              <a:t>    ROADMAP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2400" y="3816000"/>
            <a:ext cx="16808400" cy="10800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22400" y="3870000"/>
            <a:ext cx="46800" cy="1080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260000" y="4280400"/>
            <a:ext cx="468000" cy="25920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60000" y="4280400"/>
            <a:ext cx="468000" cy="259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retendard SemiBold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54000" y="3870000"/>
            <a:ext cx="2408400" cy="10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222222"/>
                </a:solidFill>
                <a:latin typeface="Pretendard SemiBold"/>
              </a:rPr>
              <a:t>KIPRIS AND 키워드 검색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2400" y="3870000"/>
            <a:ext cx="3982799" cy="10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939393"/>
                </a:solidFill>
                <a:latin typeface="Pretendard"/>
              </a:rPr>
              <a:t>키워드 조합의 exact match 를 전제하여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939393"/>
                </a:solidFill>
                <a:latin typeface="Pretendard"/>
              </a:rPr>
              <a:t>재현율 상한이 생긴다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5200" y="3870000"/>
            <a:ext cx="3982799" cy="10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222222"/>
                </a:solidFill>
                <a:latin typeface="Pretendard SemiBold"/>
              </a:rPr>
              <a:t>제목 · 초록 필드 지정 검색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222222"/>
                </a:solidFill>
                <a:latin typeface="Pretendard SemiBold"/>
              </a:rPr>
              <a:t>재순위 후 스크리닝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668000" y="3870000"/>
            <a:ext cx="3982799" cy="10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45000"/>
              </a:lnSpc>
            </a:pPr>
            <a:r>
              <a:rPr sz="1300" b="1" dirty="0">
                <a:solidFill>
                  <a:srgbClr val="3A59D1"/>
                </a:solidFill>
                <a:latin typeface="Pretendard SemiBold"/>
              </a:rPr>
              <a:t>KIPRIS bulk </a:t>
            </a:r>
            <a:r>
              <a:rPr sz="1300" b="1" dirty="0" err="1">
                <a:solidFill>
                  <a:srgbClr val="3A59D1"/>
                </a:solidFill>
                <a:latin typeface="Pretendard SemiBold"/>
              </a:rPr>
              <a:t>데이터</a:t>
            </a:r>
            <a:r>
              <a:rPr sz="1300" b="1" dirty="0">
                <a:solidFill>
                  <a:srgbClr val="3A59D1"/>
                </a:solidFill>
                <a:latin typeface="Pretendard SemiBold"/>
              </a:rPr>
              <a:t> </a:t>
            </a:r>
            <a:r>
              <a:rPr sz="1300" b="1" dirty="0" err="1">
                <a:solidFill>
                  <a:srgbClr val="3A59D1"/>
                </a:solidFill>
                <a:latin typeface="Pretendard SemiBold"/>
              </a:rPr>
              <a:t>확보</a:t>
            </a:r>
            <a:endParaRPr sz="1300" b="1" dirty="0">
              <a:solidFill>
                <a:srgbClr val="3A59D1"/>
              </a:solidFill>
              <a:latin typeface="Pretendard SemiBold"/>
            </a:endParaRPr>
          </a:p>
          <a:p>
            <a:pPr algn="l">
              <a:lnSpc>
                <a:spcPct val="145000"/>
              </a:lnSpc>
            </a:pPr>
            <a:r>
              <a:rPr sz="1300" b="1" dirty="0" err="1">
                <a:solidFill>
                  <a:srgbClr val="3A59D1"/>
                </a:solidFill>
                <a:latin typeface="Pretendard SemiBold"/>
              </a:rPr>
              <a:t>자체</a:t>
            </a:r>
            <a:r>
              <a:rPr sz="1300" b="1" dirty="0">
                <a:solidFill>
                  <a:srgbClr val="3A59D1"/>
                </a:solidFill>
                <a:latin typeface="Pretendard SemiBold"/>
              </a:rPr>
              <a:t> </a:t>
            </a:r>
            <a:r>
              <a:rPr sz="1300" b="1" dirty="0" err="1">
                <a:solidFill>
                  <a:srgbClr val="3A59D1"/>
                </a:solidFill>
                <a:latin typeface="Pretendard SemiBold"/>
              </a:rPr>
              <a:t>색인</a:t>
            </a:r>
            <a:r>
              <a:rPr sz="1300" b="1" dirty="0">
                <a:solidFill>
                  <a:srgbClr val="3A59D1"/>
                </a:solidFill>
                <a:latin typeface="Pretendard SemiBold"/>
              </a:rPr>
              <a:t> </a:t>
            </a:r>
            <a:r>
              <a:rPr sz="1300" b="1" dirty="0" err="1">
                <a:solidFill>
                  <a:srgbClr val="3A59D1"/>
                </a:solidFill>
                <a:latin typeface="Pretendard SemiBold"/>
              </a:rPr>
              <a:t>구성</a:t>
            </a:r>
            <a:endParaRPr sz="1300" b="1" dirty="0">
              <a:solidFill>
                <a:srgbClr val="3A59D1"/>
              </a:solidFill>
              <a:latin typeface="Pretendard SemiBold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22400" y="5007600"/>
            <a:ext cx="16808400" cy="10800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22400" y="5065200"/>
            <a:ext cx="46800" cy="1080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260000" y="5475600"/>
            <a:ext cx="468000" cy="25920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60000" y="5475600"/>
            <a:ext cx="468000" cy="259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retendard SemiBold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54000" y="5065200"/>
            <a:ext cx="2408400" cy="10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222222"/>
                </a:solidFill>
                <a:latin typeface="Pretendard SemiBold"/>
              </a:rPr>
              <a:t>법적 판단 지원 불가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2400" y="5065200"/>
            <a:ext cx="3982799" cy="10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939393"/>
                </a:solidFill>
                <a:latin typeface="Pretendard"/>
              </a:rPr>
              <a:t>청구항 해석 · 결론적 침해 여부 판단은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939393"/>
                </a:solidFill>
                <a:latin typeface="Pretendard"/>
              </a:rPr>
              <a:t>분석 범위 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5200" y="5065200"/>
            <a:ext cx="3982799" cy="10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222222"/>
                </a:solidFill>
                <a:latin typeface="Pretendard SemiBold"/>
              </a:rPr>
              <a:t>HITL 로 최종 판단을 유보한다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222222"/>
                </a:solidFill>
                <a:latin typeface="Pretendard SemiBold"/>
              </a:rPr>
              <a:t>법률 지원 불가를 고지한다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668000" y="5065200"/>
            <a:ext cx="3982799" cy="10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3A59D1"/>
                </a:solidFill>
                <a:latin typeface="Pretendard SemiBold"/>
              </a:rPr>
              <a:t>변리사 · 법무 전문가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3A59D1"/>
                </a:solidFill>
                <a:latin typeface="Pretendard SemiBold"/>
              </a:rPr>
              <a:t>검토 연결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2400" y="6202800"/>
            <a:ext cx="16808400" cy="10800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22400" y="6260400"/>
            <a:ext cx="46800" cy="1080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260000" y="6670800"/>
            <a:ext cx="468000" cy="25920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60000" y="6670800"/>
            <a:ext cx="468000" cy="259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retendard SemiBold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54000" y="6260400"/>
            <a:ext cx="2408400" cy="10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222222"/>
                </a:solidFill>
                <a:latin typeface="Pretendard SemiBold"/>
              </a:rPr>
              <a:t>해외 특허 커버 불가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22400" y="6260400"/>
            <a:ext cx="3982799" cy="10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939393"/>
                </a:solidFill>
                <a:latin typeface="Pretendard"/>
              </a:rPr>
              <a:t>거절 통지서 표본 42% 의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939393"/>
                </a:solidFill>
                <a:latin typeface="Pretendard"/>
              </a:rPr>
              <a:t>외국 인용을 검사하지 못한다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5200" y="6260400"/>
            <a:ext cx="3982799" cy="10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222222"/>
                </a:solidFill>
                <a:latin typeface="Pretendard SemiBold"/>
              </a:rPr>
              <a:t>국내 인용만으로 골든셋 구성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222222"/>
                </a:solidFill>
                <a:latin typeface="Pretendard SemiBold"/>
              </a:rPr>
              <a:t>그 범위에서만 평가한다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668000" y="6260400"/>
            <a:ext cx="3982799" cy="10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3A59D1"/>
                </a:solidFill>
                <a:latin typeface="Pretendard SemiBold"/>
              </a:rPr>
              <a:t>해외 특허 데이터와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3A59D1"/>
                </a:solidFill>
                <a:latin typeface="Pretendard SemiBold"/>
              </a:rPr>
              <a:t>서비스 연동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2400" y="7398000"/>
            <a:ext cx="16808400" cy="10800"/>
          </a:xfrm>
          <a:prstGeom prst="rect">
            <a:avLst/>
          </a:prstGeom>
          <a:solidFill>
            <a:srgbClr val="DED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022400" y="7455600"/>
            <a:ext cx="46800" cy="1080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1260000" y="7866000"/>
            <a:ext cx="468000" cy="25920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260000" y="7866000"/>
            <a:ext cx="468000" cy="259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retendard SemiBold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54000" y="7455600"/>
            <a:ext cx="2408400" cy="10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222222"/>
                </a:solidFill>
                <a:latin typeface="Pretendard SemiBold"/>
              </a:rPr>
              <a:t>인력 · 시간 부족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22400" y="7455600"/>
            <a:ext cx="3982799" cy="10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939393"/>
                </a:solidFill>
                <a:latin typeface="Pretendard"/>
              </a:rPr>
              <a:t>IP Risk 중 라이선스 · 특허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939393"/>
                </a:solidFill>
                <a:latin typeface="Pretendard"/>
              </a:rPr>
              <a:t>두 축만 지원한다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5200" y="7455600"/>
            <a:ext cx="3982799" cy="10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222222"/>
                </a:solidFill>
                <a:latin typeface="Pretendard SemiBold"/>
              </a:rPr>
              <a:t>두 축의 분석 정확도를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222222"/>
                </a:solidFill>
                <a:latin typeface="Pretendard SemiBold"/>
              </a:rPr>
              <a:t>먼저 고도화한다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668000" y="7455600"/>
            <a:ext cx="3982799" cy="10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3A59D1"/>
                </a:solidFill>
                <a:latin typeface="Pretendard SemiBold"/>
              </a:rPr>
              <a:t>저작권 등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3A59D1"/>
                </a:solidFill>
                <a:latin typeface="Pretendard SemiBold"/>
              </a:rPr>
              <a:t>IP Risk 전반으로 확장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Pretendard"/>
        <a:ea typeface="Pretendar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anchor="t">
        <a:spAutoFit/>
      </a:bodyPr>
      <a:lstStyle>
        <a:defPPr algn="l">
          <a:defRPr sz="2300" b="1" dirty="0" err="1" smtClean="0">
            <a:solidFill>
              <a:srgbClr val="222222"/>
            </a:solidFill>
            <a:latin typeface="Pretendard SemiBold" panose="02000703000000020004" pitchFamily="2" charset="-127"/>
            <a:ea typeface="Pretendard SemiBold" panose="02000703000000020004" pitchFamily="2" charset="-127"/>
            <a:cs typeface="Pretendard SemiBold" panose="02000703000000020004" pitchFamily="2" charset="-127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3520</Words>
  <Application>Microsoft Office PowerPoint</Application>
  <PresentationFormat>사용자 지정</PresentationFormat>
  <Paragraphs>934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Arial</vt:lpstr>
      <vt:lpstr>Pretendard SemiBold</vt:lpstr>
      <vt:lpstr>Wingdings</vt:lpstr>
      <vt:lpstr>Pretendard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IP_risk_agent</dc:title>
  <dc:creator>미월</dc:creator>
  <cp:lastModifiedBy>현 이</cp:lastModifiedBy>
  <cp:revision>50</cp:revision>
  <dcterms:created xsi:type="dcterms:W3CDTF">2006-08-16T00:00:00Z</dcterms:created>
  <dcterms:modified xsi:type="dcterms:W3CDTF">2026-08-25T22:57:44Z</dcterms:modified>
  <dc:identifier>DAHSzhU1Mz4</dc:identifier>
</cp:coreProperties>
</file>